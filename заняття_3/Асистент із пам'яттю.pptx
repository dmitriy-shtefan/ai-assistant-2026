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83"/>
    <p:restoredTop sz="94689"/>
  </p:normalViewPr>
  <p:slideViewPr>
    <p:cSldViewPr snapToGrid="0">
      <p:cViewPr varScale="1">
        <p:scale>
          <a:sx n="147" d="100"/>
          <a:sy n="147" d="100"/>
        </p:scale>
        <p:origin x="112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перекличка і план</a:t>
            </a:r>
          </a:p>
          <a:p>
            <a:endParaRPr lang="uk-UA" sz="1200" dirty="0"/>
          </a:p>
          <a:p>
            <a:r>
              <a:rPr lang="uk-UA" sz="1200" dirty="0"/>
              <a:t>Цей слайд висить на екрані, поки я роблю перекличку. Група читає план сама —</a:t>
            </a:r>
          </a:p>
          <a:p>
            <a:r>
              <a:rPr lang="uk-UA" sz="1200" dirty="0"/>
              <a:t>мені говорити нічого не треба, і п'ять хвилин не пропадають.</a:t>
            </a:r>
          </a:p>
          <a:p>
            <a:endParaRPr lang="uk-UA" sz="1200" dirty="0"/>
          </a:p>
          <a:p>
            <a:r>
              <a:rPr lang="uk-UA" sz="1200" dirty="0"/>
              <a:t>Коли перекличка скінчилась, роблю демонстрацію на пів хвилини. Прошу когось</a:t>
            </a:r>
          </a:p>
          <a:p>
            <a:r>
              <a:rPr lang="uk-UA" sz="1200" dirty="0"/>
              <a:t>запустити свого помічника з минулого уроку, назватися, закрити програму й</a:t>
            </a:r>
          </a:p>
          <a:p>
            <a:r>
              <a:rPr lang="uk-UA" sz="1200" dirty="0"/>
              <a:t>запустити знову. Помічник вітається так само, як уперше.</a:t>
            </a:r>
          </a:p>
          <a:p>
            <a:endParaRPr lang="uk-UA" sz="1200" dirty="0"/>
          </a:p>
          <a:p>
            <a:r>
              <a:rPr lang="uk-UA" sz="1200" dirty="0"/>
              <a:t>Питаю групу: чому? Відповіді будуть різні, і жодна не буде точною — це добре,</a:t>
            </a:r>
          </a:p>
          <a:p>
            <a:r>
              <a:rPr lang="uk-UA" sz="1200" dirty="0"/>
              <a:t>бо саме це ми й розберемо в першому блоці.</a:t>
            </a:r>
          </a:p>
          <a:p>
            <a:endParaRPr lang="uk-UA" sz="1200" dirty="0"/>
          </a:p>
          <a:p>
            <a:r>
              <a:rPr lang="uk-UA" sz="1200" dirty="0"/>
              <a:t>Кажу, чого досягнемо сьогодні: наприкінці уроку помічник при першому запуску</a:t>
            </a:r>
          </a:p>
          <a:p>
            <a:r>
              <a:rPr lang="uk-UA" sz="1200" dirty="0"/>
              <a:t>спитає ім'я, а при другому привітається на ім'я сам. І вмітиме зберігати</a:t>
            </a:r>
          </a:p>
          <a:p>
            <a:r>
              <a:rPr lang="uk-UA" sz="1200" dirty="0"/>
              <a:t>нотатки, які переживуть закриття програми.</a:t>
            </a:r>
          </a:p>
          <a:p>
            <a:endParaRPr lang="uk-UA" sz="1200" dirty="0"/>
          </a:p>
          <a:p>
            <a:r>
              <a:rPr lang="uk-UA" sz="1200" dirty="0"/>
              <a:t>Як влаштована пара, нагадую одразу: шість однакових кроків. Спершу я показую</a:t>
            </a:r>
          </a:p>
          <a:p>
            <a:r>
              <a:rPr lang="uk-UA" sz="1200" dirty="0"/>
              <a:t>на телевізорі й пояснюю — усі дивляться, ніхто нічого не набирає. Потім на</a:t>
            </a:r>
          </a:p>
          <a:p>
            <a:r>
              <a:rPr lang="uk-UA" sz="1200" dirty="0"/>
              <a:t>екрані з'являється те, що треба набрати, — і набирають усі. Вигадувати нічого</a:t>
            </a:r>
          </a:p>
          <a:p>
            <a:r>
              <a:rPr lang="uk-UA" sz="1200" dirty="0"/>
              <a:t>не треба, усе буде на екрані.</a:t>
            </a:r>
          </a:p>
          <a:p>
            <a:endParaRPr lang="uk-UA" sz="1200" dirty="0"/>
          </a:p>
          <a:p>
            <a:r>
              <a:rPr lang="uk-UA" sz="1200" dirty="0"/>
              <a:t>Одразу пов'язую урок із наступним: усе, що ми сьогодні навчимося робити з</a:t>
            </a:r>
          </a:p>
          <a:p>
            <a:r>
              <a:rPr lang="uk-UA" sz="1200" dirty="0"/>
              <a:t>файлами, знадобиться вже за тиждень. На уроці 4 ключ до ChatGPT лежатиме у</a:t>
            </a:r>
          </a:p>
          <a:p>
            <a:r>
              <a:rPr lang="uk-UA" sz="1200" dirty="0"/>
              <a:t>файлі — саме тому, що в коді його тримати не можна. І формат JSON, який ми</a:t>
            </a:r>
          </a:p>
          <a:p>
            <a:r>
              <a:rPr lang="uk-UA" sz="1200" dirty="0"/>
              <a:t>сьогодні беремо для user.json, — це рівно той формат, у якому приходитиме</a:t>
            </a:r>
          </a:p>
          <a:p>
            <a:r>
              <a:rPr lang="uk-UA" sz="1200" dirty="0"/>
              <a:t>відповідь моделі.</a:t>
            </a:r>
          </a:p>
          <a:p>
            <a:endParaRPr lang="uk-UA" sz="1200" dirty="0"/>
          </a:p>
          <a:p>
            <a:r>
              <a:rPr lang="uk-UA" sz="1200" dirty="0"/>
              <a:t>Перед першим блоком нагадую про папку: файли лягають туди, звідки запущено</a:t>
            </a:r>
          </a:p>
          <a:p>
            <a:r>
              <a:rPr lang="uk-UA" sz="1200" dirty="0"/>
              <a:t>програму. Прошу всіх переконатись, що вони працюють у своїй папці проєкту, а</a:t>
            </a:r>
          </a:p>
          <a:p>
            <a:r>
              <a:rPr lang="uk-UA" sz="1200" dirty="0"/>
              <a:t>не в чужій. Сьогодні файлів буде багато, і всі мають лежати разом.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</a:t>
            </a:r>
          </a:p>
          <a:p>
            <a:endParaRPr lang="uk-UA" sz="1200" dirty="0"/>
          </a:p>
          <a:p>
            <a:r>
              <a:rPr lang="uk-UA" sz="1200" dirty="0"/>
              <a:t>Дві хвилини на початку уроку. Питання про річ, з якою діти стикаються щодня, —</a:t>
            </a:r>
          </a:p>
          <a:p>
            <a:r>
              <a:rPr lang="uk-UA" sz="1200" dirty="0"/>
              <a:t>тому відповіді будуть, навіть якщо слів «оперативна пам'ять» ніхто не чув.</a:t>
            </a:r>
          </a:p>
          <a:p>
            <a:endParaRPr lang="uk-UA" sz="1200" dirty="0"/>
          </a:p>
          <a:p>
            <a:r>
              <a:rPr lang="uk-UA" sz="1200" dirty="0"/>
              <a:t>КУДИ ДІВАЄТЬСЯ ІМ'Я. Кажуть «стирається», «зникає». Питаю: а куди саме?</a:t>
            </a:r>
          </a:p>
          <a:p>
            <a:r>
              <a:rPr lang="uk-UA" sz="1200" dirty="0"/>
              <a:t>Відповіді нема ні в кого, і це нормально — саме її я зараз дам.</a:t>
            </a:r>
          </a:p>
          <a:p>
            <a:endParaRPr lang="uk-UA" sz="1200" dirty="0"/>
          </a:p>
          <a:p>
            <a:r>
              <a:rPr lang="uk-UA" sz="1200" dirty="0"/>
              <a:t>ПАМ'ЯТЬ І ДОШКА. Образ, який краще почути від них. Питаю, що буває з дошкою</a:t>
            </a:r>
          </a:p>
          <a:p>
            <a:r>
              <a:rPr lang="uk-UA" sz="1200" dirty="0"/>
              <a:t>після уроку. Витирають. А із зошитом? Лишається. Ось на цьому й тримається</a:t>
            </a:r>
          </a:p>
          <a:p>
            <a:r>
              <a:rPr lang="uk-UA" sz="1200" dirty="0"/>
              <a:t>весь урок, і далі я лише називаю це технічними словами.</a:t>
            </a:r>
          </a:p>
          <a:p>
            <a:endParaRPr lang="uk-UA" sz="1200" dirty="0"/>
          </a:p>
          <a:p>
            <a:r>
              <a:rPr lang="uk-UA" sz="1200" dirty="0"/>
              <a:t>ЩО ПЕРЕЖИВАЄ ВИМКНЕННЯ. Кажуть: фотографії, ігри, музика, документи. Питаю,</a:t>
            </a:r>
          </a:p>
          <a:p>
            <a:r>
              <a:rPr lang="uk-UA" sz="1200" dirty="0"/>
              <a:t>де вони лежать. Слово «диск» або «пам'ять телефона» звучить майже завжди.</a:t>
            </a:r>
          </a:p>
          <a:p>
            <a:endParaRPr lang="uk-UA" sz="1200" dirty="0"/>
          </a:p>
          <a:p>
            <a:r>
              <a:rPr lang="uk-UA" sz="1200" dirty="0"/>
              <a:t>ДЕ ІГРИ ТРИМАЮТЬ РЕКОРДИ. Найкорисніше питання, бо відповідь очевидна:</a:t>
            </a:r>
          </a:p>
          <a:p>
            <a:r>
              <a:rPr lang="uk-UA" sz="1200" dirty="0"/>
              <a:t>у файлі. Якщо хтось скаже «на сервері» — теж правильно, і кажу, що до серверів</a:t>
            </a:r>
          </a:p>
          <a:p>
            <a:r>
              <a:rPr lang="uk-UA" sz="1200" dirty="0"/>
              <a:t>ми дійдемо на уроці 4, а сьогодні працюємо зі своїм диском.</a:t>
            </a:r>
          </a:p>
          <a:p>
            <a:endParaRPr lang="uk-UA" sz="1200" dirty="0"/>
          </a:p>
          <a:p>
            <a:r>
              <a:rPr lang="uk-UA" sz="1200" dirty="0"/>
              <a:t>Далі показ. Він коротко пояснить те, що діти щойно назвали своїми словами.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</a:t>
            </a:r>
          </a:p>
          <a:p>
            <a:endParaRPr lang="uk-UA" sz="1200" dirty="0"/>
          </a:p>
          <a:p>
            <a:r>
              <a:rPr lang="uk-UA" sz="1200" dirty="0"/>
              <a:t>Перший код уроку. Розбираю дуже повільно, бо тут одразу чотири нові речі. На</a:t>
            </a:r>
          </a:p>
          <a:p>
            <a:r>
              <a:rPr lang="uk-UA" sz="1200" dirty="0"/>
              <a:t>телевізорі тримаю відкритим той самий приклад, який група набиратиме далі.</a:t>
            </a:r>
          </a:p>
          <a:p>
            <a:endParaRPr lang="uk-UA" sz="1200" dirty="0"/>
          </a:p>
          <a:p>
            <a:r>
              <a:rPr lang="uk-UA" sz="1200" dirty="0"/>
              <a:t>open("first.txt", "w", encoding="utf-8") — три аргументи, і кожен важливий.</a:t>
            </a:r>
          </a:p>
          <a:p>
            <a:r>
              <a:rPr lang="uk-UA" sz="1200" dirty="0"/>
              <a:t>Перший: як називається файл. Другий: що ми з ним робитимемо. Третій: якою</a:t>
            </a:r>
          </a:p>
          <a:p>
            <a:r>
              <a:rPr lang="uk-UA" sz="1200" dirty="0"/>
              <a:t>абеткою писати.</a:t>
            </a:r>
          </a:p>
          <a:p>
            <a:endParaRPr lang="uk-UA" sz="1200" dirty="0"/>
          </a:p>
          <a:p>
            <a:r>
              <a:rPr lang="uk-UA" sz="1200" dirty="0"/>
              <a:t>Про режими кажу окремо і з попередженням. "w" означає write — і він СТИРАЄ</a:t>
            </a:r>
          </a:p>
          <a:p>
            <a:r>
              <a:rPr lang="uk-UA" sz="1200" dirty="0"/>
              <a:t>все, що було у файлі, ще до того, як ми щось написали. Це найболючіша помилка</a:t>
            </a:r>
          </a:p>
          <a:p>
            <a:r>
              <a:rPr lang="uk-UA" sz="1200" dirty="0"/>
              <a:t>уроку: діти відкривають нотатки в "w", і всі попередні зникають. Показую це</a:t>
            </a:r>
          </a:p>
          <a:p>
            <a:r>
              <a:rPr lang="uk-UA" sz="1200" dirty="0"/>
              <a:t>навмисно на демонстраційному файлі, щоб потім не було сліз. Режим "r" — read,</a:t>
            </a:r>
          </a:p>
          <a:p>
            <a:r>
              <a:rPr lang="uk-UA" sz="1200" dirty="0"/>
              <a:t>тільки читання; писати в такий файл не можна.</a:t>
            </a:r>
          </a:p>
          <a:p>
            <a:endParaRPr lang="uk-UA" sz="1200" dirty="0"/>
          </a:p>
          <a:p>
            <a:r>
              <a:rPr lang="uk-UA" sz="1200" dirty="0"/>
              <a:t>encoding="utf-8" — абетка. Без нього на Windows українські літери</a:t>
            </a:r>
          </a:p>
          <a:p>
            <a:r>
              <a:rPr lang="uk-UA" sz="1200" dirty="0"/>
              <a:t>перетворюються на запитання. Прошу писати його завжди.</a:t>
            </a:r>
          </a:p>
          <a:p>
            <a:endParaRPr lang="uk-UA" sz="1200" dirty="0"/>
          </a:p>
          <a:p>
            <a:r>
              <a:rPr lang="uk-UA" sz="1200" dirty="0"/>
              <a:t>with ... as f: — конструкція, яка сама закриває файл, коли блок закінчився.</a:t>
            </a:r>
          </a:p>
          <a:p>
            <a:r>
              <a:rPr lang="uk-UA" sz="1200" dirty="0"/>
              <a:t>Навіть якщо всередині сталася помилка. Кажу просто: «with — це той, хто</a:t>
            </a:r>
          </a:p>
          <a:p>
            <a:r>
              <a:rPr lang="uk-UA" sz="1200" dirty="0"/>
              <a:t>причиняє за тобою двері». Без нього довелось би писати f.close() і не забувати</a:t>
            </a:r>
          </a:p>
          <a:p>
            <a:r>
              <a:rPr lang="uk-UA" sz="1200" dirty="0"/>
              <a:t>про нього ніколи.</a:t>
            </a:r>
          </a:p>
          <a:p>
            <a:endParaRPr lang="uk-UA" sz="1200" dirty="0"/>
          </a:p>
          <a:p>
            <a:r>
              <a:rPr lang="uk-UA" sz="1200" dirty="0"/>
              <a:t>f.write("...") — записує рядок. Наголошую: write НЕ додає перенос рядка сам.</a:t>
            </a:r>
          </a:p>
          <a:p>
            <a:r>
              <a:rPr lang="uk-UA" sz="1200" dirty="0"/>
              <a:t>Тому в кінці стоїть \n. Без нього всі записи злипнуться в один довгий.</a:t>
            </a:r>
          </a:p>
          <a:p>
            <a:endParaRPr lang="uk-UA" sz="1200" dirty="0"/>
          </a:p>
          <a:p>
            <a:r>
              <a:rPr lang="uk-UA" sz="1200" dirty="0"/>
              <a:t>f.read() — читає весь файл і віддає одним рядком.</a:t>
            </a:r>
          </a:p>
          <a:p>
            <a:endParaRPr lang="uk-UA" sz="1200" dirty="0"/>
          </a:p>
          <a:p>
            <a:r>
              <a:rPr lang="uk-UA" sz="1200" dirty="0"/>
              <a:t>Питання групі перед наступним слайдом: як думаєте, де саме на комп'ютері</a:t>
            </a:r>
          </a:p>
          <a:p>
            <a:r>
              <a:rPr lang="uk-UA" sz="1200" dirty="0"/>
              <a:t>з'явиться цей файл? Відповідь скажу після практики — хай спершу пошукають.</a:t>
            </a:r>
          </a:p>
          <a:p>
            <a:endParaRPr lang="uk-UA" sz="1200" dirty="0"/>
          </a:p>
          <a:p>
            <a:r>
              <a:rPr lang="uk-UA" sz="1200" dirty="0"/>
              <a:t>Наступний слайд: набираємо п'ять рядків і йдемо шукати файл у папці.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</a:t>
            </a:r>
          </a:p>
          <a:p>
            <a:endParaRPr lang="uk-UA" sz="1200" dirty="0"/>
          </a:p>
          <a:p>
            <a:r>
              <a:rPr lang="uk-UA" sz="1200" dirty="0"/>
              <a:t>Практика, після якої файл перестає бути абстракцією. Набирати прошу руками, не</a:t>
            </a:r>
          </a:p>
          <a:p>
            <a:r>
              <a:rPr lang="uk-UA" sz="1200" dirty="0"/>
              <a:t>копіювати: тут чотири нові слова, і руки їх запам'ятовують краще за очі.</a:t>
            </a:r>
          </a:p>
          <a:p>
            <a:endParaRPr lang="uk-UA" sz="1200" dirty="0"/>
          </a:p>
          <a:p>
            <a:r>
              <a:rPr lang="uk-UA" sz="1200" dirty="0"/>
              <a:t>Кажу порядок: створити files.py, набрати п'ять рядків з екрана (порожній рядок</a:t>
            </a:r>
          </a:p>
          <a:p>
            <a:r>
              <a:rPr lang="uk-UA" sz="1200" dirty="0"/>
              <a:t>посередині — просто для читабельності, він нічого не робить), зберегти,</a:t>
            </a:r>
          </a:p>
          <a:p>
            <a:r>
              <a:rPr lang="uk-UA" sz="1200" dirty="0"/>
              <a:t>запустити.</a:t>
            </a:r>
          </a:p>
          <a:p>
            <a:endParaRPr lang="uk-UA" sz="1200" dirty="0"/>
          </a:p>
          <a:p>
            <a:r>
              <a:rPr lang="uk-UA" sz="1200" dirty="0"/>
              <a:t>Друга частина завдання найважливіша, і її часто пропускають: знайти first.txt</a:t>
            </a:r>
          </a:p>
          <a:p>
            <a:r>
              <a:rPr lang="uk-UA" sz="1200" dirty="0"/>
              <a:t>у папці й відкрити подвійним кліком. Діти мають побачити, що це звичайний</a:t>
            </a:r>
          </a:p>
          <a:p>
            <a:r>
              <a:rPr lang="uk-UA" sz="1200" dirty="0"/>
              <a:t>текстовий файл, який можна відкрити блокнотом, показати другу, надіслати.</a:t>
            </a:r>
          </a:p>
          <a:p>
            <a:r>
              <a:rPr lang="uk-UA" sz="1200" dirty="0"/>
              <a:t>Після цього зникає відчуття, що «файл» — це щось магічне.</a:t>
            </a:r>
          </a:p>
          <a:p>
            <a:endParaRPr lang="uk-UA" sz="1200" dirty="0"/>
          </a:p>
          <a:p>
            <a:r>
              <a:rPr lang="uk-UA" sz="1200" dirty="0"/>
              <a:t>Тут же вирішується найчастіше технічне питання уроку: «а де він?». Файл лягає</a:t>
            </a:r>
          </a:p>
          <a:p>
            <a:r>
              <a:rPr lang="uk-UA" sz="1200" dirty="0"/>
              <a:t>туди, звідки запущено програму. У PyCharm це папка проєкту, і файл з'явиться в</a:t>
            </a:r>
          </a:p>
          <a:p>
            <a:r>
              <a:rPr lang="uk-UA" sz="1200" dirty="0"/>
              <a:t>дереві ліворуч — інколи треба клацнути правою на папці й вибрати Reload from</a:t>
            </a:r>
          </a:p>
          <a:p>
            <a:r>
              <a:rPr lang="uk-UA" sz="1200" dirty="0"/>
              <a:t>Disk.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забули двокрапку в кінці рядка з with — SyntaxError;</a:t>
            </a:r>
          </a:p>
          <a:p>
            <a:r>
              <a:rPr lang="uk-UA" sz="1200" dirty="0"/>
              <a:t>    не зробили відступ у чотири пробіли всередині with — IndentationError;</a:t>
            </a:r>
          </a:p>
          <a:p>
            <a:r>
              <a:rPr lang="uk-UA" sz="1200" dirty="0"/>
              <a:t>    написали f.write у файлі, відкритому на "r", — io.UnsupportedOperation;</a:t>
            </a:r>
          </a:p>
          <a:p>
            <a:r>
              <a:rPr lang="uk-UA" sz="1200" dirty="0"/>
              <a:t>    загубили encoding="utf-8" — у блокноті замість букв кракозябри;</a:t>
            </a:r>
          </a:p>
          <a:p>
            <a:r>
              <a:rPr lang="uk-UA" sz="1200" dirty="0"/>
              <a:t>    шукають файл не в тій папці.</a:t>
            </a:r>
          </a:p>
          <a:p>
            <a:endParaRPr lang="uk-UA" sz="1200" dirty="0"/>
          </a:p>
          <a:p>
            <a:r>
              <a:rPr lang="uk-UA" sz="1200" dirty="0"/>
              <a:t>І одразу попередження всій групі, поки ніхто не постраждав: якщо запустити</a:t>
            </a:r>
          </a:p>
          <a:p>
            <a:r>
              <a:rPr lang="uk-UA" sz="1200" dirty="0"/>
              <a:t>запис у режимі "w" двічі, попереднього рядка вже не буде. Це не поломка, це і</a:t>
            </a:r>
          </a:p>
          <a:p>
            <a:r>
              <a:rPr lang="uk-UA" sz="1200" dirty="0"/>
              <a:t>є "w".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замінить у першому рядку "w" на "a", запустить</a:t>
            </a:r>
          </a:p>
          <a:p>
            <a:r>
              <a:rPr lang="uk-UA" sz="1200" dirty="0"/>
              <a:t>програму тричі й порахує рядки у first.txt. Їх стане чотири: один лишився від</a:t>
            </a:r>
          </a:p>
          <a:p>
            <a:r>
              <a:rPr lang="uk-UA" sz="1200" dirty="0"/>
              <a:t>запуску з "w", і три дописались. Вони самі відкриють наступний блок — так і</a:t>
            </a:r>
          </a:p>
          <a:p>
            <a:r>
              <a:rPr lang="uk-UA" sz="1200" dirty="0"/>
              <a:t>треба.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files.py</a:t>
            </a:r>
          </a:p>
          <a:p>
            <a:r>
              <a:rPr lang="uk-UA" sz="1200" dirty="0"/>
              <a:t>Привіт із файла!</a:t>
            </a:r>
          </a:p>
          <a:p>
            <a:endParaRPr lang="uk-UA" sz="1200" dirty="0"/>
          </a:p>
          <a:p>
            <a:r>
              <a:rPr lang="uk-UA" sz="1200" dirty="0"/>
              <a:t>У папці проєкту з'явився файл first.txt. Якщо відкрити його блокнотом,</a:t>
            </a:r>
          </a:p>
          <a:p>
            <a:r>
              <a:rPr lang="uk-UA" sz="1200" dirty="0"/>
              <a:t>усередині рівно той самий рядок, який записала програма.</a:t>
            </a:r>
          </a:p>
          <a:p>
            <a:endParaRPr lang="uk-UA" sz="1200" dirty="0"/>
          </a:p>
          <a:p>
            <a:r>
              <a:rPr lang="uk-UA" sz="1200" dirty="0"/>
              <a:t>Якщо на екрані порожньо — програма прочитала інший файл або запис</a:t>
            </a:r>
          </a:p>
          <a:p>
            <a:r>
              <a:rPr lang="uk-UA" sz="1200" dirty="0"/>
              <a:t>пішов у іншу папку.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</a:t>
            </a:r>
          </a:p>
          <a:p>
            <a:endParaRPr lang="uk-UA" sz="1200" dirty="0"/>
          </a:p>
          <a:p>
            <a:r>
              <a:rPr lang="uk-UA" sz="1200" dirty="0"/>
              <a:t>Блок короткий, бо новий тут лише один символ — але наслідки в нього великі.</a:t>
            </a:r>
          </a:p>
          <a:p>
            <a:r>
              <a:rPr lang="uk-UA" sz="1200" dirty="0"/>
              <a:t>Показую на телевізорі два запуски поспіль: спершу з "w", потім з "a", і щоразу</a:t>
            </a:r>
          </a:p>
          <a:p>
            <a:r>
              <a:rPr lang="uk-UA" sz="1200" dirty="0"/>
              <a:t>відкриваю notes.txt на очах у групи.</a:t>
            </a:r>
          </a:p>
          <a:p>
            <a:endParaRPr lang="uk-UA" sz="1200" dirty="0"/>
          </a:p>
          <a:p>
            <a:r>
              <a:rPr lang="uk-UA" sz="1200" dirty="0"/>
              <a:t>Кажу: різниця між "w" і "a" — це різниця між «взяти новий аркуш» і «дописати</a:t>
            </a:r>
          </a:p>
          <a:p>
            <a:r>
              <a:rPr lang="uk-UA" sz="1200" dirty="0"/>
              <a:t>в кінець зошита». Обидва потрібні, але переплутати їх дорого.</a:t>
            </a:r>
          </a:p>
          <a:p>
            <a:endParaRPr lang="uk-UA" sz="1200" dirty="0"/>
          </a:p>
          <a:p>
            <a:r>
              <a:rPr lang="uk-UA" sz="1200" dirty="0"/>
              <a:t>"a" — від append, «додати». Файла немає — Python створить його сам, тож</a:t>
            </a:r>
          </a:p>
          <a:p>
            <a:r>
              <a:rPr lang="uk-UA" sz="1200" dirty="0"/>
              <a:t>перевіряти нічого не треба. Файл є — новий рядок ляже в кінець, а старі</a:t>
            </a:r>
          </a:p>
          <a:p>
            <a:r>
              <a:rPr lang="uk-UA" sz="1200" dirty="0"/>
              <a:t>лишаться.</a:t>
            </a:r>
          </a:p>
          <a:p>
            <a:endParaRPr lang="uk-UA" sz="1200" dirty="0"/>
          </a:p>
          <a:p>
            <a:r>
              <a:rPr lang="uk-UA" sz="1200" dirty="0"/>
              <a:t>Знову нагадую про \n. Без нього нотатки злипнуться: «купити хлібзробити</a:t>
            </a:r>
          </a:p>
          <a:p>
            <a:r>
              <a:rPr lang="uk-UA" sz="1200" dirty="0"/>
              <a:t>уроки». Це видно одразу, коли прочитаєш файл, і діти виправляють самі.</a:t>
            </a:r>
          </a:p>
          <a:p>
            <a:endParaRPr lang="uk-UA" sz="1200" dirty="0"/>
          </a:p>
          <a:p>
            <a:r>
              <a:rPr lang="uk-UA" sz="1200" dirty="0"/>
              <a:t>Далі показую, що з цього виходить програма на дев'ять рядків: цикл while True</a:t>
            </a:r>
          </a:p>
          <a:p>
            <a:r>
              <a:rPr lang="uk-UA" sz="1200" dirty="0"/>
              <a:t>з уроку 1, усередині — input і запис у режимі "a", а після циклу — читання</a:t>
            </a:r>
          </a:p>
          <a:p>
            <a:r>
              <a:rPr lang="uk-UA" sz="1200" dirty="0"/>
              <a:t>всього файла. Читаю ці рядки вголос по одному, показуючи пальцем на екрані,</a:t>
            </a:r>
          </a:p>
          <a:p>
            <a:r>
              <a:rPr lang="uk-UA" sz="1200" dirty="0"/>
              <a:t>який рядок що робить.</a:t>
            </a:r>
          </a:p>
          <a:p>
            <a:endParaRPr lang="uk-UA" sz="1200" dirty="0"/>
          </a:p>
          <a:p>
            <a:r>
              <a:rPr lang="uk-UA" sz="1200" dirty="0"/>
              <a:t>Питання групі: а що буде, якщо цю програму запустити завтра? Правильна</a:t>
            </a:r>
          </a:p>
          <a:p>
            <a:r>
              <a:rPr lang="uk-UA" sz="1200" dirty="0"/>
              <a:t>відповідь — нотатки, записані сьогодні, будуть на місці. Саме це ми й</a:t>
            </a:r>
          </a:p>
          <a:p>
            <a:r>
              <a:rPr lang="uk-UA" sz="1200" dirty="0"/>
              <a:t>перевіримо руками.</a:t>
            </a:r>
          </a:p>
          <a:p>
            <a:endParaRPr lang="uk-UA" sz="1200" dirty="0"/>
          </a:p>
          <a:p>
            <a:r>
              <a:rPr lang="uk-UA" sz="1200" dirty="0"/>
              <a:t>Де плутаються: лишають "w" і дивуються, що в файлі завжди один рядок; читають</a:t>
            </a:r>
          </a:p>
          <a:p>
            <a:r>
              <a:rPr lang="uk-UA" sz="1200" dirty="0"/>
              <a:t>файл, якого ще немає, і ловлять FileNotFoundError — кажу, що це полагодимо в</a:t>
            </a:r>
          </a:p>
          <a:p>
            <a:r>
              <a:rPr lang="uk-UA" sz="1200" dirty="0"/>
              <a:t>останньому блоці уроку через os.path.exists.</a:t>
            </a:r>
          </a:p>
          <a:p>
            <a:endParaRPr lang="uk-UA" sz="1200" dirty="0"/>
          </a:p>
          <a:p>
            <a:r>
              <a:rPr lang="uk-UA" sz="1200" dirty="0"/>
              <a:t>Наступний слайд: набираємо програму нотаток цілком.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</a:t>
            </a:r>
          </a:p>
          <a:p>
            <a:endParaRPr lang="uk-UA" sz="1200" dirty="0"/>
          </a:p>
          <a:p>
            <a:r>
              <a:rPr lang="uk-UA" sz="1200" dirty="0"/>
              <a:t>Головна практика першої половини уроку. Дев'ять рядків, і в них є все, що діти</a:t>
            </a:r>
          </a:p>
          <a:p>
            <a:r>
              <a:rPr lang="uk-UA" sz="1200" dirty="0"/>
              <a:t>вже вміють: while True, if, break з уроку 1 плюс сьогоднішні with і open.</a:t>
            </a:r>
          </a:p>
          <a:p>
            <a:endParaRPr lang="uk-UA" sz="1200" dirty="0"/>
          </a:p>
          <a:p>
            <a:r>
              <a:rPr lang="uk-UA" sz="1200" dirty="0"/>
              <a:t>Кажу порядок: створити notes.py, набрати дев'ять рядків з екрана, зберегти,</a:t>
            </a:r>
          </a:p>
          <a:p>
            <a:r>
              <a:rPr lang="uk-UA" sz="1200" dirty="0"/>
              <a:t>запустити. Записати дві-три нотатки, вийти словом «стоп», подивитись, що</a:t>
            </a:r>
          </a:p>
          <a:p>
            <a:r>
              <a:rPr lang="uk-UA" sz="1200" dirty="0"/>
              <a:t>надрукувалось. Потім запустити ще раз і дописати четверту.</a:t>
            </a:r>
          </a:p>
          <a:p>
            <a:endParaRPr lang="uk-UA" sz="1200" dirty="0"/>
          </a:p>
          <a:p>
            <a:r>
              <a:rPr lang="uk-UA" sz="1200" dirty="0"/>
              <a:t>Наголошую тричі, бо на цьому губляться всі:</a:t>
            </a:r>
          </a:p>
          <a:p>
            <a:r>
              <a:rPr lang="uk-UA" sz="1200" dirty="0"/>
              <a:t>    у п'ятому рядку стоїть "a", а не "w";</a:t>
            </a:r>
          </a:p>
          <a:p>
            <a:r>
              <a:rPr lang="uk-UA" sz="1200" dirty="0"/>
              <a:t>    відступи — чотири пробіли всередині while, вісім усередині if і всередині</a:t>
            </a:r>
          </a:p>
          <a:p>
            <a:r>
              <a:rPr lang="uk-UA" sz="1200" dirty="0"/>
              <a:t>    with;</a:t>
            </a:r>
          </a:p>
          <a:p>
            <a:r>
              <a:rPr lang="uk-UA" sz="1200" dirty="0"/>
              <a:t>    останні два рядки стоять ЗЛІВА, без відступу: вони поза циклом, і тому</a:t>
            </a:r>
          </a:p>
          <a:p>
            <a:r>
              <a:rPr lang="uk-UA" sz="1200" dirty="0"/>
              <a:t>    друкують файл уже після виходу.</a:t>
            </a:r>
          </a:p>
          <a:p>
            <a:endParaRPr lang="uk-UA" sz="1200" dirty="0"/>
          </a:p>
          <a:p>
            <a:r>
              <a:rPr lang="uk-UA" sz="1200" dirty="0"/>
              <a:t>Останнє — найтонше місце слайда. Показую пальцем на екрані, де саме</a:t>
            </a:r>
          </a:p>
          <a:p>
            <a:r>
              <a:rPr lang="uk-UA" sz="1200" dirty="0"/>
              <a:t>закінчується цикл.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залишили "w" — у файлі щоразу одна нотатка; кажу вголос на весь клас, щойно</a:t>
            </a:r>
          </a:p>
          <a:p>
            <a:r>
              <a:rPr lang="uk-UA" sz="1200" dirty="0"/>
              <a:t>    побачу перший такий екран;</a:t>
            </a:r>
          </a:p>
          <a:p>
            <a:r>
              <a:rPr lang="uk-UA" sz="1200" dirty="0"/>
              <a:t>    забули \n — усі нотатки в один рядок;</a:t>
            </a:r>
          </a:p>
          <a:p>
            <a:r>
              <a:rPr lang="uk-UA" sz="1200" dirty="0"/>
              <a:t>    поставили останні два рядки з відступом — файл друкується після кожної</a:t>
            </a:r>
          </a:p>
          <a:p>
            <a:r>
              <a:rPr lang="uk-UA" sz="1200" dirty="0"/>
              <a:t>    нотатки, і екран заростає;</a:t>
            </a:r>
          </a:p>
          <a:p>
            <a:r>
              <a:rPr lang="uk-UA" sz="1200" dirty="0"/>
              <a:t>    забули break — програма не виходить на «стоп»;</a:t>
            </a:r>
          </a:p>
          <a:p>
            <a:r>
              <a:rPr lang="uk-UA" sz="1200" dirty="0"/>
              <a:t>    FileNotFoundError на читанні, якщо перше ж слово було «стоп»: цикл вийшов</a:t>
            </a:r>
          </a:p>
          <a:p>
            <a:r>
              <a:rPr lang="uk-UA" sz="1200" dirty="0"/>
              <a:t>    одразу, notes.txt ще ніхто не створив, а останні два рядки його читають;</a:t>
            </a:r>
          </a:p>
          <a:p>
            <a:r>
              <a:rPr lang="uk-UA" sz="1200" dirty="0"/>
              <a:t>    кажу, що це полагодимо в останньому блоці уроку через os.path.exists.</a:t>
            </a:r>
          </a:p>
          <a:p>
            <a:endParaRPr lang="uk-UA" sz="1200" dirty="0"/>
          </a:p>
          <a:p>
            <a:r>
              <a:rPr lang="uk-UA" sz="1200" dirty="0"/>
              <a:t>Перевірка, заради якої весь урок: перезапуск. Прошу зробити його всіх, навіть</a:t>
            </a:r>
          </a:p>
          <a:p>
            <a:r>
              <a:rPr lang="uk-UA" sz="1200" dirty="0"/>
              <a:t>тих, хто «і так упевнений». Нотатки з першого запуску мають бути на місці.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допише одразу під рядком із f.write ще один рядок —</a:t>
            </a:r>
          </a:p>
          <a:p>
            <a:endParaRPr lang="uk-UA" sz="1200" dirty="0"/>
          </a:p>
          <a:p>
            <a:r>
              <a:rPr lang="uk-UA" sz="1200" dirty="0"/>
              <a:t>        print("Записала!")</a:t>
            </a:r>
          </a:p>
          <a:p>
            <a:endParaRPr lang="uk-UA" sz="1200" dirty="0"/>
          </a:p>
          <a:p>
            <a:r>
              <a:rPr lang="uk-UA" sz="1200" dirty="0"/>
              <a:t>рівно з тим самим відступом у вісім пробілів, що й f.write, — і помічник</a:t>
            </a:r>
          </a:p>
          <a:p>
            <a:r>
              <a:rPr lang="uk-UA" sz="1200" dirty="0"/>
              <a:t>підтверджуватиме кожну нотатку. Наголошую вголос: саме під f.write, а не біля</a:t>
            </a:r>
          </a:p>
          <a:p>
            <a:r>
              <a:rPr lang="uk-UA" sz="1200" dirty="0"/>
              <a:t>break. Поставлений біля break, він спрацює рівно один раз, на виході з</a:t>
            </a:r>
          </a:p>
          <a:p>
            <a:r>
              <a:rPr lang="uk-UA" sz="1200" dirty="0"/>
              <a:t>програми, і підтвердить не нотатку, а слово «стоп».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notes.py</a:t>
            </a:r>
          </a:p>
          <a:p>
            <a:r>
              <a:rPr lang="uk-UA" sz="1200" dirty="0"/>
              <a:t>Нотатка: купити зошит</a:t>
            </a:r>
          </a:p>
          <a:p>
            <a:r>
              <a:rPr lang="uk-UA" sz="1200" dirty="0"/>
              <a:t>Нотатка: подзвонити бабусі</a:t>
            </a:r>
          </a:p>
          <a:p>
            <a:r>
              <a:rPr lang="uk-UA" sz="1200" dirty="0"/>
              <a:t>Нотатка: стоп</a:t>
            </a:r>
          </a:p>
          <a:p>
            <a:r>
              <a:rPr lang="uk-UA" sz="1200" dirty="0"/>
              <a:t>купити зошит</a:t>
            </a:r>
          </a:p>
          <a:p>
            <a:r>
              <a:rPr lang="uk-UA" sz="1200" dirty="0"/>
              <a:t>подзвонити бабусі</a:t>
            </a:r>
          </a:p>
          <a:p>
            <a:endParaRPr lang="uk-UA" sz="1200" dirty="0"/>
          </a:p>
          <a:p>
            <a:r>
              <a:rPr lang="uk-UA" sz="1200" dirty="0"/>
              <a:t>$ python notes.py</a:t>
            </a:r>
          </a:p>
          <a:p>
            <a:r>
              <a:rPr lang="uk-UA" sz="1200" dirty="0"/>
              <a:t>Нотатка: вивчити вірш</a:t>
            </a:r>
          </a:p>
          <a:p>
            <a:r>
              <a:rPr lang="uk-UA" sz="1200" dirty="0"/>
              <a:t>Нотатка: стоп</a:t>
            </a:r>
          </a:p>
          <a:p>
            <a:r>
              <a:rPr lang="uk-UA" sz="1200" dirty="0"/>
              <a:t>купити зошит</a:t>
            </a:r>
          </a:p>
          <a:p>
            <a:r>
              <a:rPr lang="uk-UA" sz="1200" dirty="0"/>
              <a:t>подзвонити бабусі</a:t>
            </a:r>
          </a:p>
          <a:p>
            <a:r>
              <a:rPr lang="uk-UA" sz="1200" dirty="0"/>
              <a:t>вивчити вірш</a:t>
            </a:r>
          </a:p>
          <a:p>
            <a:endParaRPr lang="uk-UA" sz="1200" dirty="0"/>
          </a:p>
          <a:p>
            <a:r>
              <a:rPr lang="uk-UA" sz="1200" dirty="0"/>
              <a:t>Головне: після другого запуску перші дві нотатки на місці.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</a:t>
            </a:r>
          </a:p>
          <a:p>
            <a:endParaRPr lang="uk-UA" sz="1200" dirty="0"/>
          </a:p>
          <a:p>
            <a:r>
              <a:rPr lang="uk-UA" sz="1200" dirty="0"/>
              <a:t>Дві хвилини перед JSON. Питання про підписи — і відповідати на них можна, не</a:t>
            </a:r>
          </a:p>
          <a:p>
            <a:r>
              <a:rPr lang="uk-UA" sz="1200" dirty="0"/>
              <a:t>знаючи жодного технічного слова.</a:t>
            </a:r>
          </a:p>
          <a:p>
            <a:endParaRPr lang="uk-UA" sz="1200" dirty="0"/>
          </a:p>
          <a:p>
            <a:r>
              <a:rPr lang="uk-UA" sz="1200" dirty="0"/>
              <a:t>СПИСОК ПОКУПОК. Прошу уявити рядок «хліб 25 молоко 32». Питаю, де тут ціна.</a:t>
            </a:r>
          </a:p>
          <a:p>
            <a:r>
              <a:rPr lang="uk-UA" sz="1200" dirty="0"/>
              <a:t>Людина здогадається, програма — ні. А тепер той самий рядок із підписами:</a:t>
            </a:r>
          </a:p>
          <a:p>
            <a:r>
              <a:rPr lang="uk-UA" sz="1200" dirty="0"/>
              <a:t>назва — хліб, ціна — 25. Різницю чути одразу.</a:t>
            </a:r>
          </a:p>
          <a:p>
            <a:endParaRPr lang="uk-UA" sz="1200" dirty="0"/>
          </a:p>
          <a:p>
            <a:r>
              <a:rPr lang="uk-UA" sz="1200" dirty="0"/>
              <a:t>ЯКЩО ПОМІНЯТИ РЯДКИ МІСЦЯМИ. Найважливіше питання блоку. У голому тексті</a:t>
            </a:r>
          </a:p>
          <a:p>
            <a:r>
              <a:rPr lang="uk-UA" sz="1200" dirty="0"/>
              <a:t>все зламається: третій рядок був іменем тільки тому, що він третій. З</a:t>
            </a:r>
          </a:p>
          <a:p>
            <a:r>
              <a:rPr lang="uk-UA" sz="1200" dirty="0"/>
              <a:t>підписами не зламається нічого — підпис їде разом зі значенням.</a:t>
            </a:r>
          </a:p>
          <a:p>
            <a:endParaRPr lang="uk-UA" sz="1200" dirty="0"/>
          </a:p>
          <a:p>
            <a:r>
              <a:rPr lang="uk-UA" sz="1200" dirty="0"/>
              <a:t>ПІДПИСАНА ШУХЛЯДА. Повертаюсь до образу з уроку 2: словник — шафа з підписами.</a:t>
            </a:r>
          </a:p>
          <a:p>
            <a:r>
              <a:rPr lang="uk-UA" sz="1200" dirty="0"/>
              <a:t>Кажу, що зараз ми навчимось зберігати таку шафу у файл, і формат називається</a:t>
            </a:r>
          </a:p>
          <a:p>
            <a:r>
              <a:rPr lang="uk-UA" sz="1200" dirty="0"/>
              <a:t>JSON.</a:t>
            </a:r>
          </a:p>
          <a:p>
            <a:endParaRPr lang="uk-UA" sz="1200" dirty="0"/>
          </a:p>
          <a:p>
            <a:r>
              <a:rPr lang="uk-UA" sz="1200" dirty="0"/>
              <a:t>Одразу кажу, навіщо це насправді: у цьому самому форматі відповідає ChatGPT, і</a:t>
            </a:r>
          </a:p>
          <a:p>
            <a:r>
              <a:rPr lang="uk-UA" sz="1200" dirty="0"/>
              <a:t>на уроці 4 ми будемо розбирати його відповідь. Сьогоднішній файл — тренування</a:t>
            </a:r>
          </a:p>
          <a:p>
            <a:r>
              <a:rPr lang="uk-UA" sz="1200" dirty="0"/>
              <a:t>перед тим.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</a:t>
            </a:r>
          </a:p>
          <a:p>
            <a:endParaRPr lang="uk-UA" sz="1200" dirty="0"/>
          </a:p>
          <a:p>
            <a:r>
              <a:rPr lang="uk-UA" sz="1200" dirty="0"/>
              <a:t>Блок-місток. Він пояснює, навіщо після щойно освоєних файлів з'являється ще</a:t>
            </a:r>
          </a:p>
          <a:p>
            <a:r>
              <a:rPr lang="uk-UA" sz="1200" dirty="0"/>
              <a:t>один формат. Розповідаю сам, група слухає.</a:t>
            </a:r>
          </a:p>
          <a:p>
            <a:endParaRPr lang="uk-UA" sz="1200" dirty="0"/>
          </a:p>
          <a:p>
            <a:r>
              <a:rPr lang="uk-UA" sz="1200" dirty="0"/>
              <a:t>Ставлю задачу вголос: у нас у файлі лежать рядки. Уяви, що треба зберегти не</a:t>
            </a:r>
          </a:p>
          <a:p>
            <a:r>
              <a:rPr lang="uk-UA" sz="1200" dirty="0"/>
              <a:t>одну нотатку, а три різні речі — ім'я, улюблену тему й місто. У текстовому</a:t>
            </a:r>
          </a:p>
          <a:p>
            <a:r>
              <a:rPr lang="uk-UA" sz="1200" dirty="0"/>
              <a:t>файлі це буде три рядки. А як програмі зрозуміти, який із них ім'я? Рахувати</a:t>
            </a:r>
          </a:p>
          <a:p>
            <a:r>
              <a:rPr lang="uk-UA" sz="1200" dirty="0"/>
              <a:t>рядки? А якщо порядок змінився?</a:t>
            </a:r>
          </a:p>
          <a:p>
            <a:endParaRPr lang="uk-UA" sz="1200" dirty="0"/>
          </a:p>
          <a:p>
            <a:r>
              <a:rPr lang="uk-UA" sz="1200" dirty="0"/>
              <a:t>Відповіді, які запропонує група, будуть на кшталт «перший рядок — ім'я». Далі</a:t>
            </a:r>
          </a:p>
          <a:p>
            <a:r>
              <a:rPr lang="uk-UA" sz="1200" dirty="0"/>
              <a:t>питаю: а що як хтось не заповнив місто? Усе з'їде. Саме через це для даних із</a:t>
            </a:r>
          </a:p>
          <a:p>
            <a:r>
              <a:rPr lang="uk-UA" sz="1200" dirty="0"/>
              <a:t>полями є окремий формат.</a:t>
            </a:r>
          </a:p>
          <a:p>
            <a:endParaRPr lang="uk-UA" sz="1200" dirty="0"/>
          </a:p>
          <a:p>
            <a:r>
              <a:rPr lang="uk-UA" sz="1200" dirty="0"/>
              <a:t>Показую JSON очима на телевізорі — відкриваю в блокноті файл на три рядки:</a:t>
            </a:r>
          </a:p>
          <a:p>
            <a:r>
              <a:rPr lang="uk-UA" sz="1200" dirty="0"/>
              <a:t>    {"name": "Марта", "тема": "космос"}</a:t>
            </a:r>
          </a:p>
          <a:p>
            <a:r>
              <a:rPr lang="uk-UA" sz="1200" dirty="0"/>
              <a:t>І кажу головне: це рівно те саме, що словник у Python. Ті самі фігурні дужки,</a:t>
            </a:r>
          </a:p>
          <a:p>
            <a:r>
              <a:rPr lang="uk-UA" sz="1200" dirty="0"/>
              <a:t>ті самі пари «ключ»: значення, та сама кома. Тому словник Python лягає у JSON</a:t>
            </a:r>
          </a:p>
          <a:p>
            <a:r>
              <a:rPr lang="uk-UA" sz="1200" dirty="0"/>
              <a:t>майже без перетворення.</a:t>
            </a:r>
          </a:p>
          <a:p>
            <a:endParaRPr lang="uk-UA" sz="1200" dirty="0"/>
          </a:p>
          <a:p>
            <a:r>
              <a:rPr lang="uk-UA" sz="1200" dirty="0"/>
              <a:t>Друге, що варто сказати одразу: JSON — це не наш внутрішній формат. Це мова,</a:t>
            </a:r>
          </a:p>
          <a:p>
            <a:r>
              <a:rPr lang="uk-UA" sz="1200" dirty="0"/>
              <a:t>якою обмінюються програми в усьому світі. Тому на уроці 4, коли ми надішлемо</a:t>
            </a:r>
          </a:p>
          <a:p>
            <a:r>
              <a:rPr lang="uk-UA" sz="1200" dirty="0"/>
              <a:t>запит до ChatGPT, відповідь прийде саме в JSON — і сьогоднішній блок робить</a:t>
            </a:r>
          </a:p>
          <a:p>
            <a:r>
              <a:rPr lang="uk-UA" sz="1200" dirty="0"/>
              <a:t>той урок удвічі легшим.</a:t>
            </a:r>
          </a:p>
          <a:p>
            <a:endParaRPr lang="uk-UA" sz="1200" dirty="0"/>
          </a:p>
          <a:p>
            <a:r>
              <a:rPr lang="uk-UA" sz="1200" dirty="0"/>
              <a:t>Різниця, яку варто назвати чесно: у JSON лапки завжди подвійні, і немає</a:t>
            </a:r>
          </a:p>
          <a:p>
            <a:r>
              <a:rPr lang="uk-UA" sz="1200" dirty="0"/>
              <a:t>True/False у пітонівському написанні (там true/false). Дітям цього досить.</a:t>
            </a:r>
          </a:p>
          <a:p>
            <a:endParaRPr lang="uk-UA" sz="1200" dirty="0"/>
          </a:p>
          <a:p>
            <a:r>
              <a:rPr lang="uk-UA" sz="1200" dirty="0"/>
              <a:t>Де плутаються: думають, що JSON — це якась база даних. Ні, це звичайний</a:t>
            </a:r>
          </a:p>
          <a:p>
            <a:r>
              <a:rPr lang="uk-UA" sz="1200" dirty="0"/>
              <a:t>текстовий файл, який можна відкрити блокнотом; просто текст у ньому записаний</a:t>
            </a:r>
          </a:p>
          <a:p>
            <a:r>
              <a:rPr lang="uk-UA" sz="1200" dirty="0"/>
              <a:t>за суворими правилами.</a:t>
            </a:r>
          </a:p>
          <a:p>
            <a:endParaRPr lang="uk-UA" sz="1200" dirty="0"/>
          </a:p>
          <a:p>
            <a:r>
              <a:rPr lang="uk-UA" sz="1200" dirty="0"/>
              <a:t>Наступний слайд: набираємо такий файл руками, за шаблоном.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</a:t>
            </a:r>
          </a:p>
          <a:p>
            <a:endParaRPr lang="uk-UA" sz="1200" dirty="0"/>
          </a:p>
          <a:p>
            <a:r>
              <a:rPr lang="uk-UA" sz="1200" dirty="0"/>
              <a:t>Творча частина, але з готовим каркасом: вигадувати структуру не треба, треба</a:t>
            </a:r>
          </a:p>
          <a:p>
            <a:r>
              <a:rPr lang="uk-UA" sz="1200" dirty="0"/>
              <a:t>замінити три слова в дужках. Саме тому це працює навіть у тих, хто «нічого не</a:t>
            </a:r>
          </a:p>
          <a:p>
            <a:r>
              <a:rPr lang="uk-UA" sz="1200" dirty="0"/>
              <a:t>придумав».</a:t>
            </a:r>
          </a:p>
          <a:p>
            <a:endParaRPr lang="uk-UA" sz="1200" dirty="0"/>
          </a:p>
          <a:p>
            <a:r>
              <a:rPr lang="uk-UA" sz="1200" dirty="0"/>
              <a:t>Спершу показую, як створити файл із таким розширенням. У редакторі це «Файл —</a:t>
            </a:r>
          </a:p>
          <a:p>
            <a:r>
              <a:rPr lang="uk-UA" sz="1200" dirty="0"/>
              <a:t>Створити», ім'я me.json разом із крапкою й трьома буквами. Показую повільно:</a:t>
            </a:r>
          </a:p>
          <a:p>
            <a:r>
              <a:rPr lang="uk-UA" sz="1200" dirty="0"/>
              <a:t>для частини групи це перший файл, який вони назвали не .py і не .txt.</a:t>
            </a:r>
          </a:p>
          <a:p>
            <a:endParaRPr lang="uk-UA" sz="1200" dirty="0"/>
          </a:p>
          <a:p>
            <a:r>
              <a:rPr lang="uk-UA" sz="1200" dirty="0"/>
              <a:t>Далі кажу правило: перепишіть усі п'ять рядків зі слайда, а потім замініть</a:t>
            </a:r>
          </a:p>
          <a:p>
            <a:r>
              <a:rPr lang="uk-UA" sz="1200" dirty="0"/>
              <a:t>те, що в квадратних дужках, на своє. Дужки прибрати, лапки лишити.</a:t>
            </a:r>
          </a:p>
          <a:p>
            <a:endParaRPr lang="uk-UA" sz="1200" dirty="0"/>
          </a:p>
          <a:p>
            <a:r>
              <a:rPr lang="uk-UA" sz="1200" dirty="0"/>
              <a:t>Пояснюю вголос, що тут що: фігурна дужка відкриває запис, кожен рядок — це</a:t>
            </a:r>
          </a:p>
          <a:p>
            <a:r>
              <a:rPr lang="uk-UA" sz="1200" dirty="0"/>
              <a:t>пара «підпис»: «значення», між парами стоїть кома, після останньої пари коми</a:t>
            </a:r>
          </a:p>
          <a:p>
            <a:r>
              <a:rPr lang="uk-UA" sz="1200" dirty="0"/>
              <a:t>немає, і фігурна дужка закриває запис. Це чотири правила, і всі чотири видно</a:t>
            </a:r>
          </a:p>
          <a:p>
            <a:r>
              <a:rPr lang="uk-UA" sz="1200" dirty="0"/>
              <a:t>на екрані.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лишили квадратні дужки;</a:t>
            </a:r>
          </a:p>
          <a:p>
            <a:r>
              <a:rPr lang="uk-UA" sz="1200" dirty="0"/>
              <a:t>    поставили кому після останньої пари — редактор підкреслить рядок червоним;</a:t>
            </a:r>
          </a:p>
          <a:p>
            <a:r>
              <a:rPr lang="uk-UA" sz="1200" dirty="0"/>
              <a:t>    замінили подвійні лапки на кутові «ялинки», бо так підставила клавіатура;</a:t>
            </a:r>
          </a:p>
          <a:p>
            <a:r>
              <a:rPr lang="uk-UA" sz="1200" dirty="0"/>
              <a:t>    зберегли як me.json.txt;</a:t>
            </a:r>
          </a:p>
          <a:p>
            <a:r>
              <a:rPr lang="uk-UA" sz="1200" dirty="0"/>
              <a:t>    забули закриваючу фігурну дужку.</a:t>
            </a:r>
          </a:p>
          <a:p>
            <a:endParaRPr lang="uk-UA" sz="1200" dirty="0"/>
          </a:p>
          <a:p>
            <a:r>
              <a:rPr lang="uk-UA" sz="1200" dirty="0"/>
              <a:t>Хороша перевірка, яка не потребує програми: більшість редакторів підсвічує</a:t>
            </a:r>
          </a:p>
          <a:p>
            <a:r>
              <a:rPr lang="uk-UA" sz="1200" dirty="0"/>
              <a:t>JSON кольорами. Якщо файл увесь одного кольору або редактор малює червону</a:t>
            </a:r>
          </a:p>
          <a:p>
            <a:r>
              <a:rPr lang="uk-UA" sz="1200" dirty="0"/>
              <a:t>хвилю — щось із лапками чи комами. Прошу дивитись саме на це.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додасть четвертий рядок за тим самим зразком —</a:t>
            </a:r>
          </a:p>
          <a:p>
            <a:endParaRPr lang="uk-UA" sz="1200" dirty="0"/>
          </a:p>
          <a:p>
            <a:r>
              <a:rPr lang="uk-UA" sz="1200" dirty="0"/>
              <a:t>  "клас": "[6-А]"</a:t>
            </a:r>
          </a:p>
          <a:p>
            <a:endParaRPr lang="uk-UA" sz="1200" dirty="0"/>
          </a:p>
          <a:p>
            <a:r>
              <a:rPr lang="uk-UA" sz="1200" dirty="0"/>
              <a:t>і поставить кому в кінці попереднього рядка, того, що з містом. У самому</a:t>
            </a:r>
          </a:p>
          <a:p>
            <a:r>
              <a:rPr lang="uk-UA" sz="1200" dirty="0"/>
              <a:t>новому рядку коми в кінці немає: він став останнім, а після останньої пари</a:t>
            </a:r>
          </a:p>
          <a:p>
            <a:r>
              <a:rPr lang="uk-UA" sz="1200" dirty="0"/>
              <a:t>коми не буває — з нею файл перестає бути JSON. Це рівно те місце, де всі</a:t>
            </a:r>
          </a:p>
          <a:p>
            <a:r>
              <a:rPr lang="uk-UA" sz="1200" dirty="0"/>
              <a:t>помиляються з комою, і краще помилитись тут, ніж завтра.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Файл me.json у папці проєкту:</a:t>
            </a:r>
          </a:p>
          <a:p>
            <a:endParaRPr lang="uk-UA" sz="1200" dirty="0"/>
          </a:p>
          <a:p>
            <a:r>
              <a:rPr lang="uk-UA" sz="1200" dirty="0"/>
              <a:t>{</a:t>
            </a:r>
          </a:p>
          <a:p>
            <a:r>
              <a:rPr lang="uk-UA" sz="1200" dirty="0"/>
              <a:t>  "name": "Марта",</a:t>
            </a:r>
          </a:p>
          <a:p>
            <a:r>
              <a:rPr lang="uk-UA" sz="1200" dirty="0"/>
              <a:t>  "тема": "космос",</a:t>
            </a:r>
          </a:p>
          <a:p>
            <a:r>
              <a:rPr lang="uk-UA" sz="1200" dirty="0"/>
              <a:t>  "місто": "Полтава"</a:t>
            </a:r>
          </a:p>
          <a:p>
            <a:r>
              <a:rPr lang="uk-UA" sz="1200" dirty="0"/>
              <a:t>}</a:t>
            </a:r>
          </a:p>
          <a:p>
            <a:endParaRPr lang="uk-UA" sz="1200" dirty="0"/>
          </a:p>
          <a:p>
            <a:r>
              <a:rPr lang="uk-UA" sz="1200" dirty="0"/>
              <a:t>Перевірка: жодної квадратної дужки, усі лапки подвійні й прямі,</a:t>
            </a:r>
          </a:p>
          <a:p>
            <a:r>
              <a:rPr lang="uk-UA" sz="1200" dirty="0"/>
              <a:t>після останньої пари коми немає, а фігурні дужки закриті.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≈1 хв · питання групі</a:t>
            </a:r>
          </a:p>
          <a:p>
            <a:endParaRPr lang="uk-UA" sz="1200" dirty="0"/>
          </a:p>
          <a:p>
            <a:r>
              <a:rPr lang="uk-UA" sz="1200" dirty="0"/>
              <a:t>Одна хвилина, швидкий темп. Питання риторичні — вони готують два імені, dump і</a:t>
            </a:r>
          </a:p>
          <a:p>
            <a:r>
              <a:rPr lang="uk-UA" sz="1200" dirty="0"/>
              <a:t>load, і одну звичку писати ensure_ascii=False.</a:t>
            </a:r>
          </a:p>
          <a:p>
            <a:endParaRPr lang="uk-UA" sz="1200" dirty="0"/>
          </a:p>
          <a:p>
            <a:r>
              <a:rPr lang="uk-UA" sz="1200" dirty="0"/>
              <a:t>СКІЛЬКИ РЯДКІВ. Кажуть «багато», «по рядку на поле». Кажу: один. Це те місце,</a:t>
            </a:r>
          </a:p>
          <a:p>
            <a:r>
              <a:rPr lang="uk-UA" sz="1200" dirty="0"/>
              <a:t>де діти чекають складного, а виявляється просто, — і таке варто підкреслити</a:t>
            </a:r>
          </a:p>
          <a:p>
            <a:r>
              <a:rPr lang="uk-UA" sz="1200" dirty="0"/>
              <a:t>вголос, бо воно додає віри в себе.</a:t>
            </a:r>
          </a:p>
          <a:p>
            <a:endParaRPr lang="uk-UA" sz="1200" dirty="0"/>
          </a:p>
          <a:p>
            <a:r>
              <a:rPr lang="uk-UA" sz="1200" dirty="0"/>
              <a:t>ЩО ПОВЕРНЕТЬСЯ. Правильна відповідь: той самий словник, а не текст. Прошу</a:t>
            </a:r>
          </a:p>
          <a:p>
            <a:r>
              <a:rPr lang="uk-UA" sz="1200" dirty="0"/>
              <a:t>подумати, чим це краще за читання рядками. Тим, що з нього одразу можна брати</a:t>
            </a:r>
          </a:p>
          <a:p>
            <a:r>
              <a:rPr lang="uk-UA" sz="1200" dirty="0"/>
              <a:t>за ключем — так само, як з ANSWERS на минулому уроці.</a:t>
            </a:r>
          </a:p>
          <a:p>
            <a:endParaRPr lang="uk-UA" sz="1200" dirty="0"/>
          </a:p>
          <a:p>
            <a:r>
              <a:rPr lang="uk-UA" sz="1200" dirty="0"/>
              <a:t>ЧИТАБЕЛЬНИЙ ДЛЯ ЛЮДИНИ. Питання, яке готує два аргументи функції. Кажу, що за</a:t>
            </a:r>
          </a:p>
          <a:p>
            <a:r>
              <a:rPr lang="uk-UA" sz="1200" dirty="0"/>
              <a:t>замовчуванням Python пише український текст числами, а весь словник — одним</a:t>
            </a:r>
          </a:p>
          <a:p>
            <a:r>
              <a:rPr lang="uk-UA" sz="1200" dirty="0"/>
              <a:t>довгим рядком. Обидва лікуються, і обидва ліки будуть на слайді.</a:t>
            </a:r>
          </a:p>
          <a:p>
            <a:endParaRPr lang="uk-UA" sz="1200" dirty="0"/>
          </a:p>
          <a:p>
            <a:r>
              <a:rPr lang="uk-UA" sz="1200" dirty="0"/>
              <a:t>Далі показ, і на ньому все це буде показане живцем.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</a:t>
            </a:r>
          </a:p>
          <a:p>
            <a:endParaRPr lang="uk-UA" sz="1200" dirty="0"/>
          </a:p>
          <a:p>
            <a:r>
              <a:rPr lang="uk-UA" sz="1200" dirty="0"/>
              <a:t>Головний технічний блок уроку. Тут з'являються дві функції, і обидві дуже</a:t>
            </a:r>
          </a:p>
          <a:p>
            <a:r>
              <a:rPr lang="uk-UA" sz="1200" dirty="0"/>
              <a:t>короткі. Тримаю на телевізорі відкритим той код, який група набиратиме далі,</a:t>
            </a:r>
          </a:p>
          <a:p>
            <a:r>
              <a:rPr lang="uk-UA" sz="1200" dirty="0"/>
              <a:t>і показую пальцем рядок за рядком.</a:t>
            </a:r>
          </a:p>
          <a:p>
            <a:endParaRPr lang="uk-UA" sz="1200" dirty="0"/>
          </a:p>
          <a:p>
            <a:r>
              <a:rPr lang="uk-UA" sz="1200" dirty="0"/>
              <a:t>import json — підключаємо готовий набір. Нічого встановлювати не треба, він</a:t>
            </a:r>
          </a:p>
          <a:p>
            <a:r>
              <a:rPr lang="uk-UA" sz="1200" dirty="0"/>
              <a:t>уже є в Python.</a:t>
            </a:r>
          </a:p>
          <a:p>
            <a:endParaRPr lang="uk-UA" sz="1200" dirty="0"/>
          </a:p>
          <a:p>
            <a:r>
              <a:rPr lang="uk-UA" sz="1200" dirty="0"/>
              <a:t>json.dump(card, f, ...) — «поклади словник card у файл f». Читається як</a:t>
            </a:r>
          </a:p>
          <a:p>
            <a:r>
              <a:rPr lang="uk-UA" sz="1200" dirty="0"/>
              <a:t>«dump» = «вивалити». Аргументи по черзі: що записуємо, куди записуємо, і два</a:t>
            </a:r>
          </a:p>
          <a:p>
            <a:r>
              <a:rPr lang="uk-UA" sz="1200" dirty="0"/>
              <a:t>налаштування.</a:t>
            </a:r>
          </a:p>
          <a:p>
            <a:endParaRPr lang="uk-UA" sz="1200" dirty="0"/>
          </a:p>
          <a:p>
            <a:r>
              <a:rPr lang="uk-UA" sz="1200" dirty="0"/>
              <a:t>ensure_ascii=False — найважливіше налаштування для нас. Без нього Python</a:t>
            </a:r>
          </a:p>
          <a:p>
            <a:r>
              <a:rPr lang="uk-UA" sz="1200" dirty="0"/>
              <a:t>запише «Марта» як \u041c\u0430\u0440\u0442\u0430. Програма це прочитає</a:t>
            </a:r>
          </a:p>
          <a:p>
            <a:r>
              <a:rPr lang="uk-UA" sz="1200" dirty="0"/>
              <a:t>правильно, але людина, яка відкриє файл, не зрозуміє нічого. Показую обидва</a:t>
            </a:r>
          </a:p>
          <a:p>
            <a:r>
              <a:rPr lang="uk-UA" sz="1200" dirty="0"/>
              <a:t>варіанти на телевізорі — це вражає.</a:t>
            </a:r>
          </a:p>
          <a:p>
            <a:endParaRPr lang="uk-UA" sz="1200" dirty="0"/>
          </a:p>
          <a:p>
            <a:r>
              <a:rPr lang="uk-UA" sz="1200" dirty="0"/>
              <a:t>indent=2 — робить відступи, щоб файл читався очима. Без нього все в один рядок.</a:t>
            </a:r>
          </a:p>
          <a:p>
            <a:endParaRPr lang="uk-UA" sz="1200" dirty="0"/>
          </a:p>
          <a:p>
            <a:r>
              <a:rPr lang="uk-UA" sz="1200" dirty="0"/>
              <a:t>json.load(f) — читає файл і повертає словник. Наголошую: саме словник, а не</a:t>
            </a:r>
          </a:p>
          <a:p>
            <a:r>
              <a:rPr lang="uk-UA" sz="1200" dirty="0"/>
              <a:t>рядок. Тому далі одразу можна писати card["name"] — те, що діти вже вміють з</a:t>
            </a:r>
          </a:p>
          <a:p>
            <a:r>
              <a:rPr lang="uk-UA" sz="1200" dirty="0"/>
              <a:t>уроку 2.</a:t>
            </a:r>
          </a:p>
          <a:p>
            <a:endParaRPr lang="uk-UA" sz="1200" dirty="0"/>
          </a:p>
          <a:p>
            <a:r>
              <a:rPr lang="uk-UA" sz="1200" dirty="0"/>
              <a:t>Показую пару dump/load як дзеркало: що поклали, те й дістали. Питаю групу, що</a:t>
            </a:r>
          </a:p>
          <a:p>
            <a:r>
              <a:rPr lang="uk-UA" sz="1200" dirty="0"/>
              <a:t>станеться, якщо у словнику буде три ключі замість двох. Правильна відповідь —</a:t>
            </a:r>
          </a:p>
          <a:p>
            <a:r>
              <a:rPr lang="uk-UA" sz="1200" dirty="0"/>
              <a:t>нічого особливого, повернуться всі три. Саме тому JSON і зручний.</a:t>
            </a:r>
          </a:p>
          <a:p>
            <a:endParaRPr lang="uk-UA" sz="1200" dirty="0"/>
          </a:p>
          <a:p>
            <a:r>
              <a:rPr lang="uk-UA" sz="1200" dirty="0"/>
              <a:t>Про пастку кажу заздалегідь: є ще json.dumps і json.loads з буквою s на кінці.</a:t>
            </a:r>
          </a:p>
          <a:p>
            <a:r>
              <a:rPr lang="uk-UA" sz="1200" dirty="0"/>
              <a:t>Вони працюють не з файлом, а з рядком. Літера s означає «string».</a:t>
            </a:r>
          </a:p>
          <a:p>
            <a:endParaRPr lang="uk-UA" sz="1200" dirty="0"/>
          </a:p>
          <a:p>
            <a:r>
              <a:rPr lang="uk-UA" sz="1200" dirty="0"/>
              <a:t>Наступний слайд: набираємо одинадцять рядків, і той самий словник їде у</a:t>
            </a:r>
          </a:p>
          <a:p>
            <a:r>
              <a:rPr lang="uk-UA" sz="1200" dirty="0"/>
              <a:t>card.json і повертається назад.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≈6 хв · набирають</a:t>
            </a:r>
          </a:p>
          <a:p>
            <a:endParaRPr lang="uk-UA" sz="1200" dirty="0"/>
          </a:p>
          <a:p>
            <a:r>
              <a:rPr lang="uk-UA" sz="1200" dirty="0"/>
              <a:t>Практика, у якій вперше видно повне коло: словник із програми поїхав на диск і</a:t>
            </a:r>
          </a:p>
          <a:p>
            <a:r>
              <a:rPr lang="uk-UA" sz="1200" dirty="0"/>
              <a:t>повернувся звідти словником.</a:t>
            </a:r>
          </a:p>
          <a:p>
            <a:endParaRPr lang="uk-UA" sz="1200" dirty="0"/>
          </a:p>
          <a:p>
            <a:r>
              <a:rPr lang="uk-UA" sz="1200" dirty="0"/>
              <a:t>Кажу порядок: створити card.py, набрати одинадцять рядків з екрана рівно так,</a:t>
            </a:r>
          </a:p>
          <a:p>
            <a:r>
              <a:rPr lang="uk-UA" sz="1200" dirty="0"/>
              <a:t>як вони стоять, зберегти, запустити. Потім обов'язково відкрити card.json у</a:t>
            </a:r>
          </a:p>
          <a:p>
            <a:r>
              <a:rPr lang="uk-UA" sz="1200" dirty="0"/>
              <a:t>редакторі й подивитись на нього очима: без цього половина ефекту губиться.</a:t>
            </a:r>
          </a:p>
          <a:p>
            <a:endParaRPr lang="uk-UA" sz="1200" dirty="0"/>
          </a:p>
          <a:p>
            <a:r>
              <a:rPr lang="uk-UA" sz="1200" dirty="0"/>
              <a:t>Питання «а можна своє ім'я?» лунає завжди. Відповідаю: сьогодні набираємо як</a:t>
            </a:r>
          </a:p>
          <a:p>
            <a:r>
              <a:rPr lang="uk-UA" sz="1200" dirty="0"/>
              <a:t>на екрані — тоді в усіх однаковий card.json, і кожен звіряє себе сам, не</a:t>
            </a:r>
          </a:p>
          <a:p>
            <a:r>
              <a:rPr lang="uk-UA" sz="1200" dirty="0"/>
              <a:t>чекаючи, поки я дійду до його парти. Хто хоче своє, міняє два слова після</a:t>
            </a:r>
          </a:p>
          <a:p>
            <a:r>
              <a:rPr lang="uk-UA" sz="1200" dirty="0"/>
              <a:t>того, як програма вже запрацювала: своє ім'я на місці «Марта», свою тему на</a:t>
            </a:r>
          </a:p>
          <a:p>
            <a:r>
              <a:rPr lang="uk-UA" sz="1200" dirty="0"/>
              <a:t>місці «космос». І одразу застерігаю: квадратних дужок для заміни тут немає</a:t>
            </a:r>
          </a:p>
          <a:p>
            <a:r>
              <a:rPr lang="uk-UA" sz="1200" dirty="0"/>
              <a:t>взагалі, на відміну від me.json. Ті, що стоять на останньому рядку, у</a:t>
            </a:r>
          </a:p>
          <a:p>
            <a:r>
              <a:rPr lang="uk-UA" sz="1200" dirty="0"/>
              <a:t>card["name"], — не шаблон, а спосіб дістати поле зі словника, і чіпати їх не</a:t>
            </a:r>
          </a:p>
          <a:p>
            <a:r>
              <a:rPr lang="uk-UA" sz="1200" dirty="0"/>
              <a:t>можна: приберете — програма не запуститься.</a:t>
            </a:r>
          </a:p>
          <a:p>
            <a:endParaRPr lang="uk-UA" sz="1200" dirty="0"/>
          </a:p>
          <a:p>
            <a:r>
              <a:rPr lang="uk-UA" sz="1200" dirty="0"/>
              <a:t>Наголошую на трьох місцях:</a:t>
            </a:r>
          </a:p>
          <a:p>
            <a:r>
              <a:rPr lang="uk-UA" sz="1200" dirty="0"/>
              <a:t>    у dump спершу словник, потім файл: json.dump(card, f, ...), не навпаки;</a:t>
            </a:r>
          </a:p>
          <a:p>
            <a:r>
              <a:rPr lang="uk-UA" sz="1200" dirty="0"/>
              <a:t>    у першому open стоїть "w" — файл щоразу переписується цілком, і це саме</a:t>
            </a:r>
          </a:p>
          <a:p>
            <a:r>
              <a:rPr lang="uk-UA" sz="1200" dirty="0"/>
              <a:t>    те, що нам треба: це не нотатки, а один запис про людину;</a:t>
            </a:r>
          </a:p>
          <a:p>
            <a:r>
              <a:rPr lang="uk-UA" sz="1200" dirty="0"/>
              <a:t>    у другому open стоїть "r", і саме там json.load.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json.dump(f, card) — переплутали порядок аргументів; на екрані буде</a:t>
            </a:r>
          </a:p>
          <a:p>
            <a:r>
              <a:rPr lang="uk-UA" sz="1200" dirty="0"/>
              <a:t>    «TypeError: Object of type TextIOWrapper is not JSON serializable», тобто</a:t>
            </a:r>
          </a:p>
          <a:p>
            <a:r>
              <a:rPr lang="uk-UA" sz="1200" dirty="0"/>
              <a:t>    «просите записати у файл сам файл»; показую рядок і міняю аргументи</a:t>
            </a:r>
          </a:p>
          <a:p>
            <a:r>
              <a:rPr lang="uk-UA" sz="1200" dirty="0"/>
              <a:t>    місцями;</a:t>
            </a:r>
          </a:p>
          <a:p>
            <a:r>
              <a:rPr lang="uk-UA" sz="1200" dirty="0"/>
              <a:t>    забули import json — NameError: name 'json' is not defined;</a:t>
            </a:r>
          </a:p>
          <a:p>
            <a:r>
              <a:rPr lang="uk-UA" sz="1200" dirty="0"/>
              <a:t>    написали json.dumps замість json.dump — програма падає одразу, на екрані</a:t>
            </a:r>
          </a:p>
          <a:p>
            <a:r>
              <a:rPr lang="uk-UA" sz="1200" dirty="0"/>
              <a:t>    «TypeError: dumps() takes 1 positional argument but 2 positional arguments</a:t>
            </a:r>
          </a:p>
          <a:p>
            <a:r>
              <a:rPr lang="uk-UA" sz="1200" dirty="0"/>
              <a:t>    ... were given»: dumps файла не приймає взагалі, він віддає рядок;</a:t>
            </a:r>
          </a:p>
          <a:p>
            <a:r>
              <a:rPr lang="uk-UA" sz="1200" dirty="0"/>
              <a:t>    забули ensure_ascii=False — прошу відкрити файл і подивитись, а потім</a:t>
            </a:r>
          </a:p>
          <a:p>
            <a:r>
              <a:rPr lang="uk-UA" sz="1200" dirty="0"/>
              <a:t>    дописати й запустити ще раз;</a:t>
            </a:r>
          </a:p>
          <a:p>
            <a:r>
              <a:rPr lang="uk-UA" sz="1200" dirty="0"/>
              <a:t>    поставили card["name"] з кутовими лапками.</a:t>
            </a:r>
          </a:p>
          <a:p>
            <a:endParaRPr lang="uk-UA" sz="1200" dirty="0"/>
          </a:p>
          <a:p>
            <a:r>
              <a:rPr lang="uk-UA" sz="1200" dirty="0"/>
              <a:t>Питання, яке лунає завжди: навіщо читати файл одразу після того, як ми його</a:t>
            </a:r>
          </a:p>
          <a:p>
            <a:r>
              <a:rPr lang="uk-UA" sz="1200" dirty="0"/>
              <a:t>записали? Відповідаю чесно: сьогодні — щоб побачити, що load повертає рівно</a:t>
            </a:r>
          </a:p>
          <a:p>
            <a:r>
              <a:rPr lang="uk-UA" sz="1200" dirty="0"/>
              <a:t>той самий словник. Завтра читати буде вже інший запуск програми, і саме це</a:t>
            </a:r>
          </a:p>
          <a:p>
            <a:r>
              <a:rPr lang="uk-UA" sz="1200" dirty="0"/>
              <a:t>ми зробимо в наступному блоці — там буде свій власний файл, user.json, і</a:t>
            </a:r>
          </a:p>
          <a:p>
            <a:r>
              <a:rPr lang="uk-UA" sz="1200" dirty="0"/>
              <a:t>card.json йому не заважатиме.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додасть у словник третю пару —</a:t>
            </a:r>
          </a:p>
          <a:p>
            <a:endParaRPr lang="uk-UA" sz="1200" dirty="0"/>
          </a:p>
          <a:p>
            <a:r>
              <a:rPr lang="uk-UA" sz="1200" dirty="0"/>
              <a:t>card = {"name": "Марта", "тема": "космос", "місто": "Полтава"}</a:t>
            </a:r>
          </a:p>
          <a:p>
            <a:endParaRPr lang="uk-UA" sz="1200" dirty="0"/>
          </a:p>
          <a:p>
            <a:r>
              <a:rPr lang="uk-UA" sz="1200" dirty="0"/>
              <a:t>запустить і подивиться, що у файлі стало три рядки, а в коді змінився один.</a:t>
            </a:r>
          </a:p>
          <a:p>
            <a:r>
              <a:rPr lang="uk-UA" sz="1200" dirty="0"/>
              <a:t>Оце й є відповідь на питання «чим JSON кращий за текстовий файл».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card.py</a:t>
            </a:r>
          </a:p>
          <a:p>
            <a:r>
              <a:rPr lang="uk-UA" sz="1200" dirty="0"/>
              <a:t>Привіт, Марта</a:t>
            </a:r>
          </a:p>
          <a:p>
            <a:endParaRPr lang="uk-UA" sz="1200" dirty="0"/>
          </a:p>
          <a:p>
            <a:r>
              <a:rPr lang="uk-UA" sz="1200" dirty="0"/>
              <a:t>У папці з'явився файл card.json:</a:t>
            </a:r>
          </a:p>
          <a:p>
            <a:endParaRPr lang="uk-UA" sz="1200" dirty="0"/>
          </a:p>
          <a:p>
            <a:r>
              <a:rPr lang="uk-UA" sz="1200" dirty="0"/>
              <a:t>{</a:t>
            </a:r>
          </a:p>
          <a:p>
            <a:r>
              <a:rPr lang="uk-UA" sz="1200" dirty="0"/>
              <a:t>  "name": "Марта",</a:t>
            </a:r>
          </a:p>
          <a:p>
            <a:r>
              <a:rPr lang="uk-UA" sz="1200" dirty="0"/>
              <a:t>  "тема": "космос"</a:t>
            </a:r>
          </a:p>
          <a:p>
            <a:r>
              <a:rPr lang="uk-UA" sz="1200" dirty="0"/>
              <a:t>}</a:t>
            </a:r>
          </a:p>
          <a:p>
            <a:endParaRPr lang="uk-UA" sz="1200" dirty="0"/>
          </a:p>
          <a:p>
            <a:r>
              <a:rPr lang="uk-UA" sz="1200" dirty="0"/>
              <a:t>Якщо у файлі замість букв стоїть \u041c\u0430\u0440\u0442\u0430 —</a:t>
            </a:r>
          </a:p>
          <a:p>
            <a:r>
              <a:rPr lang="uk-UA" sz="1200" dirty="0"/>
              <a:t>загубився ensure_ascii=False. Якщо все в один рядок — indent=2.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≈1 хв · питання групі</a:t>
            </a:r>
          </a:p>
          <a:p>
            <a:endParaRPr lang="uk-UA" sz="1200" dirty="0"/>
          </a:p>
          <a:p>
            <a:r>
              <a:rPr lang="uk-UA" sz="1200" dirty="0"/>
              <a:t>Одна хвилина перед фіналом уроку. Питання короткі, бо код на наступному слайді</a:t>
            </a:r>
          </a:p>
          <a:p>
            <a:r>
              <a:rPr lang="uk-UA" sz="1200" dirty="0"/>
              <a:t>найдовший за пару — дванадцять рядків.</a:t>
            </a:r>
          </a:p>
          <a:p>
            <a:endParaRPr lang="uk-UA" sz="1200" dirty="0"/>
          </a:p>
          <a:p>
            <a:r>
              <a:rPr lang="uk-UA" sz="1200" dirty="0"/>
              <a:t>ЯК РОЗУМІЄМО ЛЮДИНУ. Відповідь: упізнаємо. А програма? Дивиться, чи лежить у</a:t>
            </a:r>
          </a:p>
          <a:p>
            <a:r>
              <a:rPr lang="uk-UA" sz="1200" dirty="0"/>
              <a:t>папці файл із іменем. Прошу сказати вголос, що саме вона перевіряє: не вміст,</a:t>
            </a:r>
          </a:p>
          <a:p>
            <a:r>
              <a:rPr lang="uk-UA" sz="1200" dirty="0"/>
              <a:t>а сам факт, що файл є.</a:t>
            </a:r>
          </a:p>
          <a:p>
            <a:endParaRPr lang="uk-UA" sz="1200" dirty="0"/>
          </a:p>
          <a:p>
            <a:r>
              <a:rPr lang="uk-UA" sz="1200" dirty="0"/>
              <a:t>ФАЙЛА ЩЕ НЕМАЄ. Правильна відповідь: знайомимось і зберігаємо. Тобто дві</a:t>
            </a:r>
          </a:p>
          <a:p>
            <a:r>
              <a:rPr lang="uk-UA" sz="1200" dirty="0"/>
              <a:t>різні поведінки, і вибір між ними — це if і else, які вони вже вміють.</a:t>
            </a:r>
          </a:p>
          <a:p>
            <a:endParaRPr lang="uk-UA" sz="1200" dirty="0"/>
          </a:p>
          <a:p>
            <a:r>
              <a:rPr lang="uk-UA" sz="1200" dirty="0"/>
              <a:t>КОД ОДНАКОВИЙ, ПОМІЧНИК СВІЙ. Головна думка уроку й одна з головних у курсі.</a:t>
            </a:r>
          </a:p>
          <a:p>
            <a:r>
              <a:rPr lang="uk-UA" sz="1200" dirty="0"/>
              <a:t>Кажу: у файлі лежить те, що в кожного своє, — ім'я, нотатки, а з наступного</a:t>
            </a:r>
          </a:p>
          <a:p>
            <a:r>
              <a:rPr lang="uk-UA" sz="1200" dirty="0"/>
              <a:t>уроку ще й ключ до ChatGPT. У коді не лежить нічого особистого, і саме тому</a:t>
            </a:r>
          </a:p>
          <a:p>
            <a:r>
              <a:rPr lang="uk-UA" sz="1200" dirty="0"/>
              <a:t>кодом можна обмінятись, а файлом — ні.</a:t>
            </a:r>
          </a:p>
          <a:p>
            <a:endParaRPr lang="uk-UA" sz="1200" dirty="0"/>
          </a:p>
          <a:p>
            <a:r>
              <a:rPr lang="uk-UA" sz="1200" dirty="0"/>
              <a:t>Далі показ, і після нього — найдовший лістинг пари.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</a:t>
            </a:r>
          </a:p>
          <a:p>
            <a:endParaRPr lang="uk-UA" sz="1200" dirty="0"/>
          </a:p>
          <a:p>
            <a:r>
              <a:rPr lang="uk-UA" sz="1200" dirty="0"/>
              <a:t>Останній змістовний блок уроку, і найприємніший: зараз програма вперше почне</a:t>
            </a:r>
          </a:p>
          <a:p>
            <a:r>
              <a:rPr lang="uk-UA" sz="1200" dirty="0"/>
              <a:t>поводитись по-різному на перший і на другий запуск.</a:t>
            </a:r>
          </a:p>
          <a:p>
            <a:endParaRPr lang="uk-UA" sz="1200" dirty="0"/>
          </a:p>
          <a:p>
            <a:r>
              <a:rPr lang="uk-UA" sz="1200" dirty="0"/>
              <a:t>Починаю з проблеми, яку діти вже бачили: якщо просто відкрити user.json на</a:t>
            </a:r>
          </a:p>
          <a:p>
            <a:r>
              <a:rPr lang="uk-UA" sz="1200" dirty="0"/>
              <a:t>першому запуску, буде FileNotFoundError. Файла ще немає, а ми його читаємо.</a:t>
            </a:r>
          </a:p>
          <a:p>
            <a:endParaRPr lang="uk-UA" sz="1200" dirty="0"/>
          </a:p>
          <a:p>
            <a:r>
              <a:rPr lang="uk-UA" sz="1200" dirty="0"/>
              <a:t>os.path.exists("user.json") — питає операційну систему, чи є такий файл. Віддає</a:t>
            </a:r>
          </a:p>
          <a:p>
            <a:r>
              <a:rPr lang="uk-UA" sz="1200" dirty="0"/>
              <a:t>True або False. Нічого не відкриває і не створює, тільки дивиться. Саме тому</a:t>
            </a:r>
          </a:p>
          <a:p>
            <a:r>
              <a:rPr lang="uk-UA" sz="1200" dirty="0"/>
              <a:t>перевірку ставлять ПЕРЕД відкриттям.</a:t>
            </a:r>
          </a:p>
          <a:p>
            <a:endParaRPr lang="uk-UA" sz="1200" dirty="0"/>
          </a:p>
          <a:p>
            <a:r>
              <a:rPr lang="uk-UA" sz="1200" dirty="0"/>
              <a:t>Далі звичайне if/else, яке вони знають з уроку 1, — але тепер воно вирішує</a:t>
            </a:r>
          </a:p>
          <a:p>
            <a:r>
              <a:rPr lang="uk-UA" sz="1200" dirty="0"/>
              <a:t>долю всієї програми. Файл є — читаємо і вітаємось на ім'я. Файла немає —</a:t>
            </a:r>
          </a:p>
          <a:p>
            <a:r>
              <a:rPr lang="uk-UA" sz="1200" dirty="0"/>
              <a:t>знайомимось і зберігаємо.</a:t>
            </a:r>
          </a:p>
          <a:p>
            <a:endParaRPr lang="uk-UA" sz="1200" dirty="0"/>
          </a:p>
          <a:p>
            <a:r>
              <a:rPr lang="uk-UA" sz="1200" dirty="0"/>
              <a:t>Показую на телевізорі всі дванадцять рядків цілком і читаю вголос, який рядок</a:t>
            </a:r>
          </a:p>
          <a:p>
            <a:r>
              <a:rPr lang="uk-UA" sz="1200" dirty="0"/>
              <a:t>що робить. Окремо звертаю увагу на деталь: у першому open немає режиму. Якщо</a:t>
            </a:r>
          </a:p>
          <a:p>
            <a:r>
              <a:rPr lang="uk-UA" sz="1200" dirty="0"/>
              <a:t>режим не вказати, Python бере "r" — читання. У чужому коді діти це побачать,</a:t>
            </a:r>
          </a:p>
          <a:p>
            <a:r>
              <a:rPr lang="uk-UA" sz="1200" dirty="0"/>
              <a:t>але коли пишемо самі, краще вказувати явно.</a:t>
            </a:r>
          </a:p>
          <a:p>
            <a:endParaRPr lang="uk-UA" sz="1200" dirty="0"/>
          </a:p>
          <a:p>
            <a:r>
              <a:rPr lang="uk-UA" sz="1200" dirty="0"/>
              <a:t>Тут же кажу правило, яке працює до кінця курсу й лежить на слайді: те, що в</a:t>
            </a:r>
          </a:p>
          <a:p>
            <a:r>
              <a:rPr lang="uk-UA" sz="1200" dirty="0"/>
              <a:t>кожного своє, лежить у файлі, а не в коді. Ім'я в кожного своє. Нотатки свої.</a:t>
            </a:r>
          </a:p>
          <a:p>
            <a:r>
              <a:rPr lang="uk-UA" sz="1200" dirty="0"/>
              <a:t>Ключ до ChatGPT — теж свій, і він з'явиться вже наступного уроку. Код при</a:t>
            </a:r>
          </a:p>
          <a:p>
            <a:r>
              <a:rPr lang="uk-UA" sz="1200" dirty="0"/>
              <a:t>цьому в усіх однаковий, і саме тому ним можна обмінятись, показати, викласти,</a:t>
            </a:r>
          </a:p>
          <a:p>
            <a:r>
              <a:rPr lang="uk-UA" sz="1200" dirty="0"/>
              <a:t>і нічого чужого не витече.</a:t>
            </a:r>
          </a:p>
          <a:p>
            <a:endParaRPr lang="uk-UA" sz="1200" dirty="0"/>
          </a:p>
          <a:p>
            <a:r>
              <a:rPr lang="uk-UA" sz="1200" dirty="0"/>
              <a:t>Питаю групу, що ще варто було б покласти у файл. Хороші відповіді: настрій,</a:t>
            </a:r>
          </a:p>
          <a:p>
            <a:r>
              <a:rPr lang="uk-UA" sz="1200" dirty="0"/>
              <a:t>список жартів, персона з уроку 1. Останнє — прямий місток до уроку 10.</a:t>
            </a:r>
          </a:p>
          <a:p>
            <a:endParaRPr lang="uk-UA" sz="1200" dirty="0"/>
          </a:p>
          <a:p>
            <a:r>
              <a:rPr lang="uk-UA" sz="1200" dirty="0"/>
              <a:t>Наступний слайд: набираємо дванадцять рядків і запускаємо двічі.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≈6 хв · набирають</a:t>
            </a:r>
          </a:p>
          <a:p>
            <a:endParaRPr lang="uk-UA" sz="1200" dirty="0"/>
          </a:p>
          <a:p>
            <a:r>
              <a:rPr lang="uk-UA" sz="1200" dirty="0"/>
              <a:t>Фінальний код уроку. На екрані вся програма цілком, і набирати її треба згори</a:t>
            </a:r>
          </a:p>
          <a:p>
            <a:r>
              <a:rPr lang="uk-UA" sz="1200" dirty="0"/>
              <a:t>вниз, звіряючи свій файл із екраном.</a:t>
            </a:r>
          </a:p>
          <a:p>
            <a:endParaRPr lang="uk-UA" sz="1200" dirty="0"/>
          </a:p>
          <a:p>
            <a:r>
              <a:rPr lang="uk-UA" sz="1200" dirty="0"/>
              <a:t>Кажу порядок: створити hello.py, набрати дванадцять рядків, зберегти,</a:t>
            </a:r>
          </a:p>
          <a:p>
            <a:r>
              <a:rPr lang="uk-UA" sz="1200" dirty="0"/>
              <a:t>запустити. Назватися. Потім запустити ще раз — і побачити «З поверненням».</a:t>
            </a:r>
          </a:p>
          <a:p>
            <a:r>
              <a:rPr lang="uk-UA" sz="1200" dirty="0"/>
              <a:t>Потім видалити user.json руками й запустити втретє.</a:t>
            </a:r>
          </a:p>
          <a:p>
            <a:endParaRPr lang="uk-UA" sz="1200" dirty="0"/>
          </a:p>
          <a:p>
            <a:r>
              <a:rPr lang="uk-UA" sz="1200" dirty="0"/>
              <a:t>Одразу знімаю питання, яке лунає: card.json із попереднього блоку тут ні до</a:t>
            </a:r>
          </a:p>
          <a:p>
            <a:r>
              <a:rPr lang="uk-UA" sz="1200" dirty="0"/>
              <a:t>чого, це інший файл. Файла user.json у папці ще немає — його не писала жодна</a:t>
            </a:r>
          </a:p>
          <a:p>
            <a:r>
              <a:rPr lang="uk-UA" sz="1200" dirty="0"/>
              <a:t>сьогоднішня програма, — тому перший запуск обов'язково піде в else і спитає</a:t>
            </a:r>
          </a:p>
          <a:p>
            <a:r>
              <a:rPr lang="uk-UA" sz="1200" dirty="0"/>
              <a:t>ім'я. Якщо в когось із першого ж разу «З поверненням», значить, він назвав</a:t>
            </a:r>
          </a:p>
          <a:p>
            <a:r>
              <a:rPr lang="uk-UA" sz="1200" dirty="0"/>
              <a:t>user.json свій файл із минулого блоку: хай видалить його й запустить знову.</a:t>
            </a:r>
          </a:p>
          <a:p>
            <a:endParaRPr lang="uk-UA" sz="1200" dirty="0"/>
          </a:p>
          <a:p>
            <a:r>
              <a:rPr lang="uk-UA" sz="1200" dirty="0"/>
              <a:t>Наголошую на відступах, бо їх тут три рівні:</a:t>
            </a:r>
          </a:p>
          <a:p>
            <a:r>
              <a:rPr lang="uk-UA" sz="1200" dirty="0"/>
              <a:t>    рядки if і else стоять зліва, без відступу;</a:t>
            </a:r>
          </a:p>
          <a:p>
            <a:r>
              <a:rPr lang="uk-UA" sz="1200" dirty="0"/>
              <a:t>    те, що всередині if або else, — чотири пробіли;</a:t>
            </a:r>
          </a:p>
          <a:p>
            <a:r>
              <a:rPr lang="uk-UA" sz="1200" dirty="0"/>
              <a:t>    те, що всередині with, — вісім.</a:t>
            </a:r>
          </a:p>
          <a:p>
            <a:r>
              <a:rPr lang="uk-UA" sz="1200" dirty="0"/>
              <a:t>Показую пальцем на екрані кожен рівень окремо. Це найчастіша поломка слайда.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IndentationError — зсув зробили табуляцією або нерівно;</a:t>
            </a:r>
          </a:p>
          <a:p>
            <a:r>
              <a:rPr lang="uk-UA" sz="1200" dirty="0"/>
              <a:t>    забули двокрапку після if і після else;</a:t>
            </a:r>
          </a:p>
          <a:p>
            <a:r>
              <a:rPr lang="uk-UA" sz="1200" dirty="0"/>
              <a:t>    написали os.exists замість os.path.exists — AttributeError;</a:t>
            </a:r>
          </a:p>
          <a:p>
            <a:r>
              <a:rPr lang="uk-UA" sz="1200" dirty="0"/>
              <a:t>    забули import os або import json;</a:t>
            </a:r>
          </a:p>
          <a:p>
            <a:r>
              <a:rPr lang="uk-UA" sz="1200" dirty="0"/>
              <a:t>    поставили перевірку після відкриття файла, а не перед ним;</a:t>
            </a:r>
          </a:p>
          <a:p>
            <a:r>
              <a:rPr lang="uk-UA" sz="1200" dirty="0"/>
              <a:t>    у рядку з print загубили + "!" і зловили помилку про склеювання.</a:t>
            </a:r>
          </a:p>
          <a:p>
            <a:endParaRPr lang="uk-UA" sz="1200" dirty="0"/>
          </a:p>
          <a:p>
            <a:r>
              <a:rPr lang="uk-UA" sz="1200" dirty="0"/>
              <a:t>Про перший рядок кажу окремо: import json, os — це два імпорти в одному рядку</a:t>
            </a:r>
          </a:p>
          <a:p>
            <a:r>
              <a:rPr lang="uk-UA" sz="1200" dirty="0"/>
              <a:t>через кому. Так теж можна, і в чужому коді вони таке зустрінуть.</a:t>
            </a:r>
          </a:p>
          <a:p>
            <a:endParaRPr lang="uk-UA" sz="1200" dirty="0"/>
          </a:p>
          <a:p>
            <a:r>
              <a:rPr lang="uk-UA" sz="1200" dirty="0"/>
              <a:t>Перевіряємо разом уголос: скільки разів програма спитала ім'я за три запуски?</a:t>
            </a:r>
          </a:p>
          <a:p>
            <a:r>
              <a:rPr lang="uk-UA" sz="1200" dirty="0"/>
              <a:t>Правильна відповідь — двічі: на першому й після видалення файла. Якщо в</a:t>
            </a:r>
          </a:p>
          <a:p>
            <a:r>
              <a:rPr lang="uk-UA" sz="1200" dirty="0"/>
              <a:t>когось питає щоразу — user.json не створюється, і причина майже завжди в</a:t>
            </a:r>
          </a:p>
          <a:p>
            <a:r>
              <a:rPr lang="uk-UA" sz="1200" dirty="0"/>
              <a:t>режимі "w" або в тому, що програма запускається з іншої папки.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допише в гілку else ще два рядки перед записом —</a:t>
            </a:r>
          </a:p>
          <a:p>
            <a:endParaRPr lang="uk-UA" sz="1200" dirty="0"/>
          </a:p>
          <a:p>
            <a:r>
              <a:rPr lang="uk-UA" sz="1200" dirty="0"/>
              <a:t>    topic = input("Про що любиш говорити? ")</a:t>
            </a:r>
          </a:p>
          <a:p>
            <a:r>
              <a:rPr lang="uk-UA" sz="1200" dirty="0"/>
              <a:t>    user = {"name": name, "тема": topic}</a:t>
            </a:r>
          </a:p>
          <a:p>
            <a:endParaRPr lang="uk-UA" sz="1200" dirty="0"/>
          </a:p>
          <a:p>
            <a:r>
              <a:rPr lang="uk-UA" sz="1200" dirty="0"/>
              <a:t>замінивши ними рядок user = {"name": name}. Тоді у файлі буде два поля, і</a:t>
            </a:r>
          </a:p>
          <a:p>
            <a:r>
              <a:rPr lang="uk-UA" sz="1200" dirty="0"/>
              <a:t>помічник знатиме про людину більше. Це вже готова частина фінального проєкту.</a:t>
            </a:r>
          </a:p>
          <a:p>
            <a:endParaRPr lang="uk-UA" sz="1200" dirty="0"/>
          </a:p>
          <a:p>
            <a:r>
              <a:rPr lang="uk-UA" sz="1200" dirty="0"/>
              <a:t>Це кінець змістовної частини. Далі Kahoot.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(перший запуск, файла ще немає)</a:t>
            </a:r>
          </a:p>
          <a:p>
            <a:r>
              <a:rPr lang="uk-UA" sz="1200" dirty="0"/>
              <a:t>$ python hello.py</a:t>
            </a:r>
          </a:p>
          <a:p>
            <a:r>
              <a:rPr lang="uk-UA" sz="1200" dirty="0"/>
              <a:t>Привіт! Як тебе звати? Марта</a:t>
            </a:r>
          </a:p>
          <a:p>
            <a:r>
              <a:rPr lang="uk-UA" sz="1200" dirty="0"/>
              <a:t>Приємно познайомитись, Марта!</a:t>
            </a:r>
          </a:p>
          <a:p>
            <a:endParaRPr lang="uk-UA" sz="1200" dirty="0"/>
          </a:p>
          <a:p>
            <a:r>
              <a:rPr lang="uk-UA" sz="1200" dirty="0"/>
              <a:t>(другий запуск, файл уже є)</a:t>
            </a:r>
          </a:p>
          <a:p>
            <a:r>
              <a:rPr lang="uk-UA" sz="1200" dirty="0"/>
              <a:t>$ python hello.py</a:t>
            </a:r>
          </a:p>
          <a:p>
            <a:r>
              <a:rPr lang="uk-UA" sz="1200" dirty="0"/>
              <a:t>З поверненням, Марта!</a:t>
            </a:r>
          </a:p>
          <a:p>
            <a:endParaRPr lang="uk-UA" sz="1200" dirty="0"/>
          </a:p>
          <a:p>
            <a:r>
              <a:rPr lang="uk-UA" sz="1200" dirty="0"/>
              <a:t>(видалили user.json і запустили втретє)</a:t>
            </a:r>
          </a:p>
          <a:p>
            <a:r>
              <a:rPr lang="uk-UA" sz="1200" dirty="0"/>
              <a:t>$ python hello.py</a:t>
            </a:r>
          </a:p>
          <a:p>
            <a:r>
              <a:rPr lang="uk-UA" sz="1200" dirty="0"/>
              <a:t>Привіт! Як тебе звати?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≈1 хв · читаємо вголос</a:t>
            </a:r>
          </a:p>
          <a:p>
            <a:endParaRPr lang="uk-UA" sz="1200" dirty="0"/>
          </a:p>
          <a:p>
            <a:r>
              <a:rPr lang="uk-UA" sz="1200" dirty="0"/>
              <a:t>Одна хвилина. Читаю три пункти вголос зі слайда й відпускаю групу — розбирати</a:t>
            </a:r>
          </a:p>
          <a:p>
            <a:r>
              <a:rPr lang="uk-UA" sz="1200" dirty="0"/>
              <a:t>тут нічого, усе, що потрібно, вже набрано на уроці.</a:t>
            </a:r>
          </a:p>
          <a:p>
            <a:endParaRPr lang="uk-UA" sz="1200" dirty="0"/>
          </a:p>
          <a:p>
            <a:r>
              <a:rPr lang="uk-UA" sz="1200" dirty="0"/>
              <a:t>Що кажу дослівно, щоб уложитись у хвилину:</a:t>
            </a:r>
          </a:p>
          <a:p>
            <a:endParaRPr lang="uk-UA" sz="1200" dirty="0"/>
          </a:p>
          <a:p>
            <a:r>
              <a:rPr lang="uk-UA" sz="1200" dirty="0"/>
              <a:t>«Домашнє коротке, і все воно робиться правкою того, що ви вже набрали.</a:t>
            </a:r>
          </a:p>
          <a:p>
            <a:endParaRPr lang="uk-UA" sz="1200" dirty="0"/>
          </a:p>
          <a:p>
            <a:r>
              <a:rPr lang="uk-UA" sz="1200" dirty="0"/>
              <a:t>Перше: відкрийте card.py і допишіть у словник третю пару — кома, а потім</a:t>
            </a:r>
          </a:p>
          <a:p>
            <a:r>
              <a:rPr lang="uk-UA" sz="1200" dirty="0"/>
              <a:t>"місто": "ваше місто". Запустіть і подивіться, що в card.json стало три рядки.</a:t>
            </a:r>
          </a:p>
          <a:p>
            <a:endParaRPr lang="uk-UA" sz="1200" dirty="0"/>
          </a:p>
          <a:p>
            <a:r>
              <a:rPr lang="uk-UA" sz="1200" dirty="0"/>
              <a:t>Друге: у hello.py, у гілці, де "З поверненням", додайте другий print — точно</a:t>
            </a:r>
          </a:p>
          <a:p>
            <a:r>
              <a:rPr lang="uk-UA" sz="1200" dirty="0"/>
              <a:t>такий самий, як перший, тільки з user["тема"] замість user["name"]. Щоб він</a:t>
            </a:r>
          </a:p>
          <a:p>
            <a:r>
              <a:rPr lang="uk-UA" sz="1200" dirty="0"/>
              <a:t>спрацював, відкрийте user.json і допишіть у нього поле «тема» рівно так, як</a:t>
            </a:r>
          </a:p>
          <a:p>
            <a:r>
              <a:rPr lang="uk-UA" sz="1200" dirty="0"/>
              <a:t>робили в me.json: кома в кінці рядка з іменем, а нижче — "тема": "космос".</a:t>
            </a:r>
          </a:p>
          <a:p>
            <a:endParaRPr lang="uk-UA" sz="1200" dirty="0"/>
          </a:p>
          <a:p>
            <a:r>
              <a:rPr lang="uk-UA" sz="1200" dirty="0"/>
              <a:t>Третє: запустіть notes.py, запишіть п'ять нотаток, вийдіть словом "стоп",</a:t>
            </a:r>
          </a:p>
          <a:p>
            <a:r>
              <a:rPr lang="uk-UA" sz="1200" dirty="0"/>
              <a:t>запустіть ще раз і переконайтесь, що всі п'ять на місці.</a:t>
            </a:r>
          </a:p>
          <a:p>
            <a:endParaRPr lang="uk-UA" sz="1200" dirty="0"/>
          </a:p>
          <a:p>
            <a:r>
              <a:rPr lang="uk-UA" sz="1200" dirty="0"/>
              <a:t>Файли user.json, notes.txt і persona.txt з першого уроку не видаляйте — вони</a:t>
            </a:r>
          </a:p>
          <a:p>
            <a:r>
              <a:rPr lang="uk-UA" sz="1200" dirty="0"/>
              <a:t>знадобляться. Наступного разу ключ до ChatGPT ляже в таку саму папку.»</a:t>
            </a:r>
          </a:p>
          <a:p>
            <a:endParaRPr lang="uk-UA" sz="1200" dirty="0"/>
          </a:p>
          <a:p>
            <a:r>
              <a:rPr lang="uk-UA" sz="1200" dirty="0"/>
              <a:t>Для себе: перший пункт перевіряє, чи зрозуміли словник і кому; другий — чи</a:t>
            </a:r>
          </a:p>
          <a:p>
            <a:r>
              <a:rPr lang="uk-UA" sz="1200" dirty="0"/>
              <a:t>зрозуміли, що load повертає словник, з якого беруть поле за іменем; третій</a:t>
            </a:r>
          </a:p>
          <a:p>
            <a:r>
              <a:rPr lang="uk-UA" sz="1200" dirty="0"/>
              <a:t>тримає нотатки живими. Нічого вигадувати не треба — усі три пункти роблять</a:t>
            </a:r>
          </a:p>
          <a:p>
            <a:r>
              <a:rPr lang="uk-UA" sz="1200" dirty="0"/>
              <a:t>копіюванням наявних рядків.</a:t>
            </a:r>
          </a:p>
          <a:p>
            <a:endParaRPr lang="uk-UA" sz="1200" dirty="0"/>
          </a:p>
          <a:p>
            <a:r>
              <a:rPr lang="uk-UA" sz="1200" dirty="0"/>
              <a:t>Якщо хтось не встиг набрати hello.py на уроці — кажу окремо й тихо: спершу</a:t>
            </a:r>
          </a:p>
          <a:p>
            <a:r>
              <a:rPr lang="uk-UA" sz="1200" dirty="0"/>
              <a:t>доберіть те, що не встигли, з фотографії слайда, і тільки потім домашнє.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блок: іде тільки якщо лишився час. Дві хвилини питань, і всі вони про</a:t>
            </a:r>
          </a:p>
          <a:p>
            <a:r>
              <a:rPr lang="uk-UA" sz="1200" dirty="0"/>
              <a:t>файл, який діти щойно створили.</a:t>
            </a:r>
          </a:p>
          <a:p>
            <a:endParaRPr lang="uk-UA" sz="1200" dirty="0"/>
          </a:p>
          <a:p>
            <a:r>
              <a:rPr lang="uk-UA" sz="1200" dirty="0"/>
              <a:t>ЩО ЩЕ ЗНАТИ. Витягую список: улюблена тема, місто, клас, улюблена гра. Кажу,</a:t>
            </a:r>
          </a:p>
          <a:p>
            <a:r>
              <a:rPr lang="uk-UA" sz="1200" dirty="0"/>
              <a:t>що зараз додамо одне поле, а решту вони додадуть удома за тим самим зразком.</a:t>
            </a:r>
          </a:p>
          <a:p>
            <a:endParaRPr lang="uk-UA" sz="1200" dirty="0"/>
          </a:p>
          <a:p>
            <a:r>
              <a:rPr lang="uk-UA" sz="1200" dirty="0"/>
              <a:t>ЩОРАЗУ ЧИ ОДИН РАЗ. Головне питання блоку. Відповідь очевидна — один раз, —</a:t>
            </a:r>
          </a:p>
          <a:p>
            <a:r>
              <a:rPr lang="uk-UA" sz="1200" dirty="0"/>
              <a:t>але з неї випливає технічна річ: програма має спершу подивитись, чи вже знає.</a:t>
            </a:r>
          </a:p>
          <a:p>
            <a:r>
              <a:rPr lang="uk-UA" sz="1200" dirty="0"/>
              <a:t>Прошу сказати це вголос своїми словами.</a:t>
            </a:r>
          </a:p>
          <a:p>
            <a:endParaRPr lang="uk-UA" sz="1200" dirty="0"/>
          </a:p>
          <a:p>
            <a:r>
              <a:rPr lang="uk-UA" sz="1200" dirty="0"/>
              <a:t>ЯК ЗРОЗУМІЄ, ЩО ПОЛЯ НЕМАЄ. Тут згадуємо урок 2: слово in шукало шматок</a:t>
            </a:r>
          </a:p>
          <a:p>
            <a:r>
              <a:rPr lang="uk-UA" sz="1200" dirty="0"/>
              <a:t>усередині фрази. Кажу, що в словника воно теж є, тільки питає інше — чи є</a:t>
            </a:r>
          </a:p>
          <a:p>
            <a:r>
              <a:rPr lang="uk-UA" sz="1200" dirty="0"/>
              <a:t>такий ключ. А «not in» питає навпаки.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показ, чотири хвилини. Нового тут два кроки, і другий важливіший за</a:t>
            </a:r>
          </a:p>
          <a:p>
            <a:r>
              <a:rPr lang="uk-UA" sz="1200" dirty="0"/>
              <a:t>перший.</a:t>
            </a:r>
          </a:p>
          <a:p>
            <a:endParaRPr lang="uk-UA" sz="1200" dirty="0"/>
          </a:p>
          <a:p>
            <a:r>
              <a:rPr lang="uk-UA" sz="1200" dirty="0"/>
              <a:t>NOT IN ДЛЯ СЛОВНИКА. Нагадую урок 2: там in шукав шматок усередині рядка.</a:t>
            </a:r>
          </a:p>
          <a:p>
            <a:r>
              <a:rPr lang="uk-UA" sz="1200" dirty="0"/>
              <a:t>Показую живцем у консолі, що з словником він працює інакше — питає про ключі,</a:t>
            </a:r>
          </a:p>
          <a:p>
            <a:r>
              <a:rPr lang="uk-UA" sz="1200" dirty="0"/>
              <a:t>а не про значення. Пишу "тема" in user і "космос" in user: перше True, друге</a:t>
            </a:r>
          </a:p>
          <a:p>
            <a:r>
              <a:rPr lang="uk-UA" sz="1200" dirty="0"/>
              <a:t>False, хоч космос у словнику й лежить. Це важливо показати, бо здогадатись</a:t>
            </a:r>
          </a:p>
          <a:p>
            <a:r>
              <a:rPr lang="uk-UA" sz="1200" dirty="0"/>
              <a:t>неможливо.</a:t>
            </a:r>
          </a:p>
          <a:p>
            <a:endParaRPr lang="uk-UA" sz="1200" dirty="0"/>
          </a:p>
          <a:p>
            <a:r>
              <a:rPr lang="uk-UA" sz="1200" dirty="0"/>
              <a:t>ДВІ ГІЛКИ. Кажу словами: якщо поля немає — спитати й покласти; якщо є — нічого</a:t>
            </a:r>
          </a:p>
          <a:p>
            <a:r>
              <a:rPr lang="uk-UA" sz="1200" dirty="0"/>
              <a:t>не робити. Друга гілка порожня, і саме тому else тут не потрібен.</a:t>
            </a:r>
          </a:p>
          <a:p>
            <a:endParaRPr lang="uk-UA" sz="1200" dirty="0"/>
          </a:p>
          <a:p>
            <a:r>
              <a:rPr lang="uk-UA" sz="1200" dirty="0"/>
              <a:t>ЗБЕРЕГТИ ЗАНОВО. Головне місце блоку. Питаю групу: ми поклали тему в словник —</a:t>
            </a:r>
          </a:p>
          <a:p>
            <a:r>
              <a:rPr lang="uk-UA" sz="1200" dirty="0"/>
              <a:t>чи є вона тепер у файлі? Ні. Словник живе в пам'яті, файл — на диску, і між</a:t>
            </a:r>
          </a:p>
          <a:p>
            <a:r>
              <a:rPr lang="uk-UA" sz="1200" dirty="0"/>
              <a:t>ними немає нічого, крім рядка json.dump. Показую живцем: міняю словник, не</a:t>
            </a:r>
          </a:p>
          <a:p>
            <a:r>
              <a:rPr lang="uk-UA" sz="1200" dirty="0"/>
              <a:t>зберігаю, запускаю ще раз — питання лунає знову.</a:t>
            </a:r>
          </a:p>
          <a:p>
            <a:endParaRPr lang="uk-UA" sz="1200" dirty="0"/>
          </a:p>
          <a:p>
            <a:r>
              <a:rPr lang="uk-UA" sz="1200" dirty="0"/>
              <a:t>ДЕ СТАВИТИ. Показую пальцем: усе нове йде в кінець файла, після if і else, без</a:t>
            </a:r>
          </a:p>
          <a:p>
            <a:r>
              <a:rPr lang="uk-UA" sz="1200" dirty="0"/>
              <a:t>відступу. Там уже є змінна user, і вона однакова в обох гілках.</a:t>
            </a:r>
          </a:p>
          <a:p>
            <a:endParaRPr lang="uk-UA" sz="1200" dirty="0"/>
          </a:p>
          <a:p>
            <a:r>
              <a:rPr lang="uk-UA" sz="1200" dirty="0"/>
              <a:t>Наступний слайд: сім рядків у кінець файла.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Бонусна практика, п'ять хвилин. Сім рядків у кінець уже набраного файла — і</a:t>
            </a:r>
          </a:p>
          <a:p>
            <a:r>
              <a:rPr lang="uk-UA" sz="1200" dirty="0"/>
              <a:t>головна складність не в них, а у відступі.</a:t>
            </a:r>
          </a:p>
          <a:p>
            <a:endParaRPr lang="uk-UA" sz="1200" dirty="0"/>
          </a:p>
          <a:p>
            <a:r>
              <a:rPr lang="uk-UA" sz="1200" dirty="0"/>
              <a:t>Кажу порядок: відкрити hello.py, спуститись у самий низ, натиснути Enter і</a:t>
            </a:r>
          </a:p>
          <a:p>
            <a:r>
              <a:rPr lang="uk-UA" sz="1200" dirty="0"/>
              <a:t>набрати сім рядків БЕЗ відступу. Наголошую: якщо рядки заїдуть під else, тема</a:t>
            </a:r>
          </a:p>
          <a:p>
            <a:r>
              <a:rPr lang="uk-UA" sz="1200" dirty="0"/>
              <a:t>питатиметься тільки в нових користувачів, а ті, хто вже знайомився, лишаться</a:t>
            </a:r>
          </a:p>
          <a:p>
            <a:r>
              <a:rPr lang="uk-UA" sz="1200" dirty="0"/>
              <a:t>без неї.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набрали під else, з відступом — у тих, хто вже є, тема не з'явиться;</a:t>
            </a:r>
          </a:p>
          <a:p>
            <a:r>
              <a:rPr lang="uk-UA" sz="1200" dirty="0"/>
              <a:t>    забули блок json.dump — питання лунає щоразу, файл не міняється;</a:t>
            </a:r>
          </a:p>
          <a:p>
            <a:r>
              <a:rPr lang="uk-UA" sz="1200" dirty="0"/>
              <a:t>    написали "тема" not in user["тема"] — плутанина, і одразу KeyError;</a:t>
            </a:r>
          </a:p>
          <a:p>
            <a:r>
              <a:rPr lang="uk-UA" sz="1200" dirty="0"/>
              <a:t>    відкрили файл у режимі "a" замість "w" — у файл дописався другий JSON,</a:t>
            </a:r>
          </a:p>
          <a:p>
            <a:r>
              <a:rPr lang="uk-UA" sz="1200" dirty="0"/>
              <a:t>        і наступний запуск упаде з json.decoder.JSONDecodeError.</a:t>
            </a:r>
          </a:p>
          <a:p>
            <a:endParaRPr lang="uk-UA" sz="1200" dirty="0"/>
          </a:p>
          <a:p>
            <a:r>
              <a:rPr lang="uk-UA" sz="1200" dirty="0"/>
              <a:t>Останнє варто показати вголос: JSON у файлі має бути один, тому тут саме "w".</a:t>
            </a:r>
          </a:p>
          <a:p>
            <a:r>
              <a:rPr lang="uk-UA" sz="1200" dirty="0"/>
              <a:t>Це той рідкісний випадок, коли «w» — правильна відповідь, і різницю з нотатками</a:t>
            </a:r>
          </a:p>
          <a:p>
            <a:r>
              <a:rPr lang="uk-UA" sz="1200" dirty="0"/>
              <a:t>варто назвати: там ми дописуємо рядки, тут переписуємо картку цілком.</a:t>
            </a:r>
          </a:p>
          <a:p>
            <a:endParaRPr lang="uk-UA" sz="1200" dirty="0"/>
          </a:p>
          <a:p>
            <a:r>
              <a:rPr lang="uk-UA" sz="1200" dirty="0"/>
              <a:t>Перевіряємо разом: запустити двічі й відкрити user.json очима. Два поля,</a:t>
            </a:r>
          </a:p>
          <a:p>
            <a:r>
              <a:rPr lang="uk-UA" sz="1200" dirty="0"/>
              <a:t>кома між ними, українські букви на місці.</a:t>
            </a:r>
          </a:p>
          <a:p>
            <a:endParaRPr lang="uk-UA" sz="1200" dirty="0"/>
          </a:p>
          <a:p>
            <a:r>
              <a:rPr lang="uk-UA" sz="1200" dirty="0"/>
              <a:t>Хто впорався: хай додасть третє поле — місто — за тим самим зразком. Три рядки,</a:t>
            </a:r>
          </a:p>
          <a:p>
            <a:r>
              <a:rPr lang="uk-UA" sz="1200" dirty="0"/>
              <a:t>і картка стає на поле більшою.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(перший запуск після додавання)</a:t>
            </a:r>
          </a:p>
          <a:p>
            <a:r>
              <a:rPr lang="uk-UA" sz="1200" dirty="0"/>
              <a:t>$ python hello.py</a:t>
            </a:r>
          </a:p>
          <a:p>
            <a:r>
              <a:rPr lang="uk-UA" sz="1200" dirty="0"/>
              <a:t>З поверненням, Марта!</a:t>
            </a:r>
          </a:p>
          <a:p>
            <a:r>
              <a:rPr lang="uk-UA" sz="1200" dirty="0"/>
              <a:t>Про що любиш говорити? космос</a:t>
            </a:r>
          </a:p>
          <a:p>
            <a:r>
              <a:rPr lang="uk-UA" sz="1200" dirty="0"/>
              <a:t>АІДА: Пам'ятаю, ти любиш космос</a:t>
            </a:r>
          </a:p>
          <a:p>
            <a:endParaRPr lang="uk-UA" sz="1200" dirty="0"/>
          </a:p>
          <a:p>
            <a:r>
              <a:rPr lang="uk-UA" sz="1200" dirty="0"/>
              <a:t>(другий запуск)</a:t>
            </a:r>
          </a:p>
          <a:p>
            <a:r>
              <a:rPr lang="uk-UA" sz="1200" dirty="0"/>
              <a:t>$ python hello.py</a:t>
            </a:r>
          </a:p>
          <a:p>
            <a:r>
              <a:rPr lang="uk-UA" sz="1200" dirty="0"/>
              <a:t>З поверненням, Марта!</a:t>
            </a:r>
          </a:p>
          <a:p>
            <a:r>
              <a:rPr lang="uk-UA" sz="1200" dirty="0"/>
              <a:t>АІДА: Пам'ятаю, ти любиш космос</a:t>
            </a:r>
          </a:p>
          <a:p>
            <a:endParaRPr lang="uk-UA" sz="1200" dirty="0"/>
          </a:p>
          <a:p>
            <a:r>
              <a:rPr lang="uk-UA" sz="1200" dirty="0"/>
              <a:t>У файлі user.json тепер два поля:</a:t>
            </a:r>
          </a:p>
          <a:p>
            <a:r>
              <a:rPr lang="uk-UA" sz="1200" dirty="0"/>
              <a:t>{</a:t>
            </a:r>
          </a:p>
          <a:p>
            <a:r>
              <a:rPr lang="uk-UA" sz="1200" dirty="0"/>
              <a:t>  "name": "Марта",</a:t>
            </a:r>
          </a:p>
          <a:p>
            <a:r>
              <a:rPr lang="uk-UA" sz="1200" dirty="0"/>
              <a:t>  "тема": "космос"</a:t>
            </a:r>
          </a:p>
          <a:p>
            <a:r>
              <a:rPr lang="uk-UA" sz="1200" dirty="0"/>
              <a:t>}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блок, дві хвилини. Тут сходяться дві сьогоднішні речі: лічильник, який</a:t>
            </a:r>
          </a:p>
          <a:p>
            <a:r>
              <a:rPr lang="uk-UA" sz="1200" dirty="0"/>
              <a:t>діти вже бачили, і файл, який його переживає.</a:t>
            </a:r>
          </a:p>
          <a:p>
            <a:endParaRPr lang="uk-UA" sz="1200" dirty="0"/>
          </a:p>
          <a:p>
            <a:r>
              <a:rPr lang="uk-UA" sz="1200" dirty="0"/>
              <a:t>ЯК ПОРАХУВАТИ МІЖ ЗАПУСКАМИ. Питання з підступом. Хтось скаже «змінна» —</a:t>
            </a:r>
          </a:p>
          <a:p>
            <a:r>
              <a:rPr lang="uk-UA" sz="1200" dirty="0"/>
              <a:t>питаю, що з нею стане після закриття програми. Зникне. Це рівно те, з чого</a:t>
            </a:r>
          </a:p>
          <a:p>
            <a:r>
              <a:rPr lang="uk-UA" sz="1200" dirty="0"/>
              <a:t>починався урок, і тепер відповідь у них уже є: у файл.</a:t>
            </a:r>
          </a:p>
          <a:p>
            <a:endParaRPr lang="uk-UA" sz="1200" dirty="0"/>
          </a:p>
          <a:p>
            <a:r>
              <a:rPr lang="uk-UA" sz="1200" dirty="0"/>
              <a:t>ДЕ ЛЕЖАТИМЕ. Кажу: у тій самій картці, поруч з ім'ям і темою. Питаю, чи можна</a:t>
            </a:r>
          </a:p>
          <a:p>
            <a:r>
              <a:rPr lang="uk-UA" sz="1200" dirty="0"/>
              <a:t>класти в JSON числа. Можна, і саме числом, без лапок. Показую на показі.</a:t>
            </a:r>
          </a:p>
          <a:p>
            <a:endParaRPr lang="uk-UA" sz="1200" dirty="0"/>
          </a:p>
          <a:p>
            <a:r>
              <a:rPr lang="uk-UA" sz="1200" dirty="0"/>
              <a:t>З ЯКОГО ЧИСЛА ПОЧНЕ. Найкорисніше питання. У картці старих користувачів поля</a:t>
            </a:r>
          </a:p>
          <a:p>
            <a:r>
              <a:rPr lang="uk-UA" sz="1200" dirty="0"/>
              <a:t>«runs» ще немає, і взяти його просто так — це KeyError. Хтось згадає .get із</a:t>
            </a:r>
          </a:p>
          <a:p>
            <a:r>
              <a:rPr lang="uk-UA" sz="1200" dirty="0"/>
              <a:t>минулого уроку — якщо згадає, хвалю голосно.</a:t>
            </a:r>
          </a:p>
          <a:p>
            <a:endParaRPr lang="uk-UA" sz="1200" dirty="0"/>
          </a:p>
          <a:p>
            <a:r>
              <a:rPr lang="uk-UA" sz="1200" dirty="0"/>
              <a:t>Далі показ, і він буде короткий: рядок один.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показ, чотири хвилини на один рядок коду — і це чесно, бо в ньому три</a:t>
            </a:r>
          </a:p>
          <a:p>
            <a:r>
              <a:rPr lang="uk-UA" sz="1200" dirty="0"/>
              <a:t>різні думки.</a:t>
            </a:r>
          </a:p>
          <a:p>
            <a:endParaRPr lang="uk-UA" sz="1200" dirty="0"/>
          </a:p>
          <a:p>
            <a:r>
              <a:rPr lang="uk-UA" sz="1200" dirty="0"/>
              <a:t>.GET ІЗ ЗАПАСНИМ ЗНАЧЕННЯМ. Читаю вголос як речення: дай мені «runs», а якщо</a:t>
            </a:r>
          </a:p>
          <a:p>
            <a:r>
              <a:rPr lang="uk-UA" sz="1200" dirty="0"/>
              <a:t>такого поля немає — дай нуль. Показую живцем обидва випадки: на порожньому</a:t>
            </a:r>
          </a:p>
          <a:p>
            <a:r>
              <a:rPr lang="uk-UA" sz="1200" dirty="0"/>
              <a:t>словнику й на словнику з полем.</a:t>
            </a:r>
          </a:p>
          <a:p>
            <a:endParaRPr lang="uk-UA" sz="1200" dirty="0"/>
          </a:p>
          <a:p>
            <a:r>
              <a:rPr lang="uk-UA" sz="1200" dirty="0"/>
              <a:t>ЧОМУ НЕ КВАДРАТНІ ДУЖКИ. Питаю групу: у кого user.json уже є з минулого блоку?</a:t>
            </a:r>
          </a:p>
          <a:p>
            <a:r>
              <a:rPr lang="uk-UA" sz="1200" dirty="0"/>
              <a:t>У всіх. А поля «runs» у ньому немає. Отже, квадратні дужки дали б KeyError на</a:t>
            </a:r>
          </a:p>
          <a:p>
            <a:r>
              <a:rPr lang="uk-UA" sz="1200" dirty="0"/>
              <a:t>першому ж запуску. Це не теорія — це станеться просто зараз, у них на екрані.</a:t>
            </a:r>
          </a:p>
          <a:p>
            <a:endParaRPr lang="uk-UA" sz="1200" dirty="0"/>
          </a:p>
          <a:p>
            <a:r>
              <a:rPr lang="uk-UA" sz="1200" dirty="0"/>
              <a:t>ЧИСЛО В JSON. Кажу окремо: числа пишуться без лапок, і в файлі це буде видно.</a:t>
            </a:r>
          </a:p>
          <a:p>
            <a:r>
              <a:rPr lang="uk-UA" sz="1200" dirty="0"/>
              <a:t>Прошу після запуску відкрити user.json і подивитись, що «runs» стоїть без</a:t>
            </a:r>
          </a:p>
          <a:p>
            <a:r>
              <a:rPr lang="uk-UA" sz="1200" dirty="0"/>
              <a:t>лапок, а «name» — у лапках.</a:t>
            </a:r>
          </a:p>
          <a:p>
            <a:endParaRPr lang="uk-UA" sz="1200" dirty="0"/>
          </a:p>
          <a:p>
            <a:r>
              <a:rPr lang="uk-UA" sz="1200" dirty="0"/>
              <a:t>ПОРЯДОК РЯДКІВ. Головна пастка. Рядок з лічильником має стояти ВИЩЕ за</a:t>
            </a:r>
          </a:p>
          <a:p>
            <a:r>
              <a:rPr lang="uk-UA" sz="1200" dirty="0"/>
              <a:t>json.dump — інакше ми збережемо картку до того, як змінили її, і число</a:t>
            </a:r>
          </a:p>
          <a:p>
            <a:r>
              <a:rPr lang="uk-UA" sz="1200" dirty="0"/>
              <a:t>застигне. Показую живцем обидва порядки.</a:t>
            </a:r>
          </a:p>
          <a:p>
            <a:endParaRPr lang="uk-UA" sz="1200" dirty="0"/>
          </a:p>
          <a:p>
            <a:r>
              <a:rPr lang="uk-UA" sz="1200" dirty="0"/>
              <a:t>Наступний слайд: два рядки в різні місця.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Бонусна практика, п'ять хвилин. Рядків усього два, тому час іде на перевірку:</a:t>
            </a:r>
          </a:p>
          <a:p>
            <a:r>
              <a:rPr lang="uk-UA" sz="1200" dirty="0"/>
              <a:t>запустити тричі й подивитись у файл.</a:t>
            </a:r>
          </a:p>
          <a:p>
            <a:endParaRPr lang="uk-UA" sz="1200" dirty="0"/>
          </a:p>
          <a:p>
            <a:r>
              <a:rPr lang="uk-UA" sz="1200" dirty="0"/>
              <a:t>Кажу порядок: перший рядок — над блоком with open("user.json", "w"), другий —</a:t>
            </a:r>
          </a:p>
          <a:p>
            <a:r>
              <a:rPr lang="uk-UA" sz="1200" dirty="0"/>
              <a:t>у самому кінці файла. Обидва без відступу.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поставили лічильник нижче за json.dump — число в файлі не росте;</a:t>
            </a:r>
          </a:p>
          <a:p>
            <a:r>
              <a:rPr lang="uk-UA" sz="1200" dirty="0"/>
              <a:t>    написали user["runs"] + 1 без .get — KeyError на першому ж запуску;</a:t>
            </a:r>
          </a:p>
          <a:p>
            <a:r>
              <a:rPr lang="uk-UA" sz="1200" dirty="0"/>
              <a:t>    поставили рядок усередину if або else — рахується тільки половина запусків;</a:t>
            </a:r>
          </a:p>
          <a:p>
            <a:r>
              <a:rPr lang="uk-UA" sz="1200" dirty="0"/>
              <a:t>    забули дужки в get і написали user.get["runs", 0].</a:t>
            </a:r>
          </a:p>
          <a:p>
            <a:endParaRPr lang="uk-UA" sz="1200" dirty="0"/>
          </a:p>
          <a:p>
            <a:r>
              <a:rPr lang="uk-UA" sz="1200" dirty="0"/>
              <a:t>Перевіряємо разом: запустити тричі й дивитись на останній рядок. Один, два,</a:t>
            </a:r>
          </a:p>
          <a:p>
            <a:r>
              <a:rPr lang="uk-UA" sz="1200" dirty="0"/>
              <a:t>три. Потім відкрити user.json і побачити те саме число всередині.</a:t>
            </a:r>
          </a:p>
          <a:p>
            <a:endParaRPr lang="uk-UA" sz="1200" dirty="0"/>
          </a:p>
          <a:p>
            <a:r>
              <a:rPr lang="uk-UA" sz="1200" dirty="0"/>
              <a:t>Питаю групу: а що буде, якщо видалити user.json? Правильна відповідь —</a:t>
            </a:r>
          </a:p>
          <a:p>
            <a:r>
              <a:rPr lang="uk-UA" sz="1200" dirty="0"/>
              <a:t>помічник знайомитиметься наново, і лічильник почне з одиниці. Пропоную</a:t>
            </a:r>
          </a:p>
          <a:p>
            <a:r>
              <a:rPr lang="uk-UA" sz="1200" dirty="0"/>
              <a:t>перевірити: видалити файл руками й запустити. Це найкраща ілюстрація того, що</a:t>
            </a:r>
          </a:p>
          <a:p>
            <a:r>
              <a:rPr lang="uk-UA" sz="1200" dirty="0"/>
              <a:t>пам'ять помічника — не в програмі, а у файлі.</a:t>
            </a:r>
          </a:p>
          <a:p>
            <a:endParaRPr lang="uk-UA" sz="1200" dirty="0"/>
          </a:p>
          <a:p>
            <a:r>
              <a:rPr lang="uk-UA" sz="1200" dirty="0"/>
              <a:t>Хто впорався: хай допише умову — якщо запусків більше за три, помічник каже</a:t>
            </a:r>
          </a:p>
          <a:p>
            <a:r>
              <a:rPr lang="uk-UA" sz="1200" dirty="0"/>
              <a:t>щось особливе. Два рядки, і в програмі з'явиться привітання для своїх.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hello.py</a:t>
            </a:r>
          </a:p>
          <a:p>
            <a:r>
              <a:rPr lang="uk-UA" sz="1200" dirty="0"/>
              <a:t>З поверненням, Марта!</a:t>
            </a:r>
          </a:p>
          <a:p>
            <a:r>
              <a:rPr lang="uk-UA" sz="1200" dirty="0"/>
              <a:t>АІДА: Пам'ятаю, ти любиш космос</a:t>
            </a:r>
          </a:p>
          <a:p>
            <a:r>
              <a:rPr lang="uk-UA" sz="1200" dirty="0"/>
              <a:t>АІДА: Запусків разом: 1</a:t>
            </a:r>
          </a:p>
          <a:p>
            <a:endParaRPr lang="uk-UA" sz="1200" dirty="0"/>
          </a:p>
          <a:p>
            <a:r>
              <a:rPr lang="uk-UA" sz="1200" dirty="0"/>
              <a:t>$ python hello.py</a:t>
            </a:r>
          </a:p>
          <a:p>
            <a:r>
              <a:rPr lang="uk-UA" sz="1200" dirty="0"/>
              <a:t>З поверненням, Марта!</a:t>
            </a:r>
          </a:p>
          <a:p>
            <a:r>
              <a:rPr lang="uk-UA" sz="1200" dirty="0"/>
              <a:t>АІДА: Пам'ятаю, ти любиш космос</a:t>
            </a:r>
          </a:p>
          <a:p>
            <a:r>
              <a:rPr lang="uk-UA" sz="1200" dirty="0"/>
              <a:t>АІДА: Запусків разом: 2</a:t>
            </a:r>
          </a:p>
          <a:p>
            <a:endParaRPr lang="uk-UA" sz="1200" dirty="0"/>
          </a:p>
          <a:p>
            <a:r>
              <a:rPr lang="uk-UA" sz="1200" dirty="0"/>
              <a:t>У файлі user.json з'явилось третє поле, і воно без лапок:</a:t>
            </a:r>
          </a:p>
          <a:p>
            <a:r>
              <a:rPr lang="uk-UA" sz="1200" dirty="0"/>
              <a:t>{</a:t>
            </a:r>
          </a:p>
          <a:p>
            <a:r>
              <a:rPr lang="uk-UA" sz="1200" dirty="0"/>
              <a:t>  "name": "Марта",</a:t>
            </a:r>
          </a:p>
          <a:p>
            <a:r>
              <a:rPr lang="uk-UA" sz="1200" dirty="0"/>
              <a:t>  "тема": "космос",</a:t>
            </a:r>
          </a:p>
          <a:p>
            <a:r>
              <a:rPr lang="uk-UA" sz="1200" dirty="0"/>
              <a:t>  "runs": 2</a:t>
            </a:r>
          </a:p>
          <a:p>
            <a:r>
              <a:rPr lang="uk-UA" sz="1200" dirty="0"/>
              <a:t>}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блок, дві хвилини. Це третій блок запасу, і він повертає групу до</a:t>
            </a:r>
          </a:p>
          <a:p>
            <a:r>
              <a:rPr lang="uk-UA" sz="1200" dirty="0"/>
              <a:t>notes.py — файла з нотатками, який вони набирали в середині пари.</a:t>
            </a:r>
          </a:p>
          <a:p>
            <a:endParaRPr lang="uk-UA" sz="1200" dirty="0"/>
          </a:p>
          <a:p>
            <a:r>
              <a:rPr lang="uk-UA" sz="1200" dirty="0"/>
              <a:t>ЯК ПОРАХУВАТИ РЯДКИ. Кажуть «полічити очима». Питаю, а якщо їх триста. Тоді</a:t>
            </a:r>
          </a:p>
          <a:p>
            <a:r>
              <a:rPr lang="uk-UA" sz="1200" dirty="0"/>
              <a:t>має рахувати програма. Кажу, що для цього текст спершу треба порізати на</a:t>
            </a:r>
          </a:p>
          <a:p>
            <a:r>
              <a:rPr lang="uk-UA" sz="1200" dirty="0"/>
              <a:t>рядки.</a:t>
            </a:r>
          </a:p>
          <a:p>
            <a:endParaRPr lang="uk-UA" sz="1200" dirty="0"/>
          </a:p>
          <a:p>
            <a:r>
              <a:rPr lang="uk-UA" sz="1200" dirty="0"/>
              <a:t>НЕВИДИМИЙ ЗНАК. Нагадую блок 3: ми писали "\n" у кінці кожної нотатки. Питаю,</a:t>
            </a:r>
          </a:p>
          <a:p>
            <a:r>
              <a:rPr lang="uk-UA" sz="1200" dirty="0"/>
              <a:t>навіщо. Щоб наступна почалась із нового рядка. А тепер той самий знак стане</a:t>
            </a:r>
          </a:p>
          <a:p>
            <a:r>
              <a:rPr lang="uk-UA" sz="1200" dirty="0"/>
              <a:t>ножем, яким ми ріжемо текст назад на шматки. Ця симетрія дітям подобається.</a:t>
            </a:r>
          </a:p>
          <a:p>
            <a:endParaRPr lang="uk-UA" sz="1200" dirty="0"/>
          </a:p>
          <a:p>
            <a:r>
              <a:rPr lang="uk-UA" sz="1200" dirty="0"/>
              <a:t>ЧИ МОЖНА ПОРІЗАТИ ТЕКСТ. Відповідь — так, і робить це split. Слово поки не</a:t>
            </a:r>
          </a:p>
          <a:p>
            <a:r>
              <a:rPr lang="uk-UA" sz="1200" dirty="0"/>
              <a:t>називаю, але кажу, що результатом буде список — той самий, що на уроках 1 і 2.</a:t>
            </a:r>
          </a:p>
          <a:p>
            <a:endParaRPr lang="uk-UA" sz="1200" dirty="0"/>
          </a:p>
          <a:p>
            <a:r>
              <a:rPr lang="uk-UA" sz="1200" dirty="0"/>
              <a:t>Одразу попереджаю про дрібницю, яка на показі здивує: шматків вийде на один</a:t>
            </a:r>
          </a:p>
          <a:p>
            <a:r>
              <a:rPr lang="uk-UA" sz="1200" dirty="0"/>
              <a:t>більше, ніж нотаток. Кажу, що зараз побачимо чому, і це чесна арифметика, а не</a:t>
            </a:r>
          </a:p>
          <a:p>
            <a:r>
              <a:rPr lang="uk-UA" sz="1200" dirty="0"/>
              <a:t>помилка.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показ, чотири хвилини. Нового тут два імені, split і len, і одна</a:t>
            </a:r>
          </a:p>
          <a:p>
            <a:r>
              <a:rPr lang="uk-UA" sz="1200" dirty="0"/>
              <a:t>дрібниця з мінусом, яку треба пояснити повільно.</a:t>
            </a:r>
          </a:p>
          <a:p>
            <a:endParaRPr lang="uk-UA" sz="1200" dirty="0"/>
          </a:p>
          <a:p>
            <a:r>
              <a:rPr lang="uk-UA" sz="1200" dirty="0"/>
              <a:t>READ. Нагадую: f.read() віддає весь файл одним рядком, разом із переносами.</a:t>
            </a:r>
          </a:p>
          <a:p>
            <a:r>
              <a:rPr lang="uk-UA" sz="1200" dirty="0"/>
              <a:t>Показую живцем: друкую результат і кажу, що переносів не видно, але вони там.</a:t>
            </a:r>
          </a:p>
          <a:p>
            <a:endParaRPr lang="uk-UA" sz="1200" dirty="0"/>
          </a:p>
          <a:p>
            <a:r>
              <a:rPr lang="uk-UA" sz="1200" dirty="0"/>
              <a:t>SPLIT. Читаю вголос: поріж цей текст у місцях, де стоїть знак кінця рядка.</a:t>
            </a:r>
          </a:p>
          <a:p>
            <a:r>
              <a:rPr lang="uk-UA" sz="1200" dirty="0"/>
              <a:t>Показую в консолі на короткому прикладі: "а\nб\nв".split("\n") дає список із</a:t>
            </a:r>
          </a:p>
          <a:p>
            <a:r>
              <a:rPr lang="uk-UA" sz="1200" dirty="0"/>
              <a:t>трьох. Кажу, що це рівно той список, з яким вони працювали на уроці 1.</a:t>
            </a:r>
          </a:p>
          <a:p>
            <a:endParaRPr lang="uk-UA" sz="1200" dirty="0"/>
          </a:p>
          <a:p>
            <a:r>
              <a:rPr lang="uk-UA" sz="1200" dirty="0"/>
              <a:t>LEN. Каже, скільки елементів. Показую на списку жартів із уроку 1.</a:t>
            </a:r>
          </a:p>
          <a:p>
            <a:endParaRPr lang="uk-UA" sz="1200" dirty="0"/>
          </a:p>
          <a:p>
            <a:r>
              <a:rPr lang="uk-UA" sz="1200" dirty="0"/>
              <a:t>МІНУС ОДИН. Найтонше місце, і його треба показати на дошці. Малюю три нотатки,</a:t>
            </a:r>
          </a:p>
          <a:p>
            <a:r>
              <a:rPr lang="uk-UA" sz="1200" dirty="0"/>
              <a:t>після кожної ставлю позначку переносу. Ріжемо по позначках — виходить чотири</a:t>
            </a:r>
          </a:p>
          <a:p>
            <a:r>
              <a:rPr lang="uk-UA" sz="1200" dirty="0"/>
              <a:t>шматки, і четвертий порожній, бо після останнього переносу вже нічого немає.</a:t>
            </a:r>
          </a:p>
          <a:p>
            <a:r>
              <a:rPr lang="uk-UA" sz="1200" dirty="0"/>
              <a:t>Тому нотаток на одну менше, ніж шматків.</a:t>
            </a:r>
          </a:p>
          <a:p>
            <a:endParaRPr lang="uk-UA" sz="1200" dirty="0"/>
          </a:p>
          <a:p>
            <a:r>
              <a:rPr lang="uk-UA" sz="1200" dirty="0"/>
              <a:t>Питаю групу, скільки буде шматків у порожньому файлі. Один, і він порожній.</a:t>
            </a:r>
          </a:p>
          <a:p>
            <a:r>
              <a:rPr lang="uk-UA" sz="1200" dirty="0"/>
              <a:t>Отже, нотаток нуль. Арифметика сходиться і в цьому випадку — а це варто</a:t>
            </a:r>
          </a:p>
          <a:p>
            <a:r>
              <a:rPr lang="uk-UA" sz="1200" dirty="0"/>
              <a:t>перевірити вголос, бо саме порожній файл найчастіше ламає такі підрахунки.</a:t>
            </a:r>
          </a:p>
          <a:p>
            <a:endParaRPr lang="uk-UA" sz="1200" dirty="0"/>
          </a:p>
          <a:p>
            <a:r>
              <a:rPr lang="uk-UA" sz="1200" dirty="0"/>
              <a:t>Наступний слайд: чотири рядки в кінець notes.py.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Бонусна практика, п'ять хвилин. Чотири рядки, і три з них діти вже набирали в</a:t>
            </a:r>
          </a:p>
          <a:p>
            <a:r>
              <a:rPr lang="uk-UA" sz="1200" dirty="0"/>
              <a:t>блоці 3 — новий тільки той, що зі split.</a:t>
            </a:r>
          </a:p>
          <a:p>
            <a:endParaRPr lang="uk-UA" sz="1200" dirty="0"/>
          </a:p>
          <a:p>
            <a:r>
              <a:rPr lang="uk-UA" sz="1200" dirty="0"/>
              <a:t>Кажу порядок: відкрити notes.py, спуститись у самий низ, під блок, який друкує</a:t>
            </a:r>
          </a:p>
          <a:p>
            <a:r>
              <a:rPr lang="uk-UA" sz="1200" dirty="0"/>
              <a:t>нотатки, і набрати чотири рядки без відступу.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написали split("n") без зворотної косої — жодного розрізу, шматок один;</a:t>
            </a:r>
          </a:p>
          <a:p>
            <a:r>
              <a:rPr lang="uk-UA" sz="1200" dirty="0"/>
              <a:t>    забули мінус один — число на одиницю більше, ніж нотаток;</a:t>
            </a:r>
          </a:p>
          <a:p>
            <a:r>
              <a:rPr lang="uk-UA" sz="1200" dirty="0"/>
              <a:t>    поставили рядки всередину циклу while — число друкується після кожної</a:t>
            </a:r>
          </a:p>
          <a:p>
            <a:r>
              <a:rPr lang="uk-UA" sz="1200" dirty="0"/>
              <a:t>        нотатки; помилки не буде, буде шум на екрані;</a:t>
            </a:r>
          </a:p>
          <a:p>
            <a:r>
              <a:rPr lang="uk-UA" sz="1200" dirty="0"/>
              <a:t>    відкрили файл у режимі "w" — усі нотатки зникають, і число завжди нуль.</a:t>
            </a:r>
          </a:p>
          <a:p>
            <a:endParaRPr lang="uk-UA" sz="1200" dirty="0"/>
          </a:p>
          <a:p>
            <a:r>
              <a:rPr lang="uk-UA" sz="1200" dirty="0"/>
              <a:t>Останнє кажу голосно: одна буква, і зошит порожній. Це та сама помилка, про яку</a:t>
            </a:r>
          </a:p>
          <a:p>
            <a:r>
              <a:rPr lang="uk-UA" sz="1200" dirty="0"/>
              <a:t>йшлося на блоці 3, і тут вона трапляється вдруге.</a:t>
            </a:r>
          </a:p>
          <a:p>
            <a:endParaRPr lang="uk-UA" sz="1200" dirty="0"/>
          </a:p>
          <a:p>
            <a:r>
              <a:rPr lang="uk-UA" sz="1200" dirty="0"/>
              <a:t>Перевіряємо разом: записати три нотатки, вийти, порахувати очима те, що</a:t>
            </a:r>
          </a:p>
          <a:p>
            <a:r>
              <a:rPr lang="uk-UA" sz="1200" dirty="0"/>
              <a:t>надрукувалось, і звірити з числом. Потім запустити ще раз, додати четверту й</a:t>
            </a:r>
          </a:p>
          <a:p>
            <a:r>
              <a:rPr lang="uk-UA" sz="1200" dirty="0"/>
              <a:t>подивитись, що число виросло.</a:t>
            </a:r>
          </a:p>
          <a:p>
            <a:endParaRPr lang="uk-UA" sz="1200" dirty="0"/>
          </a:p>
          <a:p>
            <a:r>
              <a:rPr lang="uk-UA" sz="1200" dirty="0"/>
              <a:t>Хто впорався: хай надрукує не число, а останню нотатку — lines[len(lines) - 2].</a:t>
            </a:r>
          </a:p>
          <a:p>
            <a:r>
              <a:rPr lang="uk-UA" sz="1200" dirty="0"/>
              <a:t>Один рядок, а думки в ньому дві: індекс і той самий мінус.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notes.py</a:t>
            </a:r>
          </a:p>
          <a:p>
            <a:r>
              <a:rPr lang="uk-UA" sz="1200" dirty="0"/>
              <a:t>Нотатка: купити зошит</a:t>
            </a:r>
          </a:p>
          <a:p>
            <a:r>
              <a:rPr lang="uk-UA" sz="1200" dirty="0"/>
              <a:t>Нотатка: подзвонити бабусі</a:t>
            </a:r>
          </a:p>
          <a:p>
            <a:r>
              <a:rPr lang="uk-UA" sz="1200" dirty="0"/>
              <a:t>Нотатка: стоп</a:t>
            </a:r>
          </a:p>
          <a:p>
            <a:r>
              <a:rPr lang="uk-UA" sz="1200" dirty="0"/>
              <a:t>купити зошит</a:t>
            </a:r>
          </a:p>
          <a:p>
            <a:r>
              <a:rPr lang="uk-UA" sz="1200" dirty="0"/>
              <a:t>подзвонити бабусі</a:t>
            </a:r>
          </a:p>
          <a:p>
            <a:endParaRPr lang="uk-UA" sz="1200" dirty="0"/>
          </a:p>
          <a:p>
            <a:r>
              <a:rPr lang="uk-UA" sz="1200" dirty="0"/>
              <a:t>Нотаток у файлі: 2</a:t>
            </a:r>
          </a:p>
          <a:p>
            <a:endParaRPr lang="uk-UA" sz="1200" dirty="0"/>
          </a:p>
          <a:p>
            <a:r>
              <a:rPr lang="uk-UA" sz="1200" dirty="0"/>
              <a:t>$ python notes.py</a:t>
            </a:r>
          </a:p>
          <a:p>
            <a:r>
              <a:rPr lang="uk-UA" sz="1200" dirty="0"/>
              <a:t>Нотатка: вивчити вірш</a:t>
            </a:r>
          </a:p>
          <a:p>
            <a:r>
              <a:rPr lang="uk-UA" sz="1200" dirty="0"/>
              <a:t>Нотатка: стоп</a:t>
            </a:r>
          </a:p>
          <a:p>
            <a:r>
              <a:rPr lang="uk-UA" sz="1200" dirty="0"/>
              <a:t>купити зошит</a:t>
            </a:r>
          </a:p>
          <a:p>
            <a:r>
              <a:rPr lang="uk-UA" sz="1200" dirty="0"/>
              <a:t>подзвонити бабусі</a:t>
            </a:r>
          </a:p>
          <a:p>
            <a:r>
              <a:rPr lang="uk-UA" sz="1200" dirty="0"/>
              <a:t>вивчити вірш</a:t>
            </a:r>
          </a:p>
          <a:p>
            <a:endParaRPr lang="uk-UA" sz="1200" dirty="0"/>
          </a:p>
          <a:p>
            <a:r>
              <a:rPr lang="uk-UA" sz="1200" dirty="0"/>
              <a:t>Нотаток у файлі: 3</a:t>
            </a:r>
          </a:p>
          <a:p>
            <a:endParaRPr lang="uk-UA" sz="1200" dirty="0"/>
          </a:p>
          <a:p>
            <a:r>
              <a:rPr lang="uk-UA" sz="1200" dirty="0"/>
              <a:t>Число має збігатися з тим, що видно очима вище.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Останній бонусний блок уроку, дві хвилини. Тут ми навмисне робимо те, чого</a:t>
            </a:r>
          </a:p>
          <a:p>
            <a:r>
              <a:rPr lang="uk-UA" sz="1200" dirty="0"/>
              <a:t>боялись увесь урок, — і саме тому блок цікавий.</a:t>
            </a:r>
          </a:p>
          <a:p>
            <a:endParaRPr lang="uk-UA" sz="1200" dirty="0"/>
          </a:p>
          <a:p>
            <a:r>
              <a:rPr lang="uk-UA" sz="1200" dirty="0"/>
              <a:t>КОЛИ «W» ПОТРІБЕН. Питання перевертає весь урок. Кажуть: коли треба почати з</a:t>
            </a:r>
          </a:p>
          <a:p>
            <a:r>
              <a:rPr lang="uk-UA" sz="1200" dirty="0"/>
              <a:t>чистого аркуша. Правильно. Кажу вголос головне: небезпечний не режим, а режим,</a:t>
            </a:r>
          </a:p>
          <a:p>
            <a:r>
              <a:rPr lang="uk-UA" sz="1200" dirty="0"/>
              <a:t>поставлений не туди. Стирати навмисне — нормально.</a:t>
            </a:r>
          </a:p>
          <a:p>
            <a:endParaRPr lang="uk-UA" sz="1200" dirty="0"/>
          </a:p>
          <a:p>
            <a:r>
              <a:rPr lang="uk-UA" sz="1200" dirty="0"/>
              <a:t>ЩОБ КОМАНДА НЕ ПОТРАПИЛА В НОТАТКИ. Хороше питання, і відповідь на нього діти</a:t>
            </a:r>
          </a:p>
          <a:p>
            <a:r>
              <a:rPr lang="uk-UA" sz="1200" dirty="0"/>
              <a:t>вже бачили: слово «стоп» теж не потрапляє в нотатки, бо після нього стоїть</a:t>
            </a:r>
          </a:p>
          <a:p>
            <a:r>
              <a:rPr lang="uk-UA" sz="1200" dirty="0"/>
              <a:t>break. Питаю, чи підійде тут break. Ні — ми ж не хочемо виходити з програми.</a:t>
            </a:r>
          </a:p>
          <a:p>
            <a:endParaRPr lang="uk-UA" sz="1200" dirty="0"/>
          </a:p>
          <a:p>
            <a:r>
              <a:rPr lang="uk-UA" sz="1200" dirty="0"/>
              <a:t>ВИЙТИ І ПРОПУСТИТИ. Головна нова думка блоку. Кажу: break виходить із циклу</a:t>
            </a:r>
          </a:p>
          <a:p>
            <a:r>
              <a:rPr lang="uk-UA" sz="1200" dirty="0"/>
              <a:t>назовсім, а continue пропускає решту цього кола й вертається на початок. Прошу</a:t>
            </a:r>
          </a:p>
          <a:p>
            <a:r>
              <a:rPr lang="uk-UA" sz="1200" dirty="0"/>
              <a:t>уявити чергу: break — піти додому, continue — пропустити вперед і стати в</a:t>
            </a:r>
          </a:p>
          <a:p>
            <a:r>
              <a:rPr lang="uk-UA" sz="1200" dirty="0"/>
              <a:t>чергу знову.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Останній бонусний показ уроку. Чотири хвилини, і нове тут одне слово —</a:t>
            </a:r>
          </a:p>
          <a:p>
            <a:r>
              <a:rPr lang="uk-UA" sz="1200" dirty="0"/>
              <a:t>continue.</a:t>
            </a:r>
          </a:p>
          <a:p>
            <a:endParaRPr lang="uk-UA" sz="1200" dirty="0"/>
          </a:p>
          <a:p>
            <a:r>
              <a:rPr lang="uk-UA" sz="1200" dirty="0"/>
              <a:t>CONTINUE. Показую живцем найкоротший приклад: цикл, який друкує числа й</a:t>
            </a:r>
          </a:p>
          <a:p>
            <a:r>
              <a:rPr lang="uk-UA" sz="1200" dirty="0"/>
              <a:t>пропускає п'ятірку. Запускаю, і на екрані видно дірку. Кажу: рядки після</a:t>
            </a:r>
          </a:p>
          <a:p>
            <a:r>
              <a:rPr lang="uk-UA" sz="1200" dirty="0"/>
              <a:t>continue не виконались, а цикл не спинився.</a:t>
            </a:r>
          </a:p>
          <a:p>
            <a:endParaRPr lang="uk-UA" sz="1200" dirty="0"/>
          </a:p>
          <a:p>
            <a:r>
              <a:rPr lang="uk-UA" sz="1200" dirty="0"/>
              <a:t>BREAK І CONTINUE ПОРУЧ. Пишу обидва на телевізорі й кажу різницю одним</a:t>
            </a:r>
          </a:p>
          <a:p>
            <a:r>
              <a:rPr lang="uk-UA" sz="1200" dirty="0"/>
              <a:t>реченням: break виходить із циклу, continue вертається на його початок. Прошу</a:t>
            </a:r>
          </a:p>
          <a:p>
            <a:r>
              <a:rPr lang="uk-UA" sz="1200" dirty="0"/>
              <a:t>показати пальцем, куди стрибає кожен.</a:t>
            </a:r>
          </a:p>
          <a:p>
            <a:endParaRPr lang="uk-UA" sz="1200" dirty="0"/>
          </a:p>
          <a:p>
            <a:r>
              <a:rPr lang="uk-UA" sz="1200" dirty="0"/>
              <a:t>РЕЖИМ «W» НАВМИСНЕ. Відкриваю notes.txt у режимі «w» і пишу порожній рядок.</a:t>
            </a:r>
          </a:p>
          <a:p>
            <a:r>
              <a:rPr lang="uk-UA" sz="1200" dirty="0"/>
              <a:t>Питаю групу, що станеться з нотатками. Зникнуть. Кажу: сьогодні це саме те, що</a:t>
            </a:r>
          </a:p>
          <a:p>
            <a:r>
              <a:rPr lang="uk-UA" sz="1200" dirty="0"/>
              <a:t>треба, і в цьому вся різниця з блоком 3 — там «w» був помилкою, тут відповіддю.</a:t>
            </a:r>
          </a:p>
          <a:p>
            <a:endParaRPr lang="uk-UA" sz="1200" dirty="0"/>
          </a:p>
          <a:p>
            <a:r>
              <a:rPr lang="uk-UA" sz="1200" dirty="0"/>
              <a:t>ДЕ СТАВИТИ. Показую пальцем: новий блок — усередині циклу, під блоком «стоп»,</a:t>
            </a:r>
          </a:p>
          <a:p>
            <a:r>
              <a:rPr lang="uk-UA" sz="1200" dirty="0"/>
              <a:t>вище за запис нотатки. Пояснюю чому: якби він стояв нижче, слово «очисти»</a:t>
            </a:r>
          </a:p>
          <a:p>
            <a:r>
              <a:rPr lang="uk-UA" sz="1200" dirty="0"/>
              <a:t>спершу записалося б у файл, а потім файл стерли б — і на екрані все виглядало б</a:t>
            </a:r>
          </a:p>
          <a:p>
            <a:r>
              <a:rPr lang="uk-UA" sz="1200" dirty="0"/>
              <a:t>правильно, а нотатка одна все ж пропала б.</a:t>
            </a:r>
          </a:p>
          <a:p>
            <a:endParaRPr lang="uk-UA" sz="1200" dirty="0"/>
          </a:p>
          <a:p>
            <a:r>
              <a:rPr lang="uk-UA" sz="1200" dirty="0"/>
              <a:t>Наступний слайд: шість рядків усередину циклу.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Остання практика запасу, п'ять хвилин. П'ять рядків, і всі вони всередині вже</a:t>
            </a:r>
          </a:p>
          <a:p>
            <a:r>
              <a:rPr lang="uk-UA" sz="1200" dirty="0"/>
              <a:t>набраного циклу — тому головне тут відступи.</a:t>
            </a:r>
          </a:p>
          <a:p>
            <a:endParaRPr lang="uk-UA" sz="1200" dirty="0"/>
          </a:p>
          <a:p>
            <a:r>
              <a:rPr lang="uk-UA" sz="1200" dirty="0"/>
              <a:t>Кажу порядок: знайти в notes.py блок про «стоп», спуститись під нього і</a:t>
            </a:r>
          </a:p>
          <a:p>
            <a:r>
              <a:rPr lang="uk-UA" sz="1200" dirty="0"/>
              <a:t>набрати п'ять рядків. Відступи називаю вголос по рівнях: сам if — чотири</a:t>
            </a:r>
          </a:p>
          <a:p>
            <a:r>
              <a:rPr lang="uk-UA" sz="1200" dirty="0"/>
              <a:t>пробіли, with — вісім, write — дванадцять, print і continue — знову вісім.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набрали блок нижче за запис нотатки — «очисти» встигає потрапити у файл;</a:t>
            </a:r>
          </a:p>
          <a:p>
            <a:r>
              <a:rPr lang="uk-UA" sz="1200" dirty="0"/>
              <a:t>    забули continue — слово «очисти» лягає в нотатки після стирання;</a:t>
            </a:r>
          </a:p>
          <a:p>
            <a:r>
              <a:rPr lang="uk-UA" sz="1200" dirty="0"/>
              <a:t>    поставили режим "a" замість "w" — нічого не стирається, файл росте далі;</a:t>
            </a:r>
          </a:p>
          <a:p>
            <a:r>
              <a:rPr lang="uk-UA" sz="1200" dirty="0"/>
              <a:t>    зсунули continue на дванадцять пробілів, і воно опинилось усередині with.</a:t>
            </a:r>
          </a:p>
          <a:p>
            <a:endParaRPr lang="uk-UA" sz="1200" dirty="0"/>
          </a:p>
          <a:p>
            <a:r>
              <a:rPr lang="uk-UA" sz="1200" dirty="0"/>
              <a:t>Останнє дає дивну помилку про менеджер контексту, і краще сказати заздалегідь:</a:t>
            </a:r>
          </a:p>
          <a:p>
            <a:r>
              <a:rPr lang="uk-UA" sz="1200" dirty="0"/>
              <a:t>continue має стояти на рівні print, а не глибше.</a:t>
            </a:r>
          </a:p>
          <a:p>
            <a:endParaRPr lang="uk-UA" sz="1200" dirty="0"/>
          </a:p>
          <a:p>
            <a:r>
              <a:rPr lang="uk-UA" sz="1200" dirty="0"/>
              <a:t>Перевіряємо разом: записати нотатку, потім «очисти», потім ще одну, потім</a:t>
            </a:r>
          </a:p>
          <a:p>
            <a:r>
              <a:rPr lang="uk-UA" sz="1200" dirty="0"/>
              <a:t>«стоп». На екрані має лишитись рівно одна нотатка, а лічильник із попереднього</a:t>
            </a:r>
          </a:p>
          <a:p>
            <a:r>
              <a:rPr lang="uk-UA" sz="1200" dirty="0"/>
              <a:t>блоку має сказати «1».</a:t>
            </a:r>
          </a:p>
          <a:p>
            <a:endParaRPr lang="uk-UA" sz="1200" dirty="0"/>
          </a:p>
          <a:p>
            <a:r>
              <a:rPr lang="uk-UA" sz="1200" dirty="0"/>
              <a:t>Питаю групу наприкінці: чи можна повернути стерте? Ні. Кажу це прямо й спокійно</a:t>
            </a:r>
          </a:p>
          <a:p>
            <a:r>
              <a:rPr lang="uk-UA" sz="1200" dirty="0"/>
              <a:t>— файл, стертий програмою, не лежить у кошику. Саме тому такі команди в</a:t>
            </a:r>
          </a:p>
          <a:p>
            <a:r>
              <a:rPr lang="uk-UA" sz="1200" dirty="0"/>
              <a:t>дорослих програмах перепитують «ви впевнені?», і саме тому режим «w» треба</a:t>
            </a:r>
          </a:p>
          <a:p>
            <a:r>
              <a:rPr lang="uk-UA" sz="1200" dirty="0"/>
              <a:t>писати уважно.</a:t>
            </a:r>
          </a:p>
          <a:p>
            <a:endParaRPr lang="uk-UA" sz="1200" dirty="0"/>
          </a:p>
          <a:p>
            <a:r>
              <a:rPr lang="uk-UA" sz="1200" dirty="0"/>
              <a:t>Хто впорався: хай додасть перепитування — ще один input перед стиранням і</a:t>
            </a:r>
          </a:p>
          <a:p>
            <a:r>
              <a:rPr lang="uk-UA" sz="1200" dirty="0"/>
              <a:t>перевірка на слово «так». Три рядки, і команда стає безпечною.</a:t>
            </a:r>
          </a:p>
          <a:p>
            <a:endParaRPr lang="uk-UA" sz="1200" dirty="0"/>
          </a:p>
          <a:p>
            <a:r>
              <a:rPr lang="uk-UA" sz="1200" dirty="0"/>
              <a:t>Це кінець запасу.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notes.py</a:t>
            </a:r>
          </a:p>
          <a:p>
            <a:r>
              <a:rPr lang="uk-UA" sz="1200" dirty="0"/>
              <a:t>Нотатка: купити зошит</a:t>
            </a:r>
          </a:p>
          <a:p>
            <a:r>
              <a:rPr lang="uk-UA" sz="1200" dirty="0"/>
              <a:t>Нотатка: очисти</a:t>
            </a:r>
          </a:p>
          <a:p>
            <a:r>
              <a:rPr lang="uk-UA" sz="1200" dirty="0"/>
              <a:t>Нотатки стерто.</a:t>
            </a:r>
          </a:p>
          <a:p>
            <a:r>
              <a:rPr lang="uk-UA" sz="1200" dirty="0"/>
              <a:t>Нотатка: новий початок</a:t>
            </a:r>
          </a:p>
          <a:p>
            <a:r>
              <a:rPr lang="uk-UA" sz="1200" dirty="0"/>
              <a:t>Нотатка: стоп</a:t>
            </a:r>
          </a:p>
          <a:p>
            <a:r>
              <a:rPr lang="uk-UA" sz="1200" dirty="0"/>
              <a:t>новий початок</a:t>
            </a:r>
          </a:p>
          <a:p>
            <a:endParaRPr lang="uk-UA" sz="1200" dirty="0"/>
          </a:p>
          <a:p>
            <a:r>
              <a:rPr lang="uk-UA" sz="1200" dirty="0"/>
              <a:t>Нотаток у файлі: 1</a:t>
            </a:r>
          </a:p>
          <a:p>
            <a:endParaRPr lang="uk-UA" sz="1200" dirty="0"/>
          </a:p>
          <a:p>
            <a:r>
              <a:rPr lang="uk-UA" sz="1200" dirty="0"/>
              <a:t>Головне: «купити зошит» зникло, а саме слово «очисти» в нотатки не</a:t>
            </a:r>
          </a:p>
          <a:p>
            <a:r>
              <a:rPr lang="uk-UA" sz="1200" dirty="0"/>
              <a:t>потрапило — його спинив continue.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орожні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976954"/>
          </a:xfrm>
          <a:prstGeom prst="roundRect">
            <a:avLst>
              <a:gd name="adj" fmla="val 7025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Помічник, який тебе пам'ятає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Він уже розуміє теми. Але щоразу вітається так, ніби бачить тебе вперше.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668551"/>
            <a:ext cx="6949440" cy="237698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Чому програма забуває все, коли її закрили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Файл: як записати рядок і як його прочитати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Нотатки: дописувати, а не стирати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JSON — формат, у якому дані мають підписи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Помічник упізнає тебе на другому запуску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490722"/>
          </a:xfrm>
          <a:prstGeom prst="roundRect">
            <a:avLst>
              <a:gd name="adj" fmla="val 8004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Питання: Чому він забуває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Помічник уже розуміє теми, але щоразу знайомиться наново. Чому</a:t>
            </a:r>
            <a:r>
              <a:rPr lang="uk-UA" sz="1500" dirty="0">
                <a:solidFill>
                  <a:srgbClr val="6C6860"/>
                </a:solidFill>
                <a:latin typeface="Onest"/>
                <a:cs typeface="Onest"/>
              </a:rPr>
              <a:t>?</a:t>
            </a:r>
            <a:endParaRPr lang="uk-UA" sz="1500" b="0" dirty="0">
              <a:solidFill>
                <a:srgbClr val="6C6860"/>
              </a:solidFill>
              <a:latin typeface="Onest"/>
              <a:cs typeface="Onest"/>
            </a:endParaRPr>
          </a:p>
        </p:txBody>
      </p:sp>
      <p:sp>
        <p:nvSpPr>
          <p:cNvPr id="7" name="bullets 7"/>
          <p:cNvSpPr txBox="1"/>
          <p:nvPr/>
        </p:nvSpPr>
        <p:spPr>
          <a:xfrm>
            <a:off x="853440" y="1668551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Куди дівається ім'я, коли програму закрили?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Чим пам'ять комп'ютера схожа на дошку в класі?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у вашому комп'ютері переживає вимкнення?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Де ігри тримають ваші рекорди?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139385"/>
          </a:xfrm>
          <a:prstGeom prst="roundRect">
            <a:avLst>
              <a:gd name="adj" fmla="val 543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Записати й прочитати файл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Зошит помічника — звичайний файл. Один рядок, щоб записати, один — щоб прочитати.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open(файл, режим, encoding) — відкриваємо файл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«w» переписує з нуля, «r» тільки читає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with ... as f: сам закриє файл після роботи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f.write(рядок) пише, f.read() читає весь файл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996157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092169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311625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f.write не переходить на новий рядок сам — тому в кінці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рядка ставимо \n. І encoding="utf-8" пишемо завжди, як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крапку в кінці речення: без нього букви стануть кракозябрами.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4474159"/>
          </a:xfrm>
          <a:prstGeom prst="roundRect">
            <a:avLst>
              <a:gd name="adj" fmla="val 6245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Набираємо: перший файл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1048512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Створи файл files.py, набери це й запусти. Потім знайди first.txt у папці очима.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668551"/>
            <a:ext cx="10485120" cy="1981276"/>
          </a:xfrm>
          <a:prstGeom prst="roundRect">
            <a:avLst>
              <a:gd name="adj" fmla="val 6410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with open("first.txt", "w", encoding="utf-8") as f: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f.write("Привіт із файла!\n")</a:t>
            </a:r>
          </a:p>
          <a:p>
            <a:pPr algn="l">
              <a:lnSpc>
                <a:spcPts val="2560"/>
              </a:lnSpc>
              <a:buNone/>
            </a:pPr>
            <a:endParaRPr lang="uk-UA" sz="1600"/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with open("first.txt", "r", encoding="utf-8") as f: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print(f.read())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800704"/>
            <a:ext cx="10485120" cy="742036"/>
          </a:xfrm>
          <a:prstGeom prst="roundRect">
            <a:avLst>
              <a:gd name="adj" fmla="val 17115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3951580"/>
            <a:ext cx="10119360" cy="5774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На екрані має з'явитись «Привіт із файла!», а в папці — новий first.txt.</a:t>
            </a:r>
          </a:p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Файл лягає туди, звідки запущено програму. Не бачиш його — онови папку.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139385"/>
          </a:xfrm>
          <a:prstGeom prst="roundRect">
            <a:avLst>
              <a:gd name="adj" fmla="val 543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Дописати, а не стерти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Нотаток буває багато. Режим «a» додає рядок у кінець і не чіпає те, що вже написано.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«a» — append: дописати в кінець, не стираючи старе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Файла ще немає — Python створить його сам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Читаємо той самий файл у режимі «r»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Так нотатки накопичуються, а не переписуються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996157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FBEFD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092169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8A5A12"/>
                </a:solidFill>
                <a:latin typeface="Onest"/>
                <a:cs typeface="Onest"/>
              </a:rPr>
              <a:t>ЗАПАМ'ЯТАТИ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311625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«w» — це «взяти новий аркуш», «a» — «дописати в кінець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зошита». Переплутати їх дорого: одне зайве «w» стирає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всі нотатки, які вже записані.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5775122"/>
          </a:xfrm>
          <a:prstGeom prst="roundRect">
            <a:avLst>
              <a:gd name="adj" fmla="val 4838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Набираємо: нотатки, які лишаються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1048512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Створи файл notes.py. Це вже маленька програма: пише нотатки й читає їх усі.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668551"/>
            <a:ext cx="10485120" cy="3281553"/>
          </a:xfrm>
          <a:prstGeom prst="roundRect">
            <a:avLst>
              <a:gd name="adj" fmla="val 3870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text = input("Нотатка: ")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if text == "стоп":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with open("notes.txt", "a", encoding="utf-8") as f: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    f.write(text + "\n")</a:t>
            </a:r>
          </a:p>
          <a:p>
            <a:pPr algn="l">
              <a:lnSpc>
                <a:spcPts val="2560"/>
              </a:lnSpc>
              <a:buNone/>
            </a:pPr>
            <a:endParaRPr lang="uk-UA" sz="1600"/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with open("notes.txt", "r", encoding="utf-8") as f: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print(f.read())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5101666"/>
            <a:ext cx="10485120" cy="742036"/>
          </a:xfrm>
          <a:prstGeom prst="roundRect">
            <a:avLst>
              <a:gd name="adj" fmla="val 17115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5252542"/>
            <a:ext cx="10119360" cy="5774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Режим «a», не «w». Одна буква — і всі попередні нотатки зникнуть.</a:t>
            </a:r>
          </a:p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Запиши три нотатки, вийди словом «стоп», запусти ще раз і додай четверту.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748583"/>
          </a:xfrm>
          <a:prstGeom prst="roundRect">
            <a:avLst>
              <a:gd name="adj" fmla="val 7453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Питання: Чому голого тексту мало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Нотатки лежать у файлі суцільним текстом. Як дістати звідти саме ім’я?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411959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Як у списку покупок відрізнити ціну від назви товару?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станеться, якщо рядки у файлі поміняти місцями?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Чим підписана шухляда краща за просто шухляду?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4854092"/>
          </a:xfrm>
          <a:prstGeom prst="roundRect">
            <a:avLst>
              <a:gd name="adj" fmla="val 575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Чому голого тексту мало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У notes.txt лежить суцільний текст. А як дістати звідти саме ім'я?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668551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У текстовому файлі рядки однакові й без підписів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Щоб дістати ім'я, довелось би різати рядки руками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JSON зберігає дані з підписами: «name» — Марта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Це той самий формат, у якому відповідає ChatGPT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710864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3806876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026332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JSON виглядає точно як словник у Python: фігурні дужки,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"ключ": значення, кома між парами. Лапки завжди подвійні,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а після останньої пари коми немає.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4721733"/>
          </a:xfrm>
          <a:prstGeom prst="roundRect">
            <a:avLst>
              <a:gd name="adj" fmla="val 5917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Набираємо: me.json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1048512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Створи файл me.json і перепиши в нього цей шаблон. Заміни те, що в дужках, на своє.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668551"/>
            <a:ext cx="10485120" cy="1981276"/>
          </a:xfrm>
          <a:prstGeom prst="roundRect">
            <a:avLst>
              <a:gd name="adj" fmla="val 6410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Autofit/>
          </a:bodyPr>
          <a:lstStyle/>
          <a:p>
            <a:pPr algn="l">
              <a:lnSpc>
                <a:spcPts val="2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{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"name": "[Кирило]",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"тема": "[космос]",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"місто": "[Полтава]"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800704"/>
            <a:ext cx="10485120" cy="989609"/>
          </a:xfrm>
          <a:prstGeom prst="roundRect">
            <a:avLst>
              <a:gd name="adj" fmla="val 12833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3951580"/>
            <a:ext cx="10119360" cy="82501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Квадратні дужки прибери — вони лише показують, що міняти.</a:t>
            </a:r>
          </a:p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Лапки подвійні й прямі, кома після кожної пари, крім останньої.</a:t>
            </a:r>
          </a:p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Файл назви точно me.json — це наш зразок формату, програма його не чіпає.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4072280"/>
          </a:xfrm>
          <a:prstGeom prst="roundRect">
            <a:avLst>
              <a:gd name="adj" fmla="val 6861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Питання: Словник у файл і назад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Формат ми побачили. Одна хвилина: як покласти туди цілий словник із програми?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411959"/>
            <a:ext cx="6949440" cy="172890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Скільки рядків коду треба, щоб зберегти словник із трьох полів?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має повернутись, коли ми прочитаємо такий файл?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 має файл лишитись читабельним для людини?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139385"/>
          </a:xfrm>
          <a:prstGeom prst="roundRect">
            <a:avLst>
              <a:gd name="adj" fmla="val 543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Словник у файл і назад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JSON вміє записати цілий словник одним рядком коду — і повернути його таким самим.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import json — набір уже є в Python, ставити не треба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json.dump(словник, f) кладе словник у файл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json.load(f) дістає його назад — саме словником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ensure_ascii=False та indent=2 — щоб файл читала й людина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996157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092169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311625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dump і load — дзеркало: що поклали, те й дістали. Є ще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dumps і loads з буквою s на кінці — вони працюють із рядком,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а не з файлом. Нам сьогодні потрібні ті, що без 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28155"/>
            <a:ext cx="11338560" cy="6201689"/>
          </a:xfrm>
          <a:prstGeom prst="roundRect">
            <a:avLst>
              <a:gd name="adj" fmla="val 4505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Набираємо: card.json із програми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1048512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Створи файл card.py. Словник лягає у файл, а потім вертається звідти таким самим.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671884"/>
            <a:ext cx="10485120" cy="3708121"/>
          </a:xfrm>
          <a:prstGeom prst="roundRect">
            <a:avLst>
              <a:gd name="adj" fmla="val 3425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import json</a:t>
            </a:r>
          </a:p>
          <a:p>
            <a:pPr algn="l">
              <a:lnSpc>
                <a:spcPts val="2400"/>
              </a:lnSpc>
              <a:buNone/>
            </a:pPr>
            <a:endParaRPr lang="uk-UA" sz="1500"/>
          </a:p>
          <a:p>
            <a:pPr algn="l">
              <a:lnSpc>
                <a:spcPts val="24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card = {"name": "Марта", "тема": "космос"}</a:t>
            </a:r>
          </a:p>
          <a:p>
            <a:pPr algn="l">
              <a:lnSpc>
                <a:spcPts val="2400"/>
              </a:lnSpc>
              <a:buNone/>
            </a:pPr>
            <a:endParaRPr lang="uk-UA" sz="1500"/>
          </a:p>
          <a:p>
            <a:pPr algn="l">
              <a:lnSpc>
                <a:spcPts val="24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with open("card.json", "w", encoding="utf-8") as f:</a:t>
            </a:r>
          </a:p>
          <a:p>
            <a:pPr algn="l">
              <a:lnSpc>
                <a:spcPts val="24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    json.dump(card, f, ensure_ascii=False, indent=2)</a:t>
            </a:r>
          </a:p>
          <a:p>
            <a:pPr algn="l">
              <a:lnSpc>
                <a:spcPts val="2400"/>
              </a:lnSpc>
              <a:buNone/>
            </a:pPr>
            <a:endParaRPr lang="uk-UA" sz="1500"/>
          </a:p>
          <a:p>
            <a:pPr algn="l">
              <a:lnSpc>
                <a:spcPts val="24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with open("card.json", "r", encoding="utf-8") as f:</a:t>
            </a:r>
          </a:p>
          <a:p>
            <a:pPr algn="l">
              <a:lnSpc>
                <a:spcPts val="24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    card = json.load(f)</a:t>
            </a:r>
          </a:p>
          <a:p>
            <a:pPr algn="l">
              <a:lnSpc>
                <a:spcPts val="2400"/>
              </a:lnSpc>
              <a:buNone/>
            </a:pPr>
            <a:endParaRPr lang="uk-UA" sz="1500"/>
          </a:p>
          <a:p>
            <a:pPr algn="l">
              <a:lnSpc>
                <a:spcPts val="24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print("Привіт,", card["name"])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5528234"/>
            <a:ext cx="10485120" cy="742036"/>
          </a:xfrm>
          <a:prstGeom prst="roundRect">
            <a:avLst>
              <a:gd name="adj" fmla="val 17115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5679110"/>
            <a:ext cx="10119360" cy="5774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Ім'я і тему сьогодні набирай точно як на екрані — разом із лапками й комою.</a:t>
            </a:r>
          </a:p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Відкрий card.json очима: усередині мають бути букви, а не \u041c\u0430.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748583"/>
          </a:xfrm>
          <a:prstGeom prst="roundRect">
            <a:avLst>
              <a:gd name="adj" fmla="val 7453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Питання: Помічник упізнає тебе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dirty="0">
                <a:solidFill>
                  <a:srgbClr val="6C6860"/>
                </a:solidFill>
                <a:latin typeface="Onest"/>
                <a:cs typeface="Onest"/>
              </a:rPr>
              <a:t>Я</a:t>
            </a: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к програма зрозуміє, що бачить тебе не вперше?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411959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Як ви розумієте, що людина у дверях уже тут бувала?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програма має зробити, якщо файла з іменем ще немає?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Чому код у всіх однаковий, а помічник у кожного свій?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139385"/>
          </a:xfrm>
          <a:prstGeom prst="roundRect">
            <a:avLst>
              <a:gd name="adj" fmla="val 543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Помічник упізнає тебе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Файл є — вітаємось на ім'я. Файла немає — знайомимось. Це вирішує один рядок.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os.path.exists(файл) каже True або False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Нічого не відкриває і не створює — тільки дивиться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Файла немає — знайомимось і зберігаємо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Файл є — читаємо і вітаємось на ім'я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996157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FBEFD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092169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8A5A12"/>
                </a:solidFill>
                <a:latin typeface="Onest"/>
                <a:cs typeface="Onest"/>
              </a:rPr>
              <a:t>ЗАПАМ'ЯТАТИ НАЗАВЖДИ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311625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Те, що в кожного своє, лежить у файлі, а не в коді: ім'я,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нотатки, а з наступного уроку — ще й ключ до ChatGPT.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Код при цьому в усіх однаковий, тому ним можна обмінятись.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6240780"/>
          </a:xfrm>
          <a:prstGeom prst="roundRect">
            <a:avLst>
              <a:gd name="adj" fmla="val 4477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Набираємо: помічник упізнає тебе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1048512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Створи файл hello.py. Запусти двічі: перший раз він знайомиться, другий — вітається.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668551"/>
            <a:ext cx="10485120" cy="3769157"/>
          </a:xfrm>
          <a:prstGeom prst="roundRect">
            <a:avLst>
              <a:gd name="adj" fmla="val 3369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import json, os</a:t>
            </a:r>
          </a:p>
          <a:p>
            <a:pPr algn="l">
              <a:lnSpc>
                <a:spcPts val="2240"/>
              </a:lnSpc>
              <a:buNone/>
            </a:pPr>
            <a:endParaRPr lang="uk-UA" sz="1400"/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if os.path.exists("user.json"):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with open("user.json", encoding="utf-8") as f: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user = json.load(f)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print("З поверненням,", user["name"] + "!")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else: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name = input("Привіт! Як тебе звати? ")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user = {"name": name}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with open("user.json", "w", encoding="utf-8") as f: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json.dump(user, f, ensure_ascii=False, indent=2)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print("Приємно познайомитись,", name + "!")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5589270"/>
            <a:ext cx="10485120" cy="742036"/>
          </a:xfrm>
          <a:prstGeom prst="roundRect">
            <a:avLst>
              <a:gd name="adj" fmla="val 17115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5740146"/>
            <a:ext cx="10119360" cy="5774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Перший запуск іде в else і знайомиться, другий — у if і вітається.</a:t>
            </a:r>
          </a:p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Видали user.json руками й запусти втретє: помічник знову спитає ім'я.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2"/>
          <a:srcRect l="1001" r="1000"/>
          <a:stretch>
            <a:fillRect/>
          </a:stretch>
        </p:blipFill>
        <p:spPr>
          <a:xfrm>
            <a:off x="-190529" y="-236292"/>
            <a:ext cx="12502692" cy="7176332"/>
          </a:xfrm>
          <a:prstGeom prst="roundRect">
            <a:avLst>
              <a:gd name="adj" fmla="val 1770"/>
            </a:avLst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2852928"/>
          </a:xfrm>
          <a:prstGeom prst="roundRect">
            <a:avLst>
              <a:gd name="adj" fmla="val 9793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Домашнє завдання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853440" y="1246099"/>
            <a:ext cx="6949440" cy="1675409"/>
          </a:xfrm>
          <a:prstGeom prst="roundRect">
            <a:avLst>
              <a:gd name="adj" fmla="val 75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7" name="text 7"/>
          <p:cNvSpPr txBox="1"/>
          <p:nvPr/>
        </p:nvSpPr>
        <p:spPr>
          <a:xfrm>
            <a:off x="1036320" y="1396975"/>
            <a:ext cx="6583680" cy="151081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2B2823"/>
                </a:solidFill>
                <a:latin typeface="Onest"/>
                <a:cs typeface="Onest"/>
              </a:rPr>
              <a:t>1. Використовуючи python код, створи файл "notes.json". В нескінченному циклі запитуй властивість та її значення у користувача, записуй їх у файл notes.json. Якщо вони обидва дорівнюють stop, виходь з циклу та читай та виводь повний зміст файл в термінал.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462604"/>
          </a:xfrm>
          <a:prstGeom prst="roundRect">
            <a:avLst>
              <a:gd name="adj" fmla="val 806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Питання: Картка з двох полів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Помічник знає ім’я. Що ще варто про тебе пам'ятати?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125980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корисно знати про людину, крім її імені?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Коли саме питати про це: щоразу чи один раз?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Як програма зрозуміє, що цього поля в картці ще немає?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4854092"/>
          </a:xfrm>
          <a:prstGeom prst="roundRect">
            <a:avLst>
              <a:gd name="adj" fmla="val 575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not in для словника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Одна перевірка — і питання лунає рівно один раз за все життя картки.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668551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"тема" not in user — чи немає такого ключа в словнику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Це той самий in, що на уроці 2, тільки питає про ключі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Немає — питаємо й кладемо в словник; є — просто беремо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Після зміни словник треба зберегти у файл заново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710864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FBEFD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3806876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8A5A12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026332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Змінити словник у пам'яті мало: файл про це не дізнається.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Рядок json.dump після змін — обов'язковий, інакше наступний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запуск прочитає стару картку й спитає те саме ще раз.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6237351"/>
          </a:xfrm>
          <a:prstGeom prst="roundRect">
            <a:avLst>
              <a:gd name="adj" fmla="val 447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Набираємо: улюблена тема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1048512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Це весь hello.py цілком. Нове — сім рядків у кінці, без відступу, після if і else.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669237"/>
            <a:ext cx="6528816" cy="4636694"/>
          </a:xfrm>
          <a:prstGeom prst="roundRect">
            <a:avLst>
              <a:gd name="adj" fmla="val 2739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import json, os</a:t>
            </a:r>
          </a:p>
          <a:p>
            <a:pPr algn="l">
              <a:lnSpc>
                <a:spcPts val="1680"/>
              </a:lnSpc>
              <a:buNone/>
            </a:pPr>
            <a:endParaRPr lang="uk-UA" sz="1400"/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if os.path.exists("user.json"):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with open("user.json", encoding="utf-8") as f: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user = json.load(f)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print("З поверненням,", user["name"] + "!")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else: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name = input("Привіт! Як тебе звати? ")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user = {"name": name}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with open("user.json", "w", encoding="utf-8") as f: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json.dump(user, f, ensure_ascii=False, indent=2)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print("Приємно познайомитись,", name + "!")</a:t>
            </a:r>
          </a:p>
          <a:p>
            <a:pPr algn="l">
              <a:lnSpc>
                <a:spcPts val="1680"/>
              </a:lnSpc>
              <a:buNone/>
            </a:pPr>
            <a:endParaRPr lang="uk-UA" sz="1400"/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if "тема" not in user: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user["тема"] = input("Про що любиш говорити? ")</a:t>
            </a:r>
          </a:p>
          <a:p>
            <a:pPr algn="l">
              <a:lnSpc>
                <a:spcPts val="1680"/>
              </a:lnSpc>
              <a:buNone/>
            </a:pPr>
            <a:endParaRPr lang="uk-UA" sz="1400"/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with open("user.json", "w", encoding="utf-8") as f: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json.dump(user, f, ensure_ascii=False, indent=2)</a:t>
            </a:r>
          </a:p>
          <a:p>
            <a:pPr algn="l">
              <a:lnSpc>
                <a:spcPts val="1680"/>
              </a:lnSpc>
              <a:buNone/>
            </a:pPr>
            <a:endParaRPr lang="uk-UA" sz="1400"/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print("АІДА: Пам'ятаю, ти любиш", user["тема"])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7674864" y="1669237"/>
            <a:ext cx="3663696" cy="1292047"/>
          </a:xfrm>
          <a:prstGeom prst="roundRect">
            <a:avLst>
              <a:gd name="adj" fmla="val 9829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7857744" y="1820113"/>
            <a:ext cx="3297936" cy="107259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Рядки без відступу: вони поза if і else, і працюють в обох випадках. Запусти двічі. Другого разу про тему вже не спитають.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786302"/>
          </a:xfrm>
          <a:prstGeom prst="roundRect">
            <a:avLst>
              <a:gd name="adj" fmla="val 737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Питання: Скільки разів ми бачились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Картка вже росте. Питаю, чи може вона запам'ятати число, а не слово.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125980"/>
            <a:ext cx="6949440" cy="172890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Як порахувати те, що відбувається в різних запусках програми?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Де це число має лежати між запусками?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З якого числа лічильник почне, коли його ще немає?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958916"/>
          </a:xfrm>
          <a:prstGeom prst="roundRect">
            <a:avLst>
              <a:gd name="adj" fmla="val 468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Число, яке переживає закриття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Один рядок у картці — і помічник знає, скільки разів ви бачились.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125980"/>
            <a:ext cx="6949440" cy="25388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user.get("runs", 0) — «дай значення, а якщо поля немає, дай нуль»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user["runs"] = user.get("runs", 0) + 1 — на одиницю більше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Число в JSON пишеться без лапок: 3, а не "3"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Рядок має стояти ВИЩЕ за json.dump, інакше зміна не збережеться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4815688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911700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5131156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У картках, створених до цього блоку, поля «runs» немає —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і саме тому .get із нулем, а не квадратні дужки. Стара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картка має продовжити працювати, а не впасти з KeyError.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6146825"/>
          </a:xfrm>
          <a:prstGeom prst="roundRect">
            <a:avLst>
              <a:gd name="adj" fmla="val 4545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Набираємо: лічильник у картці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1048512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Це весь hello.py цілком. Нове — два рядки: лічильник над json.dump і друк у самому кінці.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669237"/>
            <a:ext cx="6102096" cy="4546168"/>
          </a:xfrm>
          <a:prstGeom prst="roundRect">
            <a:avLst>
              <a:gd name="adj" fmla="val 2794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import json, os</a:t>
            </a:r>
          </a:p>
          <a:p>
            <a:pPr algn="l">
              <a:lnSpc>
                <a:spcPts val="1495"/>
              </a:lnSpc>
              <a:buNone/>
            </a:pPr>
            <a:endParaRPr lang="uk-UA" sz="1300"/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if os.path.exists("user.json"):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with open("user.json", encoding="utf-8") as f: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user = json.load(f)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print("З поверненням,", user["name"] + "!")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else: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name = input("Привіт! Як тебе звати? ")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user = {"name": name}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with open("user.json", "w", encoding="utf-8") as f: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json.dump(user, f, ensure_ascii=False, indent=2)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print("Приємно познайомитись,", name + "!")</a:t>
            </a:r>
          </a:p>
          <a:p>
            <a:pPr algn="l">
              <a:lnSpc>
                <a:spcPts val="1495"/>
              </a:lnSpc>
              <a:buNone/>
            </a:pPr>
            <a:endParaRPr lang="uk-UA" sz="1300"/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if "тема" not in user: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user["тема"] = input("Про що любиш говорити? ")</a:t>
            </a:r>
          </a:p>
          <a:p>
            <a:pPr algn="l">
              <a:lnSpc>
                <a:spcPts val="1495"/>
              </a:lnSpc>
              <a:buNone/>
            </a:pPr>
            <a:endParaRPr lang="uk-UA" sz="1300"/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user["runs"] = user.get("runs", 0) + 1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with open("user.json", "w", encoding="utf-8") as f: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json.dump(user, f, ensure_ascii=False, indent=2)</a:t>
            </a:r>
          </a:p>
          <a:p>
            <a:pPr algn="l">
              <a:lnSpc>
                <a:spcPts val="1495"/>
              </a:lnSpc>
              <a:buNone/>
            </a:pPr>
            <a:endParaRPr lang="uk-UA" sz="1300"/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print("АІДА: Пам'ятаю, ти любиш", user["тема"])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print("АІДА: Запусків разом:", user["runs"])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7248144" y="1669237"/>
            <a:ext cx="4090416" cy="1044473"/>
          </a:xfrm>
          <a:prstGeom prst="roundRect">
            <a:avLst>
              <a:gd name="adj" fmla="val 12159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7431024" y="1820113"/>
            <a:ext cx="3724656" cy="82501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Обидва рядки без відступу — вони поза if і else. Запусти тричі поспіль: число має бути 1, потім 2, потім 3.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462604"/>
          </a:xfrm>
          <a:prstGeom prst="roundRect">
            <a:avLst>
              <a:gd name="adj" fmla="val 806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Питання: Скільки нотаток у файлі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Повертаємось до нотаток. Питаю, як порахувати те, що вже записано.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125980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Як порахувати рядки в зошиті, не переписуючи їх?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в тексті означає невидимий знак кінця рядка?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 можна порізати довгий текст на шматки?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4854092"/>
          </a:xfrm>
          <a:prstGeom prst="roundRect">
            <a:avLst>
              <a:gd name="adj" fmla="val 575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split і len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Один рядок ріже текст на список, другий питає, скільки в ньому шматків.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668551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f.read() віддає весь файл одним довгим рядком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".split("\n") ріже його по знаку кінця рядка й віддає список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len(список) каже, скільки в ньому елементів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Кожна нотатка кінчається \n, тому останній шматок — порожній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710864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3806876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026332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Саме тому в кінці стоїть мінус один. Три нотатки дають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чотири шматки: три рядки й порожнє місце після останнього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переносу. Порахуйте на пальцях — це видно одразу.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6240780"/>
          </a:xfrm>
          <a:prstGeom prst="roundRect">
            <a:avLst>
              <a:gd name="adj" fmla="val 4477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Набираємо: лічильник нотаток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1048512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Це весь notes.py цілком. Нове — чотири рядки в самому кінці, під тим, що друкує нотатки.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669237"/>
            <a:ext cx="10485120" cy="3782873"/>
          </a:xfrm>
          <a:prstGeom prst="roundRect">
            <a:avLst>
              <a:gd name="adj" fmla="val 3357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text = input("Нотатка: ")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if text == "стоп":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with open("notes.txt", "a", encoding="utf-8") as f: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    f.write(text + "\n")</a:t>
            </a:r>
          </a:p>
          <a:p>
            <a:pPr algn="l">
              <a:lnSpc>
                <a:spcPts val="1920"/>
              </a:lnSpc>
              <a:buNone/>
            </a:pPr>
            <a:endParaRPr lang="uk-UA" sz="1600"/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with open("notes.txt", "r", encoding="utf-8") as f: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print(f.read())</a:t>
            </a:r>
          </a:p>
          <a:p>
            <a:pPr algn="l">
              <a:lnSpc>
                <a:spcPts val="1920"/>
              </a:lnSpc>
              <a:buNone/>
            </a:pPr>
            <a:endParaRPr lang="uk-UA" sz="1600"/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with open("notes.txt", "r", encoding="utf-8") as f: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lines = f.read().split("\n")</a:t>
            </a:r>
          </a:p>
          <a:p>
            <a:pPr algn="l">
              <a:lnSpc>
                <a:spcPts val="1920"/>
              </a:lnSpc>
              <a:buNone/>
            </a:pPr>
            <a:endParaRPr lang="uk-UA" sz="1600"/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print("Нотаток у файлі:", len(lines) - 1)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5602986"/>
            <a:ext cx="10485120" cy="742036"/>
          </a:xfrm>
          <a:prstGeom prst="roundRect">
            <a:avLst>
              <a:gd name="adj" fmla="val 17115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5753862"/>
            <a:ext cx="10119360" cy="5774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У split саме \n — зворотна коса й буква n, усередині лапок.</a:t>
            </a:r>
          </a:p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Мінус один обов'язковий: останній шматок після переносу порожній.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748583"/>
          </a:xfrm>
          <a:prstGeom prst="roundRect">
            <a:avLst>
              <a:gd name="adj" fmla="val 7453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Питання: Команда «очисти»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Останній запасний блок. Питаю, як стерти нотатки навмисно, а не випадково.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411959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Коли режим «w» із його стиранням — саме те, що треба?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Як зробити, щоб слово-команда не потрапило в нотатки?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Чим «вийти з циклу» відрізняється від «пропустити цей раз»?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634533"/>
          </a:xfrm>
          <a:prstGeom prst="roundRect">
            <a:avLst>
              <a:gd name="adj" fmla="val 495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continue і чистий аркуш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Слово continue пропускає решту кола. Режим «w» — стирає файл навмисне.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125980"/>
            <a:ext cx="6949440" cy="22144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continue — «далі не роби, почни цикл спочатку»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break виходить із циклу, continue лишається в ньому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Режим «w» стирає файл; f.write("") лишає його порожнім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Без continue слово «очисти» лягло б у нотатки як звичайний рядок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4491304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587316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806772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Порядок перевірок у циклі той самий, що на уроці 2: спершу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«стоп», потім «очисти», і тільки потім звичайний запис.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Перевірка, поставлена після запису, не спрацює ніколи.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6024067"/>
          </a:xfrm>
          <a:prstGeom prst="roundRect">
            <a:avLst>
              <a:gd name="adj" fmla="val 4638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Набираємо: «очисти»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1048512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Це весь notes.py цілком. Нове — блок «очисти» в циклі: під «стоп», над записом.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669237"/>
            <a:ext cx="6848246" cy="4423410"/>
          </a:xfrm>
          <a:prstGeom prst="roundRect">
            <a:avLst>
              <a:gd name="adj" fmla="val 2871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text = input("Нотатка: ")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if text == "стоп":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if text == "очисти":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with open("notes.txt", "w", encoding="utf-8") as f: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    f.write("")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print("Нотатки стерто.")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continue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with open("notes.txt", "a", encoding="utf-8") as f: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f.write(text + "\n")</a:t>
            </a:r>
          </a:p>
          <a:p>
            <a:pPr algn="l">
              <a:lnSpc>
                <a:spcPts val="1680"/>
              </a:lnSpc>
              <a:buNone/>
            </a:pPr>
            <a:endParaRPr lang="uk-UA" sz="1400"/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with open("notes.txt", "r", encoding="utf-8") as f: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print(f.read())</a:t>
            </a:r>
          </a:p>
          <a:p>
            <a:pPr algn="l">
              <a:lnSpc>
                <a:spcPts val="1680"/>
              </a:lnSpc>
              <a:buNone/>
            </a:pPr>
            <a:endParaRPr lang="uk-UA" sz="1400"/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with open("notes.txt", "r", encoding="utf-8") as f: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lines = f.read().split("\n")</a:t>
            </a:r>
          </a:p>
          <a:p>
            <a:pPr algn="l">
              <a:lnSpc>
                <a:spcPts val="1680"/>
              </a:lnSpc>
              <a:buNone/>
            </a:pPr>
            <a:endParaRPr lang="uk-UA" sz="1400"/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print("Нотаток у файлі:", len(lines) - 1)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7994294" y="1669237"/>
            <a:ext cx="3344266" cy="1292047"/>
          </a:xfrm>
          <a:prstGeom prst="roundRect">
            <a:avLst>
              <a:gd name="adj" fmla="val 9829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8177174" y="1820113"/>
            <a:ext cx="2978506" cy="107259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Відступи: if — чотири пробіли, усе всередині нього — вісім і дванадцять. Режим саме "w": тут ми стираємо навмисне.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Уроки">
  <a:themeElements>
    <a:clrScheme name="Уроки">
      <a:dk1>
        <a:srgbClr val="1B1A17"/>
      </a:dk1>
      <a:lt1>
        <a:srgbClr val="FFFFFF"/>
      </a:lt1>
      <a:dk2>
        <a:srgbClr val="2B2823"/>
      </a:dk2>
      <a:lt2>
        <a:srgbClr val="F1EFE8"/>
      </a:lt2>
      <a:accent1>
        <a:srgbClr val="14513C"/>
      </a:accent1>
      <a:accent2>
        <a:srgbClr val="B9862F"/>
      </a:accent2>
      <a:accent3>
        <a:srgbClr val="9E4A3A"/>
      </a:accent3>
      <a:accent4>
        <a:srgbClr val="6C6860"/>
      </a:accent4>
      <a:accent5>
        <a:srgbClr val="E9EFE9"/>
      </a:accent5>
      <a:accent6>
        <a:srgbClr val="FFF6E3"/>
      </a:accent6>
      <a:hlink>
        <a:srgbClr val="14513C"/>
      </a:hlink>
      <a:folHlink>
        <a:srgbClr val="6C6860"/>
      </a:folHlink>
    </a:clrScheme>
    <a:fontScheme name="Уроки">
      <a:majorFont>
        <a:latin typeface="Onest"/>
        <a:ea typeface=""/>
        <a:cs typeface=""/>
      </a:majorFont>
      <a:minorFont>
        <a:latin typeface="Onest"/>
        <a:ea typeface=""/>
        <a:cs typeface=""/>
      </a:minorFont>
    </a:fontScheme>
    <a:fmtScheme name="Уроки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11244</Words>
  <Application>Microsoft Macintosh PowerPoint</Application>
  <PresentationFormat>Widescreen</PresentationFormat>
  <Paragraphs>1204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Arial</vt:lpstr>
      <vt:lpstr>Courier New</vt:lpstr>
      <vt:lpstr>Onest</vt:lpstr>
      <vt:lpstr>Уроки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Дмитро Штефан</cp:lastModifiedBy>
  <cp:revision>2</cp:revision>
  <dcterms:modified xsi:type="dcterms:W3CDTF">2026-10-18T16:23:43Z</dcterms:modified>
</cp:coreProperties>
</file>

<file path=docProps/core0.xml><?xml version="1.0" encoding="utf-8"?>
<cp:coreProperties xmlns:cp="http://schemas.openxmlformats.org/package/2006/metadata/core-properties" xmlns:dc="http://purl.org/dc/elements/1.1/" xmlns:xsi="http://www.w3.org/2001/XMLSchema-instance">
  <dc:title>Асистент із пам'яттю</dc:title>
  <dc:subject>Перший помічник: слова, логіка, пам'ять · AI Assistant: створення помічника</dc:subject>
</cp:coreProperties>
</file>