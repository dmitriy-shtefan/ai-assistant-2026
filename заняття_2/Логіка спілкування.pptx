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перекличка і план</a:t>
            </a:r>
          </a:p>
          <a:p>
            <a:endParaRPr lang="uk-UA" sz="1200" dirty="0"/>
          </a:p>
          <a:p>
            <a:r>
              <a:rPr lang="uk-UA" sz="1200" dirty="0"/>
              <a:t>Цей слайд висить на екрані, поки я роблю перекличку. Група читає план сама —</a:t>
            </a:r>
          </a:p>
          <a:p>
            <a:r>
              <a:rPr lang="uk-UA" sz="1200" dirty="0"/>
              <a:t>мені говорити нічого не треба, і п'ять хвилин не пропадають.</a:t>
            </a:r>
          </a:p>
          <a:p>
            <a:endParaRPr lang="uk-UA" sz="1200" dirty="0"/>
          </a:p>
          <a:p>
            <a:r>
              <a:rPr lang="uk-UA" sz="1200" dirty="0"/>
              <a:t>Коли перекличка скінчилась, починаю з поломки, на якій закінчився урок 1.</a:t>
            </a:r>
          </a:p>
          <a:p>
            <a:r>
              <a:rPr lang="uk-UA" sz="1200" dirty="0"/>
              <a:t>Прошу когось запустити свого помічника й написати «Стоп» з великої літери. Не</a:t>
            </a:r>
          </a:p>
          <a:p>
            <a:r>
              <a:rPr lang="uk-UA" sz="1200" dirty="0"/>
              <a:t>спрацює. Пишемо «стоп» — спрацьовує. Питаю групу: чому?</a:t>
            </a:r>
          </a:p>
          <a:p>
            <a:endParaRPr lang="uk-UA" sz="1200" dirty="0"/>
          </a:p>
          <a:p>
            <a:r>
              <a:rPr lang="uk-UA" sz="1200" dirty="0"/>
              <a:t>Витягую відповідь: == порівнює букву в букву. Велика «С» і мала «с» — різні</a:t>
            </a:r>
          </a:p>
          <a:p>
            <a:r>
              <a:rPr lang="uk-UA" sz="1200" dirty="0"/>
              <a:t>букви, а «стоп!» з окликом — це вже інший рядок. Наш помічник не дурний, він</a:t>
            </a:r>
          </a:p>
          <a:p>
            <a:r>
              <a:rPr lang="uk-UA" sz="1200" dirty="0"/>
              <a:t>надто точний.</a:t>
            </a:r>
          </a:p>
          <a:p>
            <a:endParaRPr lang="uk-UA" sz="1200" dirty="0"/>
          </a:p>
          <a:p>
            <a:r>
              <a:rPr lang="uk-UA" sz="1200" dirty="0"/>
              <a:t>Друга поломка з того самого уроку: він розуміє рівно дві фрази. Усе інше йде в</a:t>
            </a:r>
          </a:p>
          <a:p>
            <a:r>
              <a:rPr lang="uk-UA" sz="1200" dirty="0"/>
              <a:t>else, тобто «я ще вчуся». Це чесно, але для помічника мало.</a:t>
            </a:r>
          </a:p>
          <a:p>
            <a:endParaRPr lang="uk-UA" sz="1200" dirty="0"/>
          </a:p>
          <a:p>
            <a:r>
              <a:rPr lang="uk-UA" sz="1200" dirty="0"/>
              <a:t>Як влаштована пара, кажу одразу, бо це знімає половину питань: шість</a:t>
            </a:r>
          </a:p>
          <a:p>
            <a:r>
              <a:rPr lang="uk-UA" sz="1200" dirty="0"/>
              <a:t>однакових кроків. Спершу я показую на телевізорі й пояснюю — усі дивляться,</a:t>
            </a:r>
          </a:p>
          <a:p>
            <a:r>
              <a:rPr lang="uk-UA" sz="1200" dirty="0"/>
              <a:t>ніхто нічого не набирає. Потім на екрані з'являється те, що треба набрати, —</a:t>
            </a:r>
          </a:p>
          <a:p>
            <a:r>
              <a:rPr lang="uk-UA" sz="1200" dirty="0"/>
              <a:t>і набирають усі. Вигадувати нічого не треба, усе буде на екрані.</a:t>
            </a:r>
          </a:p>
          <a:p>
            <a:endParaRPr lang="uk-UA" sz="1200" dirty="0"/>
          </a:p>
          <a:p>
            <a:r>
              <a:rPr lang="uk-UA" sz="1200" dirty="0"/>
              <a:t>Кажу, чого сьогодні НЕ буде, щоб зняти питання: справжнього ChatGPT ще немає,</a:t>
            </a:r>
          </a:p>
          <a:p>
            <a:r>
              <a:rPr lang="uk-UA" sz="1200" dirty="0"/>
              <a:t>він з'явиться на уроці 4. Сьогодні помічник розумний рівно настільки, наскільки</a:t>
            </a:r>
          </a:p>
          <a:p>
            <a:r>
              <a:rPr lang="uk-UA" sz="1200" dirty="0"/>
              <a:t>ми його напишемо, — і це корисно побачити на власні очі, перш ніж підключати</a:t>
            </a:r>
          </a:p>
          <a:p>
            <a:r>
              <a:rPr lang="uk-UA" sz="1200" dirty="0"/>
              <a:t>чужий розум.</a:t>
            </a:r>
          </a:p>
          <a:p>
            <a:endParaRPr lang="uk-UA" sz="1200" dirty="0"/>
          </a:p>
          <a:p>
            <a:r>
              <a:rPr lang="uk-UA" sz="1200" dirty="0"/>
              <a:t>Обіцяю результат уроку вголос: наприкінці помічник відповідатиме на десяток</a:t>
            </a:r>
          </a:p>
          <a:p>
            <a:r>
              <a:rPr lang="uk-UA" sz="1200" dirty="0"/>
              <a:t>різних формулювань одного питання, а не на одну точну фразу. Файл сьогодні</a:t>
            </a:r>
          </a:p>
          <a:p>
            <a:r>
              <a:rPr lang="uk-UA" sz="1200" dirty="0"/>
              <a:t>один на весь урок і називається assistant2.py — просимо не видаляти вчорашній</a:t>
            </a:r>
          </a:p>
          <a:p>
            <a:r>
              <a:rPr lang="uk-UA" sz="1200" dirty="0"/>
              <a:t>assistant.py, він ще знадобиться.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Перше, що група робить руками сьогодні. Програма коротка навмисно: головне тут</a:t>
            </a:r>
          </a:p>
          <a:p>
            <a:r>
              <a:rPr lang="uk-UA" sz="1200" dirty="0"/>
              <a:t>не обсяг, а те, щоб кожен побачив, як три різні написання дають одну відповідь.</a:t>
            </a:r>
          </a:p>
          <a:p>
            <a:endParaRPr lang="uk-UA" sz="1200" dirty="0"/>
          </a:p>
          <a:p>
            <a:r>
              <a:rPr lang="uk-UA" sz="1200" dirty="0"/>
              <a:t>Диктую вголос порядок: створити новий файл assistant2.py у тій самій папці, де</a:t>
            </a:r>
          </a:p>
          <a:p>
            <a:r>
              <a:rPr lang="uk-UA" sz="1200" dirty="0"/>
              <a:t>лежить учорашній assistant.py, набрати вісім рядків з екрана згори вниз,</a:t>
            </a:r>
          </a:p>
          <a:p>
            <a:r>
              <a:rPr lang="uk-UA" sz="1200" dirty="0"/>
              <a:t>зберегти, запустити. Вчорашній файл не чіпаємо й не видаляємо.</a:t>
            </a:r>
          </a:p>
          <a:p>
            <a:endParaRPr lang="uk-UA" sz="1200" dirty="0"/>
          </a:p>
          <a:p>
            <a:r>
              <a:rPr lang="uk-UA" sz="1200" dirty="0"/>
              <a:t>Проговорюю три місця, на яких губляться всі: .lower() пишеться одразу після</a:t>
            </a:r>
          </a:p>
          <a:p>
            <a:r>
              <a:rPr lang="uk-UA" sz="1200" dirty="0"/>
              <a:t>input(...) через крапку, у тому самому рядку; двокрапка в кінці if, elif і</a:t>
            </a:r>
          </a:p>
          <a:p>
            <a:r>
              <a:rPr lang="uk-UA" sz="1200" dirty="0"/>
              <a:t>else обов'язкова; усередині кожної гілки — чотири пробіли зсуву.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у гілці нічого не друкується — забули чотири пробіли, і Python лає</a:t>
            </a:r>
          </a:p>
          <a:p>
            <a:r>
              <a:rPr lang="uk-UA" sz="1200" dirty="0"/>
              <a:t>    IndentationError;</a:t>
            </a:r>
          </a:p>
          <a:p>
            <a:r>
              <a:rPr lang="uk-UA" sz="1200" dirty="0"/>
              <a:t>    SyntaxError на рядку з if — забули двокрапку;</a:t>
            </a:r>
          </a:p>
          <a:p>
            <a:r>
              <a:rPr lang="uk-UA" sz="1200" dirty="0"/>
              <a:t>    програма мовчить на всі фрази — написали навпаки, if text in "жарт";</a:t>
            </a:r>
          </a:p>
          <a:p>
            <a:r>
              <a:rPr lang="uk-UA" sz="1200" dirty="0"/>
              <a:t>    відповідає тільки на маленькі букви — .lower() загубився або стоїть</a:t>
            </a:r>
          </a:p>
          <a:p>
            <a:r>
              <a:rPr lang="uk-UA" sz="1200" dirty="0"/>
              <a:t>    окремим рядком без text = ;</a:t>
            </a:r>
          </a:p>
          <a:p>
            <a:r>
              <a:rPr lang="uk-UA" sz="1200" dirty="0"/>
              <a:t>    файл зберігся як assistant2.py.txt.</a:t>
            </a:r>
          </a:p>
          <a:p>
            <a:endParaRPr lang="uk-UA" sz="1200" dirty="0"/>
          </a:p>
          <a:p>
            <a:r>
              <a:rPr lang="uk-UA" sz="1200" dirty="0"/>
              <a:t>Найважливіший рядок для розмови — третій запуск. Прошу підняти руки тих, у</a:t>
            </a:r>
          </a:p>
          <a:p>
            <a:r>
              <a:rPr lang="uk-UA" sz="1200" dirty="0"/>
              <a:t>кого «а жарт якийсь є?» спрацювало. Питаю: ми ж не писали такої фрази — чому</a:t>
            </a:r>
          </a:p>
          <a:p>
            <a:r>
              <a:rPr lang="uk-UA" sz="1200" dirty="0"/>
              <a:t>воно зрозуміло? Бо всередині є «жарт».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перед else ще одну гілку, ось ці два рядки:</a:t>
            </a:r>
          </a:p>
          <a:p>
            <a:endParaRPr lang="uk-UA" sz="1200" dirty="0"/>
          </a:p>
          <a:p>
            <a:r>
              <a:rPr lang="uk-UA" sz="1200" dirty="0"/>
              <a:t>    elif "погод" in text:</a:t>
            </a:r>
          </a:p>
          <a:p>
            <a:r>
              <a:rPr lang="uk-UA" sz="1200" dirty="0"/>
              <a:t>        print("АІДА: Вікна не бачу, але вір у сонце!")</a:t>
            </a:r>
          </a:p>
          <a:p>
            <a:endParaRPr lang="uk-UA" sz="1200" dirty="0"/>
          </a:p>
          <a:p>
            <a:r>
              <a:rPr lang="uk-UA" sz="1200" dirty="0"/>
              <a:t>Це рівно та сама конструкція, і на наступному слайді вона знадобиться.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assistant2.py</a:t>
            </a:r>
          </a:p>
          <a:p>
            <a:r>
              <a:rPr lang="uk-UA" sz="1200" dirty="0"/>
              <a:t>Ти: жарт</a:t>
            </a:r>
          </a:p>
          <a:p>
            <a:r>
              <a:rPr lang="uk-UA" sz="1200" dirty="0"/>
              <a:t>АІДА: Чому робот пішов спати? Розрядився.</a:t>
            </a:r>
          </a:p>
          <a:p>
            <a:endParaRPr lang="uk-UA" sz="1200" dirty="0"/>
          </a:p>
          <a:p>
            <a:r>
              <a:rPr lang="uk-UA" sz="1200" dirty="0"/>
              <a:t>$ python assistant2.py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Чому робот пішов спати? Розрядився.</a:t>
            </a:r>
          </a:p>
          <a:p>
            <a:endParaRPr lang="uk-UA" sz="1200" dirty="0"/>
          </a:p>
          <a:p>
            <a:r>
              <a:rPr lang="uk-UA" sz="1200" dirty="0"/>
              <a:t>$ python assistant2.py</a:t>
            </a:r>
          </a:p>
          <a:p>
            <a:r>
              <a:rPr lang="uk-UA" sz="1200" dirty="0"/>
              <a:t>Ти: а жарт якийсь є?</a:t>
            </a:r>
          </a:p>
          <a:p>
            <a:r>
              <a:rPr lang="uk-UA" sz="1200" dirty="0"/>
              <a:t>АІДА: Чому робот пішов спати? Розрядився.</a:t>
            </a:r>
          </a:p>
          <a:p>
            <a:endParaRPr lang="uk-UA" sz="1200" dirty="0"/>
          </a:p>
          <a:p>
            <a:r>
              <a:rPr lang="uk-UA" sz="1200" dirty="0"/>
              <a:t>Усі три фрази дали ту саму відповідь — саме цього ми й домагались.</a:t>
            </a:r>
          </a:p>
          <a:p>
            <a:r>
              <a:rPr lang="uk-UA" sz="1200" dirty="0"/>
              <a:t>На «Привіт!» з великої літери й окликом програма теж вітається.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Головний блок уроку. Саме тут з'являється ідея, на якій триматиметься весь</a:t>
            </a:r>
          </a:p>
          <a:p>
            <a:r>
              <a:rPr lang="uk-UA" sz="1200" dirty="0"/>
              <a:t>курс: розділити розуміння і відповідь.</a:t>
            </a:r>
          </a:p>
          <a:p>
            <a:endParaRPr lang="uk-UA" sz="1200" dirty="0"/>
          </a:p>
          <a:p>
            <a:r>
              <a:rPr lang="uk-UA" sz="1200" dirty="0"/>
              <a:t>Кажу так: досі кожна гілка if і впізнавала фразу, і одразу друкувала. Поки</a:t>
            </a:r>
          </a:p>
          <a:p>
            <a:r>
              <a:rPr lang="uk-UA" sz="1200" dirty="0"/>
              <a:t>гілок дві, це терпимо. Коли їх стане двадцять, у циклі буде каша. Тому</a:t>
            </a:r>
          </a:p>
          <a:p>
            <a:r>
              <a:rPr lang="uk-UA" sz="1200" dirty="0"/>
              <a:t>виносимо впізнавання в окрему функцію, а друк лишаємо циклу.</a:t>
            </a:r>
          </a:p>
          <a:p>
            <a:endParaRPr lang="uk-UA" sz="1200" dirty="0"/>
          </a:p>
          <a:p>
            <a:r>
              <a:rPr lang="uk-UA" sz="1200" dirty="0"/>
              <a:t>Розбираю на телевізорі рядок за рядком, набираючи наживо.</a:t>
            </a:r>
          </a:p>
          <a:p>
            <a:endParaRPr lang="uk-UA" sz="1200" dirty="0"/>
          </a:p>
          <a:p>
            <a:r>
              <a:rPr lang="uk-UA" sz="1200" dirty="0"/>
              <a:t>def analyze(text): — оголошуємо функцію на ім'я analyze, яка приймає один</a:t>
            </a:r>
          </a:p>
          <a:p>
            <a:r>
              <a:rPr lang="uk-UA" sz="1200" dirty="0"/>
              <a:t>аргумент. Слово text у дужках — це назва коробки всередині функції; те, що ми</a:t>
            </a:r>
          </a:p>
          <a:p>
            <a:r>
              <a:rPr lang="uk-UA" sz="1200" dirty="0"/>
              <a:t>передамо при виклику, потрапить у неї.</a:t>
            </a:r>
          </a:p>
          <a:p>
            <a:endParaRPr lang="uk-UA" sz="1200" dirty="0"/>
          </a:p>
          <a:p>
            <a:r>
              <a:rPr lang="uk-UA" sz="1200" dirty="0"/>
              <a:t>text = text.lower() — робимо все малими одразу на вході. Далі по функції про</a:t>
            </a:r>
          </a:p>
          <a:p>
            <a:r>
              <a:rPr lang="uk-UA" sz="1200" dirty="0"/>
              <a:t>регістр можна не думати.</a:t>
            </a:r>
          </a:p>
          <a:p>
            <a:endParaRPr lang="uk-UA" sz="1200" dirty="0"/>
          </a:p>
          <a:p>
            <a:r>
              <a:rPr lang="uk-UA" sz="1200" dirty="0"/>
              <a:t>Далі перевірки. Кожна закінчується return: функція віддає рядок-назву теми і</a:t>
            </a:r>
          </a:p>
          <a:p>
            <a:r>
              <a:rPr lang="uk-UA" sz="1200" dirty="0"/>
              <a:t>на цьому ЗАВЕРШУЄТЬСЯ. Наголошую: після return нічого нижче не виконається.</a:t>
            </a:r>
          </a:p>
          <a:p>
            <a:r>
              <a:rPr lang="uk-UA" sz="1200" dirty="0"/>
              <a:t>Саме тому тут не потрібні elif — return сам обриває.</a:t>
            </a:r>
          </a:p>
          <a:p>
            <a:endParaRPr lang="uk-UA" sz="1200" dirty="0"/>
          </a:p>
          <a:p>
            <a:r>
              <a:rPr lang="uk-UA" sz="1200" dirty="0"/>
              <a:t>Рядок про час показує ще один інструмент: or. «Якщо є час АБО є годин» — бо</a:t>
            </a:r>
          </a:p>
          <a:p>
            <a:r>
              <a:rPr lang="uk-UA" sz="1200" dirty="0"/>
              <a:t>питають і «котра година», і «який зараз час». Ставлю групі питання: яким ще</a:t>
            </a:r>
          </a:p>
          <a:p>
            <a:r>
              <a:rPr lang="uk-UA" sz="1200" dirty="0"/>
              <a:t>словом питають про час? Відповіді беру вголос, найкраще додамо в код.</a:t>
            </a:r>
          </a:p>
          <a:p>
            <a:endParaRPr lang="uk-UA" sz="1200" dirty="0"/>
          </a:p>
          <a:p>
            <a:r>
              <a:rPr lang="uk-UA" sz="1200" dirty="0"/>
              <a:t>Останній return «невідомо» — сітка безпеки. Без нього функція мовчки повернула</a:t>
            </a:r>
          </a:p>
          <a:p>
            <a:r>
              <a:rPr lang="uk-UA" sz="1200" dirty="0"/>
              <a:t>б None, і програма зламалась би пізніше й у зовсім іншому місці.</a:t>
            </a:r>
          </a:p>
          <a:p>
            <a:endParaRPr lang="uk-UA" sz="1200" dirty="0"/>
          </a:p>
          <a:p>
            <a:r>
              <a:rPr lang="uk-UA" sz="1200" dirty="0"/>
              <a:t>Показую виклик окремо: print(analyze("Розкажи жарт")) друкує «жарт». Кажу, що</a:t>
            </a:r>
          </a:p>
          <a:p>
            <a:r>
              <a:rPr lang="uk-UA" sz="1200" dirty="0"/>
              <a:t>функцію зручно перевіряти саме так, без циклу.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набираємо: сама функція і два print, якими ми її перевіримо.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Найважливіша практика уроку: тут кожен уперше пише власну функцію. Сім хвилин</a:t>
            </a:r>
          </a:p>
          <a:p>
            <a:r>
              <a:rPr lang="uk-UA" sz="1200" dirty="0"/>
              <a:t>на дванадцять рядків — нормально, бо половина часу піде на відступи.</a:t>
            </a:r>
          </a:p>
          <a:p>
            <a:endParaRPr lang="uk-UA" sz="1200" dirty="0"/>
          </a:p>
          <a:p>
            <a:r>
              <a:rPr lang="uk-UA" sz="1200" dirty="0"/>
              <a:t>Диктую вголос: старий вміст файла зітерти повністю, набрати дванадцять рядків</a:t>
            </a:r>
          </a:p>
          <a:p>
            <a:r>
              <a:rPr lang="uk-UA" sz="1200" dirty="0"/>
              <a:t>з екрана. Функція вгорі, два print — унизу, між ними порожній рядок.</a:t>
            </a:r>
          </a:p>
          <a:p>
            <a:endParaRPr lang="uk-UA" sz="1200" dirty="0"/>
          </a:p>
          <a:p>
            <a:r>
              <a:rPr lang="uk-UA" sz="1200" dirty="0"/>
              <a:t>Одразу кажу, чому стираємо, інакше це читається як «набирали дарма»: вісім</a:t>
            </a:r>
          </a:p>
          <a:p>
            <a:r>
              <a:rPr lang="uk-UA" sz="1200" dirty="0"/>
              <a:t>рядків блоку 1 були пробою на .lower() та in, і вони своє показали. Далі ми</a:t>
            </a:r>
          </a:p>
          <a:p>
            <a:r>
              <a:rPr lang="uk-UA" sz="1200" dirty="0"/>
              <a:t>пишемо помічника набіло, і з цієї хвилини файл тільки росте — жоден</a:t>
            </a:r>
          </a:p>
          <a:p>
            <a:r>
              <a:rPr lang="uk-UA" sz="1200" dirty="0"/>
              <a:t>наступний блок нічого не стиратиме, лише дописуватиме знизу.</a:t>
            </a:r>
          </a:p>
          <a:p>
            <a:endParaRPr lang="uk-UA" sz="1200" dirty="0"/>
          </a:p>
          <a:p>
            <a:r>
              <a:rPr lang="uk-UA" sz="1200" dirty="0"/>
              <a:t>Проговорюю три речі, на яких губляться всі:</a:t>
            </a:r>
          </a:p>
          <a:p>
            <a:r>
              <a:rPr lang="uk-UA" sz="1200" dirty="0"/>
              <a:t>    двокрапка в кінці def analyze(text): і в кінці кожного if;</a:t>
            </a:r>
          </a:p>
          <a:p>
            <a:r>
              <a:rPr lang="uk-UA" sz="1200" dirty="0"/>
              <a:t>    чотири пробіли всередині функції, вісім — усередині if;</a:t>
            </a:r>
          </a:p>
          <a:p>
            <a:r>
              <a:rPr lang="uk-UA" sz="1200" dirty="0"/>
              <a:t>    рядки print починаються з самого краю, без жодного відступу — вони поза</a:t>
            </a:r>
          </a:p>
          <a:p>
            <a:r>
              <a:rPr lang="uk-UA" sz="1200" dirty="0"/>
              <a:t>    функцією.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надрукувалось None — у гілці немає return або він зсунутий не туди;</a:t>
            </a:r>
          </a:p>
          <a:p>
            <a:r>
              <a:rPr lang="uk-UA" sz="1200" dirty="0"/>
              <a:t>    IndentationError — зсув зробили табуляцією або нерівно;</a:t>
            </a:r>
          </a:p>
          <a:p>
            <a:r>
              <a:rPr lang="uk-UA" sz="1200" dirty="0"/>
              <a:t>    NameError: analyze — два print опинились вище за def;</a:t>
            </a:r>
          </a:p>
          <a:p>
            <a:r>
              <a:rPr lang="uk-UA" sz="1200" dirty="0"/>
              <a:t>    друкується &lt;function analyze at 0x...&gt; — викликали analyze без дужок;</a:t>
            </a:r>
          </a:p>
          <a:p>
            <a:r>
              <a:rPr lang="uk-UA" sz="1200" dirty="0"/>
              <a:t>    жодного слова на екрані — забули зберегти файл перед запуском.</a:t>
            </a:r>
          </a:p>
          <a:p>
            <a:endParaRPr lang="uk-UA" sz="1200" dirty="0"/>
          </a:p>
          <a:p>
            <a:r>
              <a:rPr lang="uk-UA" sz="1200" dirty="0"/>
              <a:t>Кожну помилку читаю вголос разом з дитиною: Python пише назву й номер рядка,</a:t>
            </a:r>
          </a:p>
          <a:p>
            <a:r>
              <a:rPr lang="uk-UA" sz="1200" dirty="0"/>
              <a:t>і корисно привчати дивитись саме туди.</a:t>
            </a:r>
          </a:p>
          <a:p>
            <a:endParaRPr lang="uk-UA" sz="1200" dirty="0"/>
          </a:p>
          <a:p>
            <a:r>
              <a:rPr lang="uk-UA" sz="1200" dirty="0"/>
              <a:t>Коли в когось запрацювало, прошу вголос прочитати другий рядок виводу й</a:t>
            </a:r>
          </a:p>
          <a:p>
            <a:r>
              <a:rPr lang="uk-UA" sz="1200" dirty="0"/>
              <a:t>пояснити групі, чому там «невідомо», а не порожньо. Відповідь одна: остання</a:t>
            </a:r>
          </a:p>
          <a:p>
            <a:r>
              <a:rPr lang="uk-UA" sz="1200" dirty="0"/>
              <a:t>сітка безпеки спрацювала.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третій рядок перевірки, ось цей:</a:t>
            </a:r>
          </a:p>
          <a:p>
            <a:endParaRPr lang="uk-UA" sz="1200" dirty="0"/>
          </a:p>
          <a:p>
            <a:r>
              <a:rPr lang="uk-UA" sz="1200" dirty="0"/>
              <a:t>    print(analyze("котра година"))</a:t>
            </a:r>
          </a:p>
          <a:p>
            <a:endParaRPr lang="uk-UA" sz="1200" dirty="0"/>
          </a:p>
          <a:p>
            <a:r>
              <a:rPr lang="uk-UA" sz="1200" dirty="0"/>
              <a:t>Має надрукувати «час». Це готова перевірка того, що or у п'ятому рядку</a:t>
            </a:r>
          </a:p>
          <a:p>
            <a:r>
              <a:rPr lang="uk-UA" sz="1200" dirty="0"/>
              <a:t>справді працює.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assistant2.py</a:t>
            </a:r>
          </a:p>
          <a:p>
            <a:endParaRPr lang="uk-UA" sz="1200" dirty="0"/>
          </a:p>
          <a:p>
            <a:r>
              <a:rPr lang="uk-UA" sz="1200" dirty="0"/>
              <a:t>жарт</a:t>
            </a:r>
          </a:p>
          <a:p>
            <a:r>
              <a:rPr lang="uk-UA" sz="1200" dirty="0"/>
              <a:t>невідомо</a:t>
            </a:r>
          </a:p>
          <a:p>
            <a:endParaRPr lang="uk-UA" sz="1200" dirty="0"/>
          </a:p>
          <a:p>
            <a:r>
              <a:rPr lang="uk-UA" sz="1200" dirty="0"/>
              <a:t>Два слова, кожне з нового рядка. Це не відповідь помічника, а назва</a:t>
            </a:r>
          </a:p>
          <a:p>
            <a:r>
              <a:rPr lang="uk-UA" sz="1200" dirty="0"/>
              <a:t>теми — саме те, що повертає функція.</a:t>
            </a:r>
          </a:p>
          <a:p>
            <a:endParaRPr lang="uk-UA" sz="1200" dirty="0"/>
          </a:p>
          <a:p>
            <a:r>
              <a:rPr lang="uk-UA" sz="1200" dirty="0"/>
              <a:t>Якщо надрукувалось None — у тій гілці загубився return.</a:t>
            </a:r>
          </a:p>
          <a:p>
            <a:r>
              <a:rPr lang="uk-UA" sz="1200" dirty="0"/>
              <a:t>Якщо NameError: analyze — функція стоїть нижче за виклик, а Python</a:t>
            </a:r>
          </a:p>
          <a:p>
            <a:r>
              <a:rPr lang="uk-UA" sz="1200" dirty="0"/>
              <a:t>читає файл згори вниз.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словником. Питання підводять до самої ідеї «ключ —</a:t>
            </a:r>
          </a:p>
          <a:p>
            <a:r>
              <a:rPr lang="uk-UA" sz="1200" dirty="0"/>
              <a:t>значення», і робити це краще на речах, а не на коді.</a:t>
            </a:r>
          </a:p>
          <a:p>
            <a:endParaRPr lang="uk-UA" sz="1200" dirty="0"/>
          </a:p>
          <a:p>
            <a:r>
              <a:rPr lang="uk-UA" sz="1200" dirty="0"/>
              <a:t>ЧИМ НЕЗРУЧНИЙ СПИСОК. Нагадую вчорашній ANSWERS: там відповіді лежали за</a:t>
            </a:r>
          </a:p>
          <a:p>
            <a:r>
              <a:rPr lang="uk-UA" sz="1200" dirty="0"/>
              <a:t>номерами, і брали ми випадкову. А тепер треба взяти саме ту, що про час.</a:t>
            </a:r>
          </a:p>
          <a:p>
            <a:r>
              <a:rPr lang="uk-UA" sz="1200" dirty="0"/>
              <a:t>Питаю: як ти скажеш програмі, котра з них про час? Відповідь «третя» дітей не</a:t>
            </a:r>
          </a:p>
          <a:p>
            <a:r>
              <a:rPr lang="uk-UA" sz="1200" dirty="0"/>
              <a:t>влаштовує вже самих — номер доводиться пам'ятати.</a:t>
            </a:r>
          </a:p>
          <a:p>
            <a:endParaRPr lang="uk-UA" sz="1200" dirty="0"/>
          </a:p>
          <a:p>
            <a:r>
              <a:rPr lang="uk-UA" sz="1200" dirty="0"/>
              <a:t>ШАФА З ШУХЛЯДАМИ. Найкращий образ для словника, і його краще почути від них.</a:t>
            </a:r>
          </a:p>
          <a:p>
            <a:r>
              <a:rPr lang="uk-UA" sz="1200" dirty="0"/>
              <a:t>Питаю, як мама каже, де лежать шкарпетки: «у другій шухляді» чи «в шухляді зі</a:t>
            </a:r>
          </a:p>
          <a:p>
            <a:r>
              <a:rPr lang="uk-UA" sz="1200" dirty="0"/>
              <a:t>шкарпетками». Смішно й точно.</a:t>
            </a:r>
          </a:p>
          <a:p>
            <a:endParaRPr lang="uk-UA" sz="1200" dirty="0"/>
          </a:p>
          <a:p>
            <a:r>
              <a:rPr lang="uk-UA" sz="1200" dirty="0"/>
              <a:t>ЧОГО В ШАФІ НЕМАЄ. Питання про помилку, і воно потрібне до того, як помилка</a:t>
            </a:r>
          </a:p>
          <a:p>
            <a:r>
              <a:rPr lang="uk-UA" sz="1200" dirty="0"/>
              <a:t>з'явиться на екрані. Кажуть «нічого не буде» або «зламається». Кажу: зламається</a:t>
            </a:r>
          </a:p>
          <a:p>
            <a:r>
              <a:rPr lang="uk-UA" sz="1200" dirty="0"/>
              <a:t>з іменем KeyError, і зараз ми зробимо так, щоб не ламалось.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 про структуру даних, і його варто подати як полегшення, а не як нову</a:t>
            </a:r>
          </a:p>
          <a:p>
            <a:r>
              <a:rPr lang="uk-UA" sz="1200" dirty="0"/>
              <a:t>складність.</a:t>
            </a:r>
          </a:p>
          <a:p>
            <a:endParaRPr lang="uk-UA" sz="1200" dirty="0"/>
          </a:p>
          <a:p>
            <a:r>
              <a:rPr lang="uk-UA" sz="1200" dirty="0"/>
              <a:t>Кажу: уяви, що тем стало двадцять. У циклі буде двадцять elif, кожен на два</a:t>
            </a:r>
          </a:p>
          <a:p>
            <a:r>
              <a:rPr lang="uk-UA" sz="1200" dirty="0"/>
              <a:t>рядки, — сорок рядків, у яких неможливо знайти потрібний. Тому відповіді</a:t>
            </a:r>
          </a:p>
          <a:p>
            <a:r>
              <a:rPr lang="uk-UA" sz="1200" dirty="0"/>
              <a:t>переїжджають у словник.</a:t>
            </a:r>
          </a:p>
          <a:p>
            <a:endParaRPr lang="uk-UA" sz="1200" dirty="0"/>
          </a:p>
          <a:p>
            <a:r>
              <a:rPr lang="uk-UA" sz="1200" dirty="0"/>
              <a:t>Пояснюю словник на образі шафи: список — це полиця, де речі лежать за</a:t>
            </a:r>
          </a:p>
          <a:p>
            <a:r>
              <a:rPr lang="uk-UA" sz="1200" dirty="0"/>
              <a:t>номерами; словник — шафа з підписаними шухлядами. Щоб дістати річ, називаєш не</a:t>
            </a:r>
          </a:p>
          <a:p>
            <a:r>
              <a:rPr lang="uk-UA" sz="1200" dirty="0"/>
              <a:t>номер, а підпис. Питаю групу: а що станеться, якщо назвати підпис, якого на</a:t>
            </a:r>
          </a:p>
          <a:p>
            <a:r>
              <a:rPr lang="uk-UA" sz="1200" dirty="0"/>
              <a:t>шафі немає? Відповідь витягую самі — нічого не дістанеш, буде помилка.</a:t>
            </a:r>
          </a:p>
          <a:p>
            <a:endParaRPr lang="uk-UA" sz="1200" dirty="0"/>
          </a:p>
          <a:p>
            <a:r>
              <a:rPr lang="uk-UA" sz="1200" dirty="0"/>
              <a:t>Синтаксис розбираю на телевізорі по деталях, бо він новий. Фігурні дужки — це</a:t>
            </a:r>
          </a:p>
          <a:p>
            <a:r>
              <a:rPr lang="uk-UA" sz="1200" dirty="0"/>
              <a:t>словник (квадратні були б списком). Усередині пари «ключ: значення», між</a:t>
            </a:r>
          </a:p>
          <a:p>
            <a:r>
              <a:rPr lang="uk-UA" sz="1200" dirty="0"/>
              <a:t>парами кома. Ключ у нас рядок — назва теми. Значення — теж рядок, сама</a:t>
            </a:r>
          </a:p>
          <a:p>
            <a:r>
              <a:rPr lang="uk-UA" sz="1200" dirty="0"/>
              <a:t>відповідь. Кома після останньої пари дозволена, і її корисно ставити: додати</a:t>
            </a:r>
          </a:p>
          <a:p>
            <a:r>
              <a:rPr lang="uk-UA" sz="1200" dirty="0"/>
              <a:t>нову тему стане на один рух простіше.</a:t>
            </a:r>
          </a:p>
          <a:p>
            <a:endParaRPr lang="uk-UA" sz="1200" dirty="0"/>
          </a:p>
          <a:p>
            <a:r>
              <a:rPr lang="uk-UA" sz="1200" dirty="0"/>
              <a:t>Діставання: ANSWERS["жарт"] — квадратні дужки й ключ у лапках. Наголошую:</a:t>
            </a:r>
          </a:p>
          <a:p>
            <a:r>
              <a:rPr lang="uk-UA" sz="1200" dirty="0"/>
              <a:t>дужки квадратні, хоч словник і у фігурних. Це головне джерело помилок.</a:t>
            </a:r>
          </a:p>
          <a:p>
            <a:endParaRPr lang="uk-UA" sz="1200" dirty="0"/>
          </a:p>
          <a:p>
            <a:r>
              <a:rPr lang="uk-UA" sz="1200" dirty="0"/>
              <a:t>Обов'язково показую поломку живцем: набираю ANSWERS["сон"] і отримую KeyError.</a:t>
            </a:r>
          </a:p>
          <a:p>
            <a:r>
              <a:rPr lang="uk-UA" sz="1200" dirty="0"/>
              <a:t>І одразу кажу, чому в analyze останнім рядком стоїть return "невідомо": тема</a:t>
            </a:r>
          </a:p>
          <a:p>
            <a:r>
              <a:rPr lang="uk-UA" sz="1200" dirty="0"/>
              <a:t>«невідомо» є і в словнику, тож помічник ніколи не попросить полицю, якої</a:t>
            </a:r>
          </a:p>
          <a:p>
            <a:r>
              <a:rPr lang="uk-UA" sz="1200" dirty="0"/>
              <a:t>немає. Це найголовніше речення блоку — ключі словника мусять точно збігатися</a:t>
            </a:r>
          </a:p>
          <a:p>
            <a:r>
              <a:rPr lang="uk-UA" sz="1200" dirty="0"/>
              <a:t>з тим, що повертає analyze.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набираємо: словник і цикл, у якому помічник нарешті</a:t>
            </a:r>
          </a:p>
          <a:p>
            <a:r>
              <a:rPr lang="uk-UA" sz="1200" dirty="0"/>
              <a:t>заговорить.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Тут помічник уперше за урок заговорить, тому це найприємніші сім хвилин пари.</a:t>
            </a:r>
          </a:p>
          <a:p>
            <a:endParaRPr lang="uk-UA" sz="1200" dirty="0"/>
          </a:p>
          <a:p>
            <a:r>
              <a:rPr lang="uk-UA" sz="1200" dirty="0"/>
              <a:t>Диктую порядок: два рядки print знизу файла зітерти, набрати на їхнє місце</a:t>
            </a:r>
          </a:p>
          <a:p>
            <a:r>
              <a:rPr lang="uk-UA" sz="1200" dirty="0"/>
              <a:t>дванадцять рядків з екрана. Функція analyze лишається на місці, вгорі — її</a:t>
            </a:r>
          </a:p>
          <a:p>
            <a:r>
              <a:rPr lang="uk-UA" sz="1200" dirty="0"/>
              <a:t>чіпати не треба.</a:t>
            </a:r>
          </a:p>
          <a:p>
            <a:endParaRPr lang="uk-UA" sz="1200" dirty="0"/>
          </a:p>
          <a:p>
            <a:r>
              <a:rPr lang="uk-UA" sz="1200" dirty="0"/>
              <a:t>Проговорюю вголос, поки набирають:</a:t>
            </a:r>
          </a:p>
          <a:p>
            <a:r>
              <a:rPr lang="uk-UA" sz="1200" dirty="0"/>
              <a:t>    словник у ФІГУРНИХ дужках, а дістаємо з нього КВАДРАТНИМИ;</a:t>
            </a:r>
          </a:p>
          <a:p>
            <a:r>
              <a:rPr lang="uk-UA" sz="1200" dirty="0"/>
              <a:t>    між парами кома, після останньої — теж можна;</a:t>
            </a:r>
          </a:p>
          <a:p>
            <a:r>
              <a:rPr lang="uk-UA" sz="1200" dirty="0"/>
              <a:t>    рядок while True: починається від краю, без відступу;</a:t>
            </a:r>
          </a:p>
          <a:p>
            <a:r>
              <a:rPr lang="uk-UA" sz="1200" dirty="0"/>
              <a:t>    усе, що всередині циклу, зсунуте на чотири пробіли, а print і break</a:t>
            </a:r>
          </a:p>
          <a:p>
            <a:r>
              <a:rPr lang="uk-UA" sz="1200" dirty="0"/>
              <a:t>    усередині if — на вісім.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KeyError: 'час' — у словнику написали «години» або «часу», а analyze</a:t>
            </a:r>
          </a:p>
          <a:p>
            <a:r>
              <a:rPr lang="uk-UA" sz="1200" dirty="0"/>
              <a:t>    віддає «час»; це поломка номер один уроку, звіряємо буква в букву;</a:t>
            </a:r>
          </a:p>
          <a:p>
            <a:r>
              <a:rPr lang="uk-UA" sz="1200" dirty="0"/>
              <a:t>    SyntaxError на рядку з } — забули кому в кінці попередньої пари;</a:t>
            </a:r>
          </a:p>
          <a:p>
            <a:r>
              <a:rPr lang="uk-UA" sz="1200" dirty="0"/>
              <a:t>    програма не закривається на «стоп» — загубився break;</a:t>
            </a:r>
          </a:p>
          <a:p>
            <a:r>
              <a:rPr lang="uk-UA" sz="1200" dirty="0"/>
              <a:t>    друкується сама тема, а не відповідь — забули ANSWERS[...] навколо</a:t>
            </a:r>
          </a:p>
          <a:p>
            <a:r>
              <a:rPr lang="uk-UA" sz="1200" dirty="0"/>
              <a:t>    analyze(text);</a:t>
            </a:r>
          </a:p>
          <a:p>
            <a:r>
              <a:rPr lang="uk-UA" sz="1200" dirty="0"/>
              <a:t>    NameError: analyze — функцію випадково зітерли разом із print.</a:t>
            </a:r>
          </a:p>
          <a:p>
            <a:endParaRPr lang="uk-UA" sz="1200" dirty="0"/>
          </a:p>
          <a:p>
            <a:r>
              <a:rPr lang="uk-UA" sz="1200" dirty="0"/>
              <a:t>Коли в когось запрацювало, прошу спробувати «яка погоду завтра» з помилкою в</a:t>
            </a:r>
          </a:p>
          <a:p>
            <a:r>
              <a:rPr lang="uk-UA" sz="1200" dirty="0"/>
              <a:t>слові — і показати сусідові, що воно однаково спрацювало. Це найкращий доказ,</a:t>
            </a:r>
          </a:p>
          <a:p>
            <a:r>
              <a:rPr lang="uk-UA" sz="1200" dirty="0"/>
              <a:t>що корінь «погод» був не примхою.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додасть п'яту тему. Два рядки в analyze, перед</a:t>
            </a:r>
          </a:p>
          <a:p>
            <a:r>
              <a:rPr lang="uk-UA" sz="1200" dirty="0"/>
              <a:t>останнім return:</a:t>
            </a:r>
          </a:p>
          <a:p>
            <a:endParaRPr lang="uk-UA" sz="1200" dirty="0"/>
          </a:p>
          <a:p>
            <a:r>
              <a:rPr lang="uk-UA" sz="1200" dirty="0"/>
              <a:t>    if "привіт" in text:</a:t>
            </a:r>
          </a:p>
          <a:p>
            <a:r>
              <a:rPr lang="uk-UA" sz="1200" dirty="0"/>
              <a:t>        return "привіт"</a:t>
            </a:r>
          </a:p>
          <a:p>
            <a:endParaRPr lang="uk-UA" sz="1200" dirty="0"/>
          </a:p>
          <a:p>
            <a:r>
              <a:rPr lang="uk-UA" sz="1200" dirty="0"/>
              <a:t>і один рядок у словник, після «погоди»:</a:t>
            </a:r>
          </a:p>
          <a:p>
            <a:endParaRPr lang="uk-UA" sz="1200" dirty="0"/>
          </a:p>
          <a:p>
            <a:r>
              <a:rPr lang="uk-UA" sz="1200" dirty="0"/>
              <a:t>    "привіт": "Привіт-привіт! Радий тебе чути.",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assistant2.py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Чому робот пішов спати? Розрядився.</a:t>
            </a:r>
          </a:p>
          <a:p>
            <a:r>
              <a:rPr lang="uk-UA" sz="1200" dirty="0"/>
              <a:t>Ти: котра година</a:t>
            </a:r>
          </a:p>
          <a:p>
            <a:r>
              <a:rPr lang="uk-UA" sz="1200" dirty="0"/>
              <a:t>АІДА: Годинник ще не підключив, вибач.</a:t>
            </a:r>
          </a:p>
          <a:p>
            <a:r>
              <a:rPr lang="uk-UA" sz="1200" dirty="0"/>
              <a:t>Ти: яка погоду завтра</a:t>
            </a:r>
          </a:p>
          <a:p>
            <a:r>
              <a:rPr lang="uk-UA" sz="1200" dirty="0"/>
              <a:t>АІДА: Вікна не бачу, але вір у сонце!</a:t>
            </a:r>
          </a:p>
          <a:p>
            <a:r>
              <a:rPr lang="uk-UA" sz="1200" dirty="0"/>
              <a:t>Ти: скільки років черепасі</a:t>
            </a:r>
          </a:p>
          <a:p>
            <a:r>
              <a:rPr lang="uk-UA" sz="1200" dirty="0"/>
              <a:t>АІДА: Я ще вчуся. Спитай про жарт, час чи погоду.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Помічник відповідає на будь-яке формулювання однієї теми, а «СТОП»</a:t>
            </a:r>
          </a:p>
          <a:p>
            <a:r>
              <a:rPr lang="uk-UA" sz="1200" dirty="0"/>
              <a:t>з великих літер тепер теж працює — у перевірці стоїть .lower().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хвилини, і це один із двох блоків уроку, де питання справді змінюють</a:t>
            </a:r>
          </a:p>
          <a:p>
            <a:r>
              <a:rPr lang="uk-UA" sz="1200" dirty="0"/>
              <a:t>розуміння: різниця між «лежить готове» і «рахується щоразу» — доросла думка,</a:t>
            </a:r>
          </a:p>
          <a:p>
            <a:r>
              <a:rPr lang="uk-UA" sz="1200" dirty="0"/>
              <a:t>до якої діти доходять самі за півтори хвилини.</a:t>
            </a:r>
          </a:p>
          <a:p>
            <a:endParaRPr lang="uk-UA" sz="1200" dirty="0"/>
          </a:p>
          <a:p>
            <a:r>
              <a:rPr lang="uk-UA" sz="1200" dirty="0"/>
              <a:t>ЖАРТ І ГОДИНА. Перше питання майже завжди відповідають правильно: годину</a:t>
            </a:r>
          </a:p>
          <a:p>
            <a:r>
              <a:rPr lang="uk-UA" sz="1200" dirty="0"/>
              <a:t>написати наперед не можна. Прошу пояснити чому. Відповідь: вона міняється.</a:t>
            </a:r>
          </a:p>
          <a:p>
            <a:endParaRPr lang="uk-UA" sz="1200" dirty="0"/>
          </a:p>
          <a:p>
            <a:r>
              <a:rPr lang="uk-UA" sz="1200" dirty="0"/>
              <a:t>ЧАС У СЛОВНИКУ. Найкорисніше питання. Хтось скаже: «буде показувати одне й те</a:t>
            </a:r>
          </a:p>
          <a:p>
            <a:r>
              <a:rPr lang="uk-UA" sz="1200" dirty="0"/>
              <a:t>саме». Саме так — час застигне тим, яким був у мить, коли ми писали код.</a:t>
            </a:r>
          </a:p>
          <a:p>
            <a:r>
              <a:rPr lang="uk-UA" sz="1200" dirty="0"/>
              <a:t>Прошу уявити помічника, який рік по тому каже «зараз 14:36».</a:t>
            </a:r>
          </a:p>
          <a:p>
            <a:endParaRPr lang="uk-UA" sz="1200" dirty="0"/>
          </a:p>
          <a:p>
            <a:r>
              <a:rPr lang="uk-UA" sz="1200" dirty="0"/>
              <a:t>ЗВІДКИ ЗНАЄ ГОДИНУ. Кажуть «з інтернету» — не зовсім: годинник є в самому</a:t>
            </a:r>
          </a:p>
          <a:p>
            <a:r>
              <a:rPr lang="uk-UA" sz="1200" dirty="0"/>
              <a:t>комп'ютері, і програма питає саме його. Слово datetime поки не називаю.</a:t>
            </a:r>
          </a:p>
          <a:p>
            <a:endParaRPr lang="uk-UA" sz="1200" dirty="0"/>
          </a:p>
          <a:p>
            <a:r>
              <a:rPr lang="uk-UA" sz="1200" dirty="0"/>
              <a:t>ЩО ЩЕ НЕ НАПИСАТИ НАПЕРЕД. Витягую список: погода, курс валют, скільки тобі</a:t>
            </a:r>
          </a:p>
          <a:p>
            <a:r>
              <a:rPr lang="uk-UA" sz="1200" dirty="0"/>
              <a:t>років, скільки повідомлень ти написав. Це готовий місток і в сьогоднішній</a:t>
            </a:r>
          </a:p>
          <a:p>
            <a:r>
              <a:rPr lang="uk-UA" sz="1200" dirty="0"/>
              <a:t>блок, і в урок 4, де по такі речі ми підемо в мережу.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Блок, у якому з'являється різниця між двома видами відповідей. Її корисно</a:t>
            </a:r>
          </a:p>
          <a:p>
            <a:r>
              <a:rPr lang="uk-UA" sz="1200" dirty="0"/>
              <a:t>проговорити словами, бо вона повертатиметься весь курс.</a:t>
            </a:r>
          </a:p>
          <a:p>
            <a:endParaRPr lang="uk-UA" sz="1200" dirty="0"/>
          </a:p>
          <a:p>
            <a:r>
              <a:rPr lang="uk-UA" sz="1200" dirty="0"/>
              <a:t>Перший вид — готова відповідь. Жарти ми написали заздалегідь, вони лежать у</a:t>
            </a:r>
          </a:p>
          <a:p>
            <a:r>
              <a:rPr lang="uk-UA" sz="1200" dirty="0"/>
              <a:t>списку, і random.choice бере випадковий. Помічник нічого не рахує, він дістає.</a:t>
            </a:r>
          </a:p>
          <a:p>
            <a:endParaRPr lang="uk-UA" sz="1200" dirty="0"/>
          </a:p>
          <a:p>
            <a:r>
              <a:rPr lang="uk-UA" sz="1200" dirty="0"/>
              <a:t>Другий вид — порахована відповідь. Час не можна написати наперед: поки ми</a:t>
            </a:r>
          </a:p>
          <a:p>
            <a:r>
              <a:rPr lang="uk-UA" sz="1200" dirty="0"/>
              <a:t>дописували рядок, він уже змінився. Тому питаємо годинник саме в ту мить, коли</a:t>
            </a:r>
          </a:p>
          <a:p>
            <a:r>
              <a:rPr lang="uk-UA" sz="1200" dirty="0"/>
              <a:t>спитали. Ставлю групі питання прямо: а чому б не покласти час у словник, як</a:t>
            </a:r>
          </a:p>
          <a:p>
            <a:r>
              <a:rPr lang="uk-UA" sz="1200" dirty="0"/>
              <a:t>жарт? Витягую відповідь — бо він застигне.</a:t>
            </a:r>
          </a:p>
          <a:p>
            <a:endParaRPr lang="uk-UA" sz="1200" dirty="0"/>
          </a:p>
          <a:p>
            <a:r>
              <a:rPr lang="uk-UA" sz="1200" dirty="0"/>
              <a:t>Розбираю імпорти на телевізорі. import random — цілий модуль, далі звертаємось</a:t>
            </a:r>
          </a:p>
          <a:p>
            <a:r>
              <a:rPr lang="uk-UA" sz="1200" dirty="0"/>
              <a:t>як random.choice. from datetime import datetime — «з набору datetime візьми</a:t>
            </a:r>
          </a:p>
          <a:p>
            <a:r>
              <a:rPr lang="uk-UA" sz="1200" dirty="0"/>
              <a:t>саме datetime». Другий спосіб короткий, бо звертатись доведеться часто. Обидва</a:t>
            </a:r>
          </a:p>
          <a:p>
            <a:r>
              <a:rPr lang="uk-UA" sz="1200" dirty="0"/>
              <a:t>записи діти бачитимуть у чужому коді, тому показую обидва саме тут.</a:t>
            </a:r>
          </a:p>
          <a:p>
            <a:endParaRPr lang="uk-UA" sz="1200" dirty="0"/>
          </a:p>
          <a:p>
            <a:r>
              <a:rPr lang="uk-UA" sz="1200" dirty="0"/>
              <a:t>datetime.now() віддає момент часу — і дату, і час, і секунди. Друкувати його</a:t>
            </a:r>
          </a:p>
          <a:p>
            <a:r>
              <a:rPr lang="uk-UA" sz="1200" dirty="0"/>
              <a:t>як є негарно, тому .strftime(...) робить із нього рядок за зразком: %H —</a:t>
            </a:r>
          </a:p>
          <a:p>
            <a:r>
              <a:rPr lang="uk-UA" sz="1200" dirty="0"/>
              <a:t>години, %M — хвилини. Усе, що не починається з відсотка, друкується як є, тому</a:t>
            </a:r>
          </a:p>
          <a:p>
            <a:r>
              <a:rPr lang="uk-UA" sz="1200" dirty="0"/>
              <a:t>"Зараз %H:%M" дає «Зараз 14:35». Набираю це наживо й запускаю двічі поспіль,</a:t>
            </a:r>
          </a:p>
          <a:p>
            <a:r>
              <a:rPr lang="uk-UA" sz="1200" dirty="0"/>
              <a:t>щоб було видно, що хвилини справді свої.</a:t>
            </a:r>
          </a:p>
          <a:p>
            <a:endParaRPr lang="uk-UA" sz="1200" dirty="0"/>
          </a:p>
          <a:p>
            <a:r>
              <a:rPr lang="uk-UA" sz="1200" dirty="0"/>
              <a:t>Показую одну помилку заздалегідь, бо вона дуже наочна: random.choice(JOKES[0])</a:t>
            </a:r>
          </a:p>
          <a:p>
            <a:r>
              <a:rPr lang="uk-UA" sz="1200" dirty="0"/>
              <a:t>віддає випадкову БУКВУ, бо choice узяв рядок замість списку.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набираємо: два імпорти, список жартів і функція answer,</a:t>
            </a:r>
          </a:p>
          <a:p>
            <a:r>
              <a:rPr lang="uk-UA" sz="1200" dirty="0"/>
              <a:t>яка перетворює тему на відповідь.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Тут збирається все, що було в блоках 2, 3 і 4. Найтонше місце — не код, а те,</a:t>
            </a:r>
          </a:p>
          <a:p>
            <a:r>
              <a:rPr lang="uk-UA" sz="1200" dirty="0"/>
              <a:t>куди його класти, тому порядок диктую повільно й двічі.</a:t>
            </a:r>
          </a:p>
          <a:p>
            <a:endParaRPr lang="uk-UA" sz="1200" dirty="0"/>
          </a:p>
          <a:p>
            <a:r>
              <a:rPr lang="uk-UA" sz="1200" dirty="0"/>
              <a:t>Кажу так: два import — найперші рядки файла, вище за def analyze. Список JOKES</a:t>
            </a:r>
          </a:p>
          <a:p>
            <a:r>
              <a:rPr lang="uk-UA" sz="1200" dirty="0"/>
              <a:t>і функція answer — між словником ANSWERS і рядком while True. Показую пальцем</a:t>
            </a:r>
          </a:p>
          <a:p>
            <a:r>
              <a:rPr lang="uk-UA" sz="1200" dirty="0"/>
              <a:t>на телевізорі, де саме це місце, бо половина покладе answer у самий низ і</a:t>
            </a:r>
          </a:p>
          <a:p>
            <a:r>
              <a:rPr lang="uk-UA" sz="1200" dirty="0"/>
              <a:t>отримає NameError.</a:t>
            </a:r>
          </a:p>
          <a:p>
            <a:endParaRPr lang="uk-UA" sz="1200" dirty="0"/>
          </a:p>
          <a:p>
            <a:r>
              <a:rPr lang="uk-UA" sz="1200" dirty="0"/>
              <a:t>Потім називаю рядок, який треба переписати: останній рядок циклу. Було</a:t>
            </a:r>
          </a:p>
          <a:p>
            <a:r>
              <a:rPr lang="uk-UA" sz="1200" dirty="0"/>
              <a:t>ANSWERS[analyze(text)], стало answer(analyze(text)). Читаю його вголос словами</a:t>
            </a:r>
          </a:p>
          <a:p>
            <a:r>
              <a:rPr lang="uk-UA" sz="1200" dirty="0"/>
              <a:t>— «візьми текст, визнач тему, за темою склади відповідь, надрукуй» — і прошу</a:t>
            </a:r>
          </a:p>
          <a:p>
            <a:r>
              <a:rPr lang="uk-UA" sz="1200" dirty="0"/>
              <a:t>когось повторити.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NameError: answer — функцію answer поклали в самий низ файла, нижче за</a:t>
            </a:r>
          </a:p>
          <a:p>
            <a:r>
              <a:rPr lang="uk-UA" sz="1200" dirty="0"/>
              <a:t>    while True; вище за словник вона стояти може, Python шукає ANSWERS у мить</a:t>
            </a:r>
          </a:p>
          <a:p>
            <a:r>
              <a:rPr lang="uk-UA" sz="1200" dirty="0"/>
              <a:t>    виклику, а не в мить оголошення;</a:t>
            </a:r>
          </a:p>
          <a:p>
            <a:r>
              <a:rPr lang="uk-UA" sz="1200" dirty="0"/>
              <a:t>    NameError: datetime — забули рядок from datetime import datetime;</a:t>
            </a:r>
          </a:p>
          <a:p>
            <a:r>
              <a:rPr lang="uk-UA" sz="1200" dirty="0"/>
              <a:t>    AttributeError: module 'datetime' has no attribute 'now' — написали</a:t>
            </a:r>
          </a:p>
          <a:p>
            <a:r>
              <a:rPr lang="uk-UA" sz="1200" dirty="0"/>
              <a:t>    import datetime замість from datetime import datetime;</a:t>
            </a:r>
          </a:p>
          <a:p>
            <a:r>
              <a:rPr lang="uk-UA" sz="1200" dirty="0"/>
              <a:t>    KeyError — у циклі лишився старий ANSWERS[analyze(text)] і тема «час»</a:t>
            </a:r>
          </a:p>
          <a:p>
            <a:r>
              <a:rPr lang="uk-UA" sz="1200" dirty="0"/>
              <a:t>    шукається в словнику;</a:t>
            </a:r>
          </a:p>
          <a:p>
            <a:r>
              <a:rPr lang="uk-UA" sz="1200" dirty="0"/>
              <a:t>    друкується випадкова буква — написали random.choice(JOKES[0]);</a:t>
            </a:r>
          </a:p>
          <a:p>
            <a:r>
              <a:rPr lang="uk-UA" sz="1200" dirty="0"/>
              <a:t>    час не міняється — поклали datetime.now() у змінну вгорі файла, а не</a:t>
            </a:r>
          </a:p>
          <a:p>
            <a:r>
              <a:rPr lang="uk-UA" sz="1200" dirty="0"/>
              <a:t>    всередині функції;</a:t>
            </a:r>
          </a:p>
          <a:p>
            <a:r>
              <a:rPr lang="uk-UA" sz="1200" dirty="0"/>
              <a:t>    IndentationError — рядки answer зсунули всередину analyze.</a:t>
            </a:r>
          </a:p>
          <a:p>
            <a:endParaRPr lang="uk-UA" sz="1200" dirty="0"/>
          </a:p>
          <a:p>
            <a:r>
              <a:rPr lang="uk-UA" sz="1200" dirty="0"/>
              <a:t>Коли запрацювало, прошу перевірити порядок перевірок: питаю групу, що було б,</a:t>
            </a:r>
          </a:p>
          <a:p>
            <a:r>
              <a:rPr lang="uk-UA" sz="1200" dirty="0"/>
              <a:t>якби return ANSWERS[tema] стояв першим рядком функції. Правильна відповідь —</a:t>
            </a:r>
          </a:p>
          <a:p>
            <a:r>
              <a:rPr lang="uk-UA" sz="1200" dirty="0"/>
              <a:t>до часу й жарту справа не дійшла б ніколи.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в answer, перед останнім рядком, ще дві</a:t>
            </a:r>
          </a:p>
          <a:p>
            <a:r>
              <a:rPr lang="uk-UA" sz="1200" dirty="0"/>
              <a:t>стрічки:</a:t>
            </a:r>
          </a:p>
          <a:p>
            <a:endParaRPr lang="uk-UA" sz="1200" dirty="0"/>
          </a:p>
          <a:p>
            <a:r>
              <a:rPr lang="uk-UA" sz="1200" dirty="0"/>
              <a:t>    if tema == "погода":</a:t>
            </a:r>
          </a:p>
          <a:p>
            <a:r>
              <a:rPr lang="uk-UA" sz="1200" dirty="0"/>
              <a:t>        return random.choice(["Сонце!", "Здається, дощ.", "Вітряно."])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assistant2.py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АІДА: Я ще вчуся. Спитай про жарт, час чи погоду.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Мій улюблений формат — .txt, він не сперечається.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Робот пішов спати — розрядився.</a:t>
            </a:r>
          </a:p>
          <a:p>
            <a:r>
              <a:rPr lang="uk-UA" sz="1200" dirty="0"/>
              <a:t>Ти: котра година</a:t>
            </a:r>
          </a:p>
          <a:p>
            <a:r>
              <a:rPr lang="uk-UA" sz="1200" dirty="0"/>
              <a:t>АІДА: Зараз 14:36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Час у кожного свій — головне, щоб він збігався з годинником на стіні,</a:t>
            </a:r>
          </a:p>
          <a:p>
            <a:r>
              <a:rPr lang="uk-UA" sz="1200" dirty="0"/>
              <a:t>а два жарти поспіль інколи були різні.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хвилини. Блок про характер, і питання тут не технічні, а людські — тому</a:t>
            </a:r>
          </a:p>
          <a:p>
            <a:r>
              <a:rPr lang="uk-UA" sz="1200" dirty="0"/>
              <a:t>відповідають охоче й швидко.</a:t>
            </a:r>
          </a:p>
          <a:p>
            <a:endParaRPr lang="uk-UA" sz="1200" dirty="0"/>
          </a:p>
          <a:p>
            <a:r>
              <a:rPr lang="uk-UA" sz="1200" dirty="0"/>
              <a:t>РОЗМОВА І ДОВІДКА. Кажуть: людина жартує, вітається, буває втомлена. Ловлю</a:t>
            </a:r>
          </a:p>
          <a:p>
            <a:r>
              <a:rPr lang="uk-UA" sz="1200" dirty="0"/>
              <a:t>слово «настрій», якщо прозвучало, і кажу, що зараз ми дамо його помічнику.</a:t>
            </a:r>
          </a:p>
          <a:p>
            <a:endParaRPr lang="uk-UA" sz="1200" dirty="0"/>
          </a:p>
          <a:p>
            <a:r>
              <a:rPr lang="uk-UA" sz="1200" dirty="0"/>
              <a:t>ЧИ БУВАЄ РІЗНИЙ НАСТРІЙ. Питання ні про що — і воно тут навмисно: на нього</a:t>
            </a:r>
          </a:p>
          <a:p>
            <a:r>
              <a:rPr lang="uk-UA" sz="1200" dirty="0"/>
              <a:t>відповідають усі, зокрема ті, хто мовчав на технічних. Одна піднята рука на</a:t>
            </a:r>
          </a:p>
          <a:p>
            <a:r>
              <a:rPr lang="uk-UA" sz="1200" dirty="0"/>
              <a:t>початку блоку варта більше, ніж правильна відповідь наприкінці.</a:t>
            </a:r>
          </a:p>
          <a:p>
            <a:endParaRPr lang="uk-UA" sz="1200" dirty="0"/>
          </a:p>
          <a:p>
            <a:r>
              <a:rPr lang="uk-UA" sz="1200" dirty="0"/>
              <a:t>ЯК ПОКАЗАТИ НАСТРІЙ. Тут звучить головна ідея блоку: змінити не відповіді, а</a:t>
            </a:r>
          </a:p>
          <a:p>
            <a:r>
              <a:rPr lang="uk-UA" sz="1200" dirty="0"/>
              <a:t>те, як вони починаються. Якщо хтось скаже «додати слово спереду» — це рівно</a:t>
            </a:r>
          </a:p>
          <a:p>
            <a:r>
              <a:rPr lang="uk-UA" sz="1200" dirty="0"/>
              <a:t>PREFIX, і показ стане підтвердженням.</a:t>
            </a:r>
          </a:p>
          <a:p>
            <a:endParaRPr lang="uk-UA" sz="1200" dirty="0"/>
          </a:p>
          <a:p>
            <a:r>
              <a:rPr lang="uk-UA" sz="1200" dirty="0"/>
              <a:t>ЩО ЯКЩО МІНЯТИМЕТЬСЯ ЩОРАЗУ. Питання-пастка, і воно готує найчастішу помилку</a:t>
            </a:r>
          </a:p>
          <a:p>
            <a:r>
              <a:rPr lang="uk-UA" sz="1200" dirty="0"/>
              <a:t>блоку. Відповідь: це вже не характер. Помічник, у якого настрій міняється</a:t>
            </a:r>
          </a:p>
          <a:p>
            <a:r>
              <a:rPr lang="uk-UA" sz="1200" dirty="0"/>
              <a:t>кожні три секунди, схожий не на живого, а на зламаного. Саме тому рядок з</a:t>
            </a:r>
          </a:p>
          <a:p>
            <a:r>
              <a:rPr lang="uk-UA" sz="1200" dirty="0"/>
              <a:t>жеребом стоятиме над циклом, а не в ньому.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Короткий блок із великим ефектом. Технічно тут немає нічого нового — список,</a:t>
            </a:r>
          </a:p>
          <a:p>
            <a:r>
              <a:rPr lang="uk-UA" sz="1200" dirty="0"/>
              <a:t>словник і random.choice, які вже були, — але враження від програми міняється</a:t>
            </a:r>
          </a:p>
          <a:p>
            <a:r>
              <a:rPr lang="uk-UA" sz="1200" dirty="0"/>
              <a:t>дуже сильно.</a:t>
            </a:r>
          </a:p>
          <a:p>
            <a:endParaRPr lang="uk-UA" sz="1200" dirty="0"/>
          </a:p>
          <a:p>
            <a:r>
              <a:rPr lang="uk-UA" sz="1200" dirty="0"/>
              <a:t>Пояснюю ідею: у помічника з'являється настрій, який він кидає жеребом один раз</a:t>
            </a:r>
          </a:p>
          <a:p>
            <a:r>
              <a:rPr lang="uk-UA" sz="1200" dirty="0"/>
              <a:t>на старті програми. Весь сеанс він у цьому настрої, а при наступному запуску</a:t>
            </a:r>
          </a:p>
          <a:p>
            <a:r>
              <a:rPr lang="uk-UA" sz="1200" dirty="0"/>
              <a:t>настрій може бути інший. Це найпростіший характер, який можна дати програмі.</a:t>
            </a:r>
          </a:p>
          <a:p>
            <a:endParaRPr lang="uk-UA" sz="1200" dirty="0"/>
          </a:p>
          <a:p>
            <a:r>
              <a:rPr lang="uk-UA" sz="1200" dirty="0"/>
              <a:t>Наголошую на слові «один раз» і показую обома способами. Спершу навмисно</a:t>
            </a:r>
          </a:p>
          <a:p>
            <a:r>
              <a:rPr lang="uk-UA" sz="1200" dirty="0"/>
              <a:t>неправильно: кладу рядок з random.choice усередину циклу, запускаю й пишу</a:t>
            </a:r>
          </a:p>
          <a:p>
            <a:r>
              <a:rPr lang="uk-UA" sz="1200" dirty="0"/>
              <a:t>чотири репліки поспіль. Настрій стрибає щоразу. Питаю групу: схоже це на</a:t>
            </a:r>
          </a:p>
          <a:p>
            <a:r>
              <a:rPr lang="uk-UA" sz="1200" dirty="0"/>
              <a:t>характер? Ні, схоже на нервовий зрив. Потім виношу рядок нагору й повторюю ті</a:t>
            </a:r>
          </a:p>
          <a:p>
            <a:r>
              <a:rPr lang="uk-UA" sz="1200" dirty="0"/>
              <a:t>самі чотири репліки — тепер тон один.</a:t>
            </a:r>
          </a:p>
          <a:p>
            <a:endParaRPr lang="uk-UA" sz="1200" dirty="0"/>
          </a:p>
          <a:p>
            <a:r>
              <a:rPr lang="uk-UA" sz="1200" dirty="0"/>
              <a:t>PREFIX — знову словник, тільки цього разу він переводить настрій у приставку.</a:t>
            </a:r>
          </a:p>
          <a:p>
            <a:r>
              <a:rPr lang="uk-UA" sz="1200" dirty="0"/>
              <a:t>Прошу звернути увагу, що ключі PREFIX точно збігаються зі словами у списку</a:t>
            </a:r>
          </a:p>
          <a:p>
            <a:r>
              <a:rPr lang="uk-UA" sz="1200" dirty="0"/>
              <a:t>настроїв. Якщо десь описка — KeyError, і це знову той самий урок про ключі,</a:t>
            </a:r>
          </a:p>
          <a:p>
            <a:r>
              <a:rPr lang="uk-UA" sz="1200" dirty="0"/>
              <a:t>що був у блоці 3.</a:t>
            </a:r>
          </a:p>
          <a:p>
            <a:endParaRPr lang="uk-UA" sz="1200" dirty="0"/>
          </a:p>
          <a:p>
            <a:r>
              <a:rPr lang="uk-UA" sz="1200" dirty="0"/>
              <a:t>Кажу, що приставка склеюється з відповіддю плюсом, а не комою: обидва шматки</a:t>
            </a:r>
          </a:p>
          <a:p>
            <a:r>
              <a:rPr lang="uk-UA" sz="1200" dirty="0"/>
              <a:t>рядки, і між ними не треба зайвого пробілу — він уже стоїть усередині лапок,</a:t>
            </a:r>
          </a:p>
          <a:p>
            <a:r>
              <a:rPr lang="uk-UA" sz="1200" dirty="0"/>
              <a:t>після знака оклику.</a:t>
            </a:r>
          </a:p>
          <a:p>
            <a:endParaRPr lang="uk-UA" sz="1200" dirty="0"/>
          </a:p>
          <a:p>
            <a:r>
              <a:rPr lang="uk-UA" sz="1200" dirty="0"/>
              <a:t>Місток уперед кажу вголос: на уроці 10 ми зробимо характер по-справжньому — не</a:t>
            </a:r>
          </a:p>
          <a:p>
            <a:r>
              <a:rPr lang="uk-UA" sz="1200" dirty="0"/>
              <a:t>приставкою перед відповіддю, а описом, за яким модель сама формулює всю</a:t>
            </a:r>
          </a:p>
          <a:p>
            <a:r>
              <a:rPr lang="uk-UA" sz="1200" dirty="0"/>
              <a:t>відповідь інакше.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набираємо: сім рядків над циклом і один переписаний рядок</a:t>
            </a:r>
          </a:p>
          <a:p>
            <a:r>
              <a:rPr lang="uk-UA" sz="1200" dirty="0"/>
              <a:t>усередині нього.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Найкоротший набір за урок — сім рядків, — тому більшу частину часу витрачаємо</a:t>
            </a:r>
          </a:p>
          <a:p>
            <a:r>
              <a:rPr lang="uk-UA" sz="1200" dirty="0"/>
              <a:t>на перевірку, і це правильно: саме перевіркою тут усе й пояснюється.</a:t>
            </a:r>
          </a:p>
          <a:p>
            <a:endParaRPr lang="uk-UA" sz="1200" dirty="0"/>
          </a:p>
          <a:p>
            <a:r>
              <a:rPr lang="uk-UA" sz="1200" dirty="0"/>
              <a:t>На слайді окрема програма mood.py — словник і цикл з блоку 3 плюс настрій, тож</a:t>
            </a:r>
          </a:p>
          <a:p>
            <a:r>
              <a:rPr lang="uk-UA" sz="1200" dirty="0"/>
              <a:t>видно тільки нове. Хто набирає у свій assistant2.py, кладе обидва блоки під</a:t>
            </a:r>
          </a:p>
          <a:p>
            <a:r>
              <a:rPr lang="uk-UA" sz="1200" dirty="0"/>
              <a:t>функцію answer і над рядком while True.</a:t>
            </a:r>
          </a:p>
          <a:p>
            <a:r>
              <a:rPr lang="uk-UA" sz="1200" dirty="0"/>
              <a:t>Обидва починаються від самого краю, без жодного відступу. Кажу це двічі, бо</a:t>
            </a:r>
          </a:p>
          <a:p>
            <a:r>
              <a:rPr lang="uk-UA" sz="1200" dirty="0"/>
              <a:t>відступ тут — головна поломка блоку.</a:t>
            </a:r>
          </a:p>
          <a:p>
            <a:endParaRPr lang="uk-UA" sz="1200" dirty="0"/>
          </a:p>
          <a:p>
            <a:r>
              <a:rPr lang="uk-UA" sz="1200" dirty="0"/>
              <a:t>Потім називаю рядок, який треба переписати, і читаю його вголос по шматках:</a:t>
            </a:r>
          </a:p>
          <a:p>
            <a:r>
              <a:rPr lang="uk-UA" sz="1200" dirty="0"/>
              <a:t>відкрити лапки, АІДА двокрапка пробіл, закрити лапки, плюс, PREFIX у</a:t>
            </a:r>
          </a:p>
          <a:p>
            <a:r>
              <a:rPr lang="uk-UA" sz="1200" dirty="0"/>
              <a:t>квадратних дужках із MOOD, плюс, відповідь від analyze від text: у mood.py це ANSWERS[...], у своєму</a:t>
            </a:r>
          </a:p>
          <a:p>
            <a:r>
              <a:rPr lang="uk-UA" sz="1200" dirty="0"/>
              <a:t>assistant2.py — answer(...).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приставка стрибає на кожну репліку — рядок MOOD опинився всередині циклу</a:t>
            </a:r>
          </a:p>
          <a:p>
            <a:r>
              <a:rPr lang="uk-UA" sz="1200" dirty="0"/>
              <a:t>    з відступом у чотири пробіли; прошу дитину самій сказати, що не так;</a:t>
            </a:r>
          </a:p>
          <a:p>
            <a:r>
              <a:rPr lang="uk-UA" sz="1200" dirty="0"/>
              <a:t>    KeyError: 'бадьорій' — слово у списку й ключ у PREFIX написані по-різному;</a:t>
            </a:r>
          </a:p>
          <a:p>
            <a:r>
              <a:rPr lang="uk-UA" sz="1200" dirty="0"/>
              <a:t>    SyntaxError на цьому рядку — загубились лапки навколо «АІДА: », і плюс</a:t>
            </a:r>
          </a:p>
          <a:p>
            <a:r>
              <a:rPr lang="uk-UA" sz="1200" dirty="0"/>
              <a:t>    лишився без лівого шматка;</a:t>
            </a:r>
          </a:p>
          <a:p>
            <a:r>
              <a:rPr lang="uk-UA" sz="1200" dirty="0"/>
              <a:t>    два пробіли перед відповіддю — пробіл поставили і в лапках, і в приставці;</a:t>
            </a:r>
          </a:p>
          <a:p>
            <a:r>
              <a:rPr lang="uk-UA" sz="1200" dirty="0"/>
              <a:t>    NameError: MOOD — блок поклали нижче за цикл.</a:t>
            </a:r>
          </a:p>
          <a:p>
            <a:endParaRPr lang="uk-UA" sz="1200" dirty="0"/>
          </a:p>
          <a:p>
            <a:r>
              <a:rPr lang="uk-UA" sz="1200" dirty="0"/>
              <a:t>Коли запрацювало, прошу запустити програму тричі поспіль і сказати сусідові,</a:t>
            </a:r>
          </a:p>
          <a:p>
            <a:r>
              <a:rPr lang="uk-UA" sz="1200" dirty="0"/>
              <a:t>який настрій випав. Питаю всю групу: у кого з першого разу випав «сонний»?</a:t>
            </a:r>
          </a:p>
          <a:p>
            <a:r>
              <a:rPr lang="uk-UA" sz="1200" dirty="0"/>
              <a:t>Зазвичай піднімається третина рук — і це наочно показує, що жереб чесний.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додасть четвертий настрій. Слово "серйозний" у список</a:t>
            </a:r>
          </a:p>
          <a:p>
            <a:r>
              <a:rPr lang="uk-UA" sz="1200" dirty="0"/>
              <a:t>у першому рядку, після коми, і один рядок у PREFIX, перед закритою дужкою:</a:t>
            </a:r>
          </a:p>
          <a:p>
            <a:endParaRPr lang="uk-UA" sz="1200" dirty="0"/>
          </a:p>
          <a:p>
            <a:r>
              <a:rPr lang="uk-UA" sz="1200" dirty="0"/>
              <a:t>    "серйозний": "Отже. ",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mood.py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Ого! Чому робот пішов спати? Розрядився.</a:t>
            </a:r>
          </a:p>
          <a:p>
            <a:r>
              <a:rPr lang="uk-UA" sz="1200" dirty="0"/>
              <a:t>Ти: яка погода</a:t>
            </a:r>
          </a:p>
          <a:p>
            <a:r>
              <a:rPr lang="uk-UA" sz="1200" dirty="0"/>
              <a:t>АІДА: Ого! Вікна не бачу, але вір у сонце!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$ python mood.py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Мм... Чому робот пішов спати? Розрядився.</a:t>
            </a:r>
          </a:p>
          <a:p>
            <a:r>
              <a:rPr lang="uk-UA" sz="1200" dirty="0"/>
              <a:t>Ти: яка погода</a:t>
            </a:r>
          </a:p>
          <a:p>
            <a:r>
              <a:rPr lang="uk-UA" sz="1200" dirty="0"/>
              <a:t>АІДА: Мм... Вікна не бачу, але вір у сонце!</a:t>
            </a:r>
          </a:p>
          <a:p>
            <a:endParaRPr lang="uk-UA" sz="1200" dirty="0"/>
          </a:p>
          <a:p>
            <a:r>
              <a:rPr lang="uk-UA" sz="1200" dirty="0"/>
              <a:t>Головне: усередині одного запуску приставка одна й та сама, а після</a:t>
            </a:r>
          </a:p>
          <a:p>
            <a:r>
              <a:rPr lang="uk-UA" sz="1200" dirty="0"/>
              <a:t>перезапуску вона може стати іншою. Стрибає всередині запуску — рядок</a:t>
            </a:r>
          </a:p>
          <a:p>
            <a:r>
              <a:rPr lang="uk-UA" sz="1200" dirty="0"/>
              <a:t>MOOD опинився в циклі.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останнім блоком. Питання про те, що діти бачать щодня в</a:t>
            </a:r>
          </a:p>
          <a:p>
            <a:r>
              <a:rPr lang="uk-UA" sz="1200" dirty="0"/>
              <a:t>месенджерах, — і саме тому відповідають упевнено.</a:t>
            </a:r>
          </a:p>
          <a:p>
            <a:endParaRPr lang="uk-UA" sz="1200" dirty="0"/>
          </a:p>
          <a:p>
            <a:r>
              <a:rPr lang="uk-UA" sz="1200" dirty="0"/>
              <a:t>СКІЛЬКИ ЛЮДИНА ДУМАЄ. Прошу поставити мені будь-яке питання й порахувати</a:t>
            </a:r>
          </a:p>
          <a:p>
            <a:r>
              <a:rPr lang="uk-UA" sz="1200" dirty="0"/>
              <a:t>вголос, скільки я мовчу. Виходить секунда-дві. Кажу: помічник відповідає за</a:t>
            </a:r>
          </a:p>
          <a:p>
            <a:r>
              <a:rPr lang="uk-UA" sz="1200" dirty="0"/>
              <a:t>тисячну частку, і саме тому здається табличкою, а не співрозмовником.</a:t>
            </a:r>
          </a:p>
          <a:p>
            <a:endParaRPr lang="uk-UA" sz="1200" dirty="0"/>
          </a:p>
          <a:p>
            <a:r>
              <a:rPr lang="uk-UA" sz="1200" dirty="0"/>
              <a:t>ЧОМУ ЧАТ ПОКАЗУЄ «ДРУКУЄ». Найкраще питання блоку, бо відповідь у них уже є:</a:t>
            </a:r>
          </a:p>
          <a:p>
            <a:r>
              <a:rPr lang="uk-UA" sz="1200" dirty="0"/>
              <a:t>щоб ти знав, що тебе почули, і не писав удруге. Ловлю це й кажу, що зараз</a:t>
            </a:r>
          </a:p>
          <a:p>
            <a:r>
              <a:rPr lang="uk-UA" sz="1200" dirty="0"/>
              <a:t>зробимо своє «друкує» трьома крапками.</a:t>
            </a:r>
          </a:p>
          <a:p>
            <a:endParaRPr lang="uk-UA" sz="1200" dirty="0"/>
          </a:p>
          <a:p>
            <a:r>
              <a:rPr lang="uk-UA" sz="1200" dirty="0"/>
              <a:t>НАДТО ДОВГА ПАУЗА. Відповідь: почнеш нервувати, вирішиш, що зависло. Прошу</a:t>
            </a:r>
          </a:p>
          <a:p>
            <a:r>
              <a:rPr lang="uk-UA" sz="1200" dirty="0"/>
              <a:t>назвати число — скільки терпимо. Кажуть секунду-дві. Саме тому в нас три</a:t>
            </a:r>
          </a:p>
          <a:p>
            <a:r>
              <a:rPr lang="uk-UA" sz="1200" dirty="0"/>
              <a:t>крапки по 0,4 секунди, а не по дві.</a:t>
            </a:r>
          </a:p>
          <a:p>
            <a:endParaRPr lang="uk-UA" sz="1200" dirty="0"/>
          </a:p>
          <a:p>
            <a:r>
              <a:rPr lang="uk-UA" sz="1200" dirty="0"/>
              <a:t>Далі показ, і на ньому чисто технічні речі: end, flush, sleep.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Останній блок уроку — про те, що враження від програми роблять дрібниці. Він</a:t>
            </a:r>
          </a:p>
          <a:p>
            <a:r>
              <a:rPr lang="uk-UA" sz="1200" dirty="0"/>
              <a:t>короткий, і його добре ставити в кінець: діти вже втомились від логіки, а тут</a:t>
            </a:r>
          </a:p>
          <a:p>
            <a:r>
              <a:rPr lang="uk-UA" sz="1200" dirty="0"/>
              <a:t>одразу видно ефект.</a:t>
            </a:r>
          </a:p>
          <a:p>
            <a:endParaRPr lang="uk-UA" sz="1200" dirty="0"/>
          </a:p>
          <a:p>
            <a:r>
              <a:rPr lang="uk-UA" sz="1200" dirty="0"/>
              <a:t>Кажу: наш помічник відповідає миттєво, і через це відповідь читається як напис</a:t>
            </a:r>
          </a:p>
          <a:p>
            <a:r>
              <a:rPr lang="uk-UA" sz="1200" dirty="0"/>
              <a:t>на табличці. Справжні помічники показують, що вони «думають», — і ми зробимо</a:t>
            </a:r>
          </a:p>
          <a:p>
            <a:r>
              <a:rPr lang="uk-UA" sz="1200" dirty="0"/>
              <a:t>те саме дев'ятьма рядками.</a:t>
            </a:r>
          </a:p>
          <a:p>
            <a:endParaRPr lang="uk-UA" sz="1200" dirty="0"/>
          </a:p>
          <a:p>
            <a:r>
              <a:rPr lang="uk-UA" sz="1200" dirty="0"/>
              <a:t>Розбираю на телевізорі по деталях, бо тут аж три нові прийоми.</a:t>
            </a:r>
          </a:p>
          <a:p>
            <a:endParaRPr lang="uk-UA" sz="1200" dirty="0"/>
          </a:p>
          <a:p>
            <a:r>
              <a:rPr lang="uk-UA" sz="1200" dirty="0"/>
              <a:t>time.sleep(0.4) — зупиняє програму на 0.4 секунди. Число дробове, це нормально.</a:t>
            </a:r>
          </a:p>
          <a:p>
            <a:r>
              <a:rPr lang="uk-UA" sz="1200" dirty="0"/>
              <a:t>Наголошую: програма справді стоїть, нічого іншого в цей час не робить — саме</a:t>
            </a:r>
          </a:p>
          <a:p>
            <a:r>
              <a:rPr lang="uk-UA" sz="1200" dirty="0"/>
              <a:t>тому паузи мають бути короткими.</a:t>
            </a:r>
          </a:p>
          <a:p>
            <a:endParaRPr lang="uk-UA" sz="1200" dirty="0"/>
          </a:p>
          <a:p>
            <a:r>
              <a:rPr lang="uk-UA" sz="1200" dirty="0"/>
              <a:t>end="" у print — за замовчуванням print після друку переходить на новий рядок.</a:t>
            </a:r>
          </a:p>
          <a:p>
            <a:r>
              <a:rPr lang="uk-UA" sz="1200" dirty="0"/>
              <a:t>end="" каже: не переходь, друкуй далі в цьому ж рядку. Саме через це три крапки</a:t>
            </a:r>
          </a:p>
          <a:p>
            <a:r>
              <a:rPr lang="uk-UA" sz="1200" dirty="0"/>
              <a:t>лягають підряд, а не стовпчиком. Показую обидва варіанти наживо, різниця</a:t>
            </a:r>
          </a:p>
          <a:p>
            <a:r>
              <a:rPr lang="uk-UA" sz="1200" dirty="0"/>
              <a:t>видна одразу.</a:t>
            </a:r>
          </a:p>
          <a:p>
            <a:endParaRPr lang="uk-UA" sz="1200" dirty="0"/>
          </a:p>
          <a:p>
            <a:r>
              <a:rPr lang="uk-UA" sz="1200" dirty="0"/>
              <a:t>flush=True — команда «покажи вже надруковане одразу». Без нього Python може</a:t>
            </a:r>
          </a:p>
          <a:p>
            <a:r>
              <a:rPr lang="uk-UA" sz="1200" dirty="0"/>
              <a:t>притримати текст у буфері й вивалити все разом наприкінці, і вся анімація</a:t>
            </a:r>
          </a:p>
          <a:p>
            <a:r>
              <a:rPr lang="uk-UA" sz="1200" dirty="0"/>
              <a:t>зникне. Дітям кажу просто: «не збирай, показуй одразу».</a:t>
            </a:r>
          </a:p>
          <a:p>
            <a:endParaRPr lang="uk-UA" sz="1200" dirty="0"/>
          </a:p>
          <a:p>
            <a:r>
              <a:rPr lang="uk-UA" sz="1200" dirty="0"/>
              <a:t>for i in range(3): — цикл, який виконується рівно три рази. Це перший for на</a:t>
            </a:r>
          </a:p>
          <a:p>
            <a:r>
              <a:rPr lang="uk-UA" sz="1200" dirty="0"/>
              <a:t>курсі; кажу, що на відміну від while True, він сам знає, коли зупинитись.</a:t>
            </a:r>
          </a:p>
          <a:p>
            <a:endParaRPr lang="uk-UA" sz="1200" dirty="0"/>
          </a:p>
          <a:p>
            <a:r>
              <a:rPr lang="uk-UA" sz="1200" dirty="0"/>
              <a:t>Порожній print() наприкінці — переводить рядок після крапок, щоб відповідь</a:t>
            </a:r>
          </a:p>
          <a:p>
            <a:r>
              <a:rPr lang="uk-UA" sz="1200" dirty="0"/>
              <a:t>почалася з нового.</a:t>
            </a:r>
          </a:p>
          <a:p>
            <a:endParaRPr lang="uk-UA" sz="1200" dirty="0"/>
          </a:p>
          <a:p>
            <a:r>
              <a:rPr lang="uk-UA" sz="1200" dirty="0"/>
              <a:t>Питаю групу перед тим, як гортати: скільки крапок буде на екрані й чому саме</a:t>
            </a:r>
          </a:p>
          <a:p>
            <a:r>
              <a:rPr lang="uk-UA" sz="1200" dirty="0"/>
              <a:t>стільки? Наступний слайд — набираємо: функція thinking і один рядок у циклі.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Останній набір уроку, і найприємніший: ефект видно й чутно по класу одразу.</a:t>
            </a:r>
          </a:p>
          <a:p>
            <a:endParaRPr lang="uk-UA" sz="1200" dirty="0"/>
          </a:p>
          <a:p>
            <a:r>
              <a:rPr lang="uk-UA" sz="1200" dirty="0"/>
              <a:t>На слайді окрема програма thinking.py — словник і цикл з блоку 3 плюс пауза.</a:t>
            </a:r>
          </a:p>
          <a:p>
            <a:r>
              <a:rPr lang="uk-UA" sz="1200" dirty="0"/>
              <a:t>Хто набирає у свій assistant2.py, кладе рядок import time угору, поруч з</a:t>
            </a:r>
          </a:p>
          <a:p>
            <a:r>
              <a:rPr lang="uk-UA" sz="1200" dirty="0"/>
              <a:t>import random. Функція</a:t>
            </a:r>
          </a:p>
          <a:p>
            <a:r>
              <a:rPr lang="uk-UA" sz="1200" dirty="0"/>
              <a:t>thinking — під answer і над циклом while, від самого краю. Виклик thinking()</a:t>
            </a:r>
          </a:p>
          <a:p>
            <a:r>
              <a:rPr lang="uk-UA" sz="1200" dirty="0"/>
              <a:t>— усередині циклу, перед останнім print, з тим самим відступом у чотири</a:t>
            </a:r>
          </a:p>
          <a:p>
            <a:r>
              <a:rPr lang="uk-UA" sz="1200" dirty="0"/>
              <a:t>пробіли, що й у сусіднього рядка.</a:t>
            </a:r>
          </a:p>
          <a:p>
            <a:endParaRPr lang="uk-UA" sz="1200" dirty="0"/>
          </a:p>
          <a:p>
            <a:r>
              <a:rPr lang="uk-UA" sz="1200" dirty="0"/>
              <a:t>Проговорюю, поки набирають: після def thinking(): стоять порожні дужки — вона</a:t>
            </a:r>
          </a:p>
          <a:p>
            <a:r>
              <a:rPr lang="uk-UA" sz="1200" dirty="0"/>
              <a:t>нічого не приймає; усередині for два рядки, зсунуті на вісім пробілів; останній</a:t>
            </a:r>
          </a:p>
          <a:p>
            <a:r>
              <a:rPr lang="uk-UA" sz="1200" dirty="0"/>
              <a:t>print() — порожній, з чотирма пробілами, він уже поза for.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крапки стовпчиком — загубився end="" у другому print;</a:t>
            </a:r>
          </a:p>
          <a:p>
            <a:r>
              <a:rPr lang="uk-UA" sz="1200" dirty="0"/>
              <a:t>    крапки з'явились усі разом наприкінці — загубився flush=True; показую цей</a:t>
            </a:r>
          </a:p>
          <a:p>
            <a:r>
              <a:rPr lang="uk-UA" sz="1200" dirty="0"/>
              <a:t>    випадок усій групі, він найповчальніший;</a:t>
            </a:r>
          </a:p>
          <a:p>
            <a:r>
              <a:rPr lang="uk-UA" sz="1200" dirty="0"/>
              <a:t>    відповідь друкується в тому самому рядку, що й крапки — загубився</a:t>
            </a:r>
          </a:p>
          <a:p>
            <a:r>
              <a:rPr lang="uk-UA" sz="1200" dirty="0"/>
              <a:t>    порожній print() у кінці функції;</a:t>
            </a:r>
          </a:p>
          <a:p>
            <a:r>
              <a:rPr lang="uk-UA" sz="1200" dirty="0"/>
              <a:t>    NameError: time — import time поклали в самий низ файла, нижче за цикл;</a:t>
            </a:r>
          </a:p>
          <a:p>
            <a:r>
              <a:rPr lang="uk-UA" sz="1200" dirty="0"/>
              <a:t>    крапки є, а відповіді немає — thinking() написали замість останнього</a:t>
            </a:r>
          </a:p>
          <a:p>
            <a:r>
              <a:rPr lang="uk-UA" sz="1200" dirty="0"/>
              <a:t>    print, а не перед ним;</a:t>
            </a:r>
          </a:p>
          <a:p>
            <a:r>
              <a:rPr lang="uk-UA" sz="1200" dirty="0"/>
              <a:t>    пауза на пів хвилини — набрали time.sleep(4) замість 0.4.</a:t>
            </a:r>
          </a:p>
          <a:p>
            <a:endParaRPr lang="uk-UA" sz="1200" dirty="0"/>
          </a:p>
          <a:p>
            <a:r>
              <a:rPr lang="uk-UA" sz="1200" dirty="0"/>
              <a:t>Коли в усіх запрацювало, прошу двох-трьох охочих показати свого помічника</a:t>
            </a:r>
          </a:p>
          <a:p>
            <a:r>
              <a:rPr lang="uk-UA" sz="1200" dirty="0"/>
              <a:t>групі — з їхнім настроєм, їхніми жартами й темами. Це і є підсумок уроку.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набере під thinking ще одну функцію, ось цю:</a:t>
            </a:r>
          </a:p>
          <a:p>
            <a:endParaRPr lang="uk-UA" sz="1200" dirty="0"/>
          </a:p>
          <a:p>
            <a:r>
              <a:rPr lang="uk-UA" sz="1200" dirty="0"/>
              <a:t>    def slowly(text):</a:t>
            </a:r>
          </a:p>
          <a:p>
            <a:r>
              <a:rPr lang="uk-UA" sz="1200" dirty="0"/>
              <a:t>        for letter in text:</a:t>
            </a:r>
          </a:p>
          <a:p>
            <a:r>
              <a:rPr lang="uk-UA" sz="1200" dirty="0"/>
              <a:t>            print(letter, end="", flush=True)</a:t>
            </a:r>
          </a:p>
          <a:p>
            <a:r>
              <a:rPr lang="uk-UA" sz="1200" dirty="0"/>
              <a:t>            time.sleep(0.03)</a:t>
            </a:r>
          </a:p>
          <a:p>
            <a:r>
              <a:rPr lang="uk-UA" sz="1200" dirty="0"/>
              <a:t>        print()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thinking.py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думаю...</a:t>
            </a:r>
          </a:p>
          <a:p>
            <a:r>
              <a:rPr lang="uk-UA" sz="1200" dirty="0"/>
              <a:t>АІДА: Чому робот пішов спати? Розрядився.</a:t>
            </a:r>
          </a:p>
          <a:p>
            <a:r>
              <a:rPr lang="uk-UA" sz="1200" dirty="0"/>
              <a:t>Ти: яка погода</a:t>
            </a:r>
          </a:p>
          <a:p>
            <a:r>
              <a:rPr lang="uk-UA" sz="1200" dirty="0"/>
              <a:t>АІДА: думаю...</a:t>
            </a:r>
          </a:p>
          <a:p>
            <a:r>
              <a:rPr lang="uk-UA" sz="1200" dirty="0"/>
              <a:t>АІДА: Вікна не бачу, але вір у сонце!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Три крапки з'являються по одній, приблизно раз на пів секунди, і всі</a:t>
            </a:r>
          </a:p>
          <a:p>
            <a:r>
              <a:rPr lang="uk-UA" sz="1200" dirty="0"/>
              <a:t>в одному рядку. Стовпчиком — загубився end="". Разом наприкінці —</a:t>
            </a:r>
          </a:p>
          <a:p>
            <a:r>
              <a:rPr lang="uk-UA" sz="1200" dirty="0"/>
              <a:t>загубився flush=True.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читаємо вголос</a:t>
            </a:r>
          </a:p>
          <a:p>
            <a:endParaRPr lang="uk-UA" sz="1200" dirty="0"/>
          </a:p>
          <a:p>
            <a:r>
              <a:rPr lang="uk-UA" sz="1200" dirty="0"/>
              <a:t>Одна хвилина. Читаю три пункти вголос зі слайда й відпускаю групу — розбирати</a:t>
            </a:r>
          </a:p>
          <a:p>
            <a:r>
              <a:rPr lang="uk-UA" sz="1200" dirty="0"/>
              <a:t>тут нічого, усе, що потрібно, вже набрано на уроці.</a:t>
            </a:r>
          </a:p>
          <a:p>
            <a:endParaRPr lang="uk-UA" sz="1200" dirty="0"/>
          </a:p>
          <a:p>
            <a:r>
              <a:rPr lang="uk-UA" sz="1200" dirty="0"/>
              <a:t>Що кажу дослівно, щоб уложитись у хвилину:</a:t>
            </a:r>
          </a:p>
          <a:p>
            <a:endParaRPr lang="uk-UA" sz="1200" dirty="0"/>
          </a:p>
          <a:p>
            <a:r>
              <a:rPr lang="uk-UA" sz="1200" dirty="0"/>
              <a:t>«Домашнє коротке, і все воно робиться копіюванням. Перше: відкрийте</a:t>
            </a:r>
          </a:p>
          <a:p>
            <a:r>
              <a:rPr lang="uk-UA" sz="1200" dirty="0"/>
              <a:t>assistant2.py, знайдіть у функції analyze два рядки про "погод" — той, що з</a:t>
            </a:r>
          </a:p>
          <a:p>
            <a:r>
              <a:rPr lang="uk-UA" sz="1200" dirty="0"/>
              <a:t>if, і той, що з return під ним. Скопіюйте обидва нижче, і в копії замініть</a:t>
            </a:r>
          </a:p>
          <a:p>
            <a:r>
              <a:rPr lang="uk-UA" sz="1200" dirty="0"/>
              <a:t>"погод" на "музик", а слово "погода" — на "музика". Копія має стояти вище за</a:t>
            </a:r>
          </a:p>
          <a:p>
            <a:r>
              <a:rPr lang="uk-UA" sz="1200" dirty="0"/>
              <a:t>останній return, той, що з "невідомо", — його не чіпаємо взагалі.</a:t>
            </a:r>
          </a:p>
          <a:p>
            <a:endParaRPr lang="uk-UA" sz="1200" dirty="0"/>
          </a:p>
          <a:p>
            <a:r>
              <a:rPr lang="uk-UA" sz="1200" dirty="0"/>
              <a:t>Друге: у словнику ANSWERS, після пари про погоду, додайте свій рядок — у</a:t>
            </a:r>
          </a:p>
          <a:p>
            <a:r>
              <a:rPr lang="uk-UA" sz="1200" dirty="0"/>
              <a:t>лапках "музика", двокрапка, у лапках ваша відповідь, кома в кінці. Ключ має</a:t>
            </a:r>
          </a:p>
          <a:p>
            <a:r>
              <a:rPr lang="uk-UA" sz="1200" dirty="0"/>
              <a:t>бути точно "музика", буква в букву, інакше буде KeyError.</a:t>
            </a:r>
          </a:p>
          <a:p>
            <a:endParaRPr lang="uk-UA" sz="1200" dirty="0"/>
          </a:p>
          <a:p>
            <a:r>
              <a:rPr lang="uk-UA" sz="1200" dirty="0"/>
              <a:t>Третє: у списку JOKES після другого жарта поставте кому і допишіть третім</a:t>
            </a:r>
          </a:p>
          <a:p>
            <a:r>
              <a:rPr lang="uk-UA" sz="1200" dirty="0"/>
              <a:t>рядком свій жарт у лапках. Запустіть і попросіть жарт разів шість, поки не</a:t>
            </a:r>
          </a:p>
          <a:p>
            <a:r>
              <a:rPr lang="uk-UA" sz="1200" dirty="0"/>
              <a:t>побачите новий.</a:t>
            </a:r>
          </a:p>
          <a:p>
            <a:endParaRPr lang="uk-UA" sz="1200" dirty="0"/>
          </a:p>
          <a:p>
            <a:r>
              <a:rPr lang="uk-UA" sz="1200" dirty="0"/>
              <a:t>Файл assistant2.py зберігаємо, наступного разу працюємо з ним самим.»</a:t>
            </a:r>
          </a:p>
          <a:p>
            <a:endParaRPr lang="uk-UA" sz="1200" dirty="0"/>
          </a:p>
          <a:p>
            <a:r>
              <a:rPr lang="uk-UA" sz="1200" dirty="0"/>
              <a:t>Для себе: перший пункт перевіряє, чи зрозуміли функцію й return; другий —</a:t>
            </a:r>
          </a:p>
          <a:p>
            <a:r>
              <a:rPr lang="uk-UA" sz="1200" dirty="0"/>
              <a:t>збіг ключів, поломку номер один уроку; третій — кому в списку. Нічого</a:t>
            </a:r>
          </a:p>
          <a:p>
            <a:r>
              <a:rPr lang="uk-UA" sz="1200" dirty="0"/>
              <a:t>вигадувати не треба, усі три пункти роблять копіюванням уже набраних рядків.</a:t>
            </a:r>
          </a:p>
          <a:p>
            <a:endParaRPr lang="uk-UA" sz="1200" dirty="0"/>
          </a:p>
          <a:p>
            <a:r>
              <a:rPr lang="uk-UA" sz="1200" dirty="0"/>
              <a:t>Якщо хтось не встиг набрати на уроці — кажу окремо й тихо: спершу доберіть те,</a:t>
            </a:r>
          </a:p>
          <a:p>
            <a:r>
              <a:rPr lang="uk-UA" sz="1200" dirty="0"/>
              <a:t>що не встигли, з фотографії слайда, і тільки потім домашнє.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блок: іде тільки якщо лишився час. Дві хвилини питань, і всі вони про</a:t>
            </a:r>
          </a:p>
          <a:p>
            <a:r>
              <a:rPr lang="uk-UA" sz="1200" dirty="0"/>
              <a:t>словник, який діти вже набрали, — просто з іншого боку.</a:t>
            </a:r>
          </a:p>
          <a:p>
            <a:endParaRPr lang="uk-UA" sz="1200" dirty="0"/>
          </a:p>
          <a:p>
            <a:r>
              <a:rPr lang="uk-UA" sz="1200" dirty="0"/>
              <a:t>ЯК ПОРАХУВАТИ. Відповідь, якої чекаю: додавати одиницю щоразу. Хтось скаже</a:t>
            </a:r>
          </a:p>
          <a:p>
            <a:r>
              <a:rPr lang="uk-UA" sz="1200" dirty="0"/>
              <a:t>«зробити змінну» — питаю: а скільки змінних, якщо тем чотири? І ось тут</a:t>
            </a:r>
          </a:p>
          <a:p>
            <a:r>
              <a:rPr lang="uk-UA" sz="1200" dirty="0"/>
              <a:t>з'являється потрібна думка.</a:t>
            </a:r>
          </a:p>
          <a:p>
            <a:endParaRPr lang="uk-UA" sz="1200" dirty="0"/>
          </a:p>
          <a:p>
            <a:r>
              <a:rPr lang="uk-UA" sz="1200" dirty="0"/>
              <a:t>СКІЛЬКИ ЛІЧИЛЬНИКІВ. Правильна відповідь: чотири, по одному на тему. А потім</a:t>
            </a:r>
          </a:p>
          <a:p>
            <a:r>
              <a:rPr lang="uk-UA" sz="1200" dirty="0"/>
              <a:t>питаю ще раз: а якщо тем стане двадцять? Заводити двадцять змінних ніхто не</a:t>
            </a:r>
          </a:p>
          <a:p>
            <a:r>
              <a:rPr lang="uk-UA" sz="1200" dirty="0"/>
              <a:t>хоче — і словник виявляється відповіддю на їхнє ж незадоволення.</a:t>
            </a:r>
          </a:p>
          <a:p>
            <a:endParaRPr lang="uk-UA" sz="1200" dirty="0"/>
          </a:p>
          <a:p>
            <a:r>
              <a:rPr lang="uk-UA" sz="1200" dirty="0"/>
              <a:t>ЧИ МОЖЕ СЛОВНИК РОСТИ. Майже ніхто не знає, і це нормально: сьогодні словник</a:t>
            </a:r>
          </a:p>
          <a:p>
            <a:r>
              <a:rPr lang="uk-UA" sz="1200" dirty="0"/>
              <a:t>у них був сталий, з чотирма готовими рядками. Кажу, що зараз покажу порожній</a:t>
            </a:r>
          </a:p>
          <a:p>
            <a:r>
              <a:rPr lang="uk-UA" sz="1200" dirty="0"/>
              <a:t>словник, який наповнюється сам.</a:t>
            </a:r>
          </a:p>
          <a:p>
            <a:endParaRPr lang="uk-UA" sz="1200" dirty="0"/>
          </a:p>
          <a:p>
            <a:r>
              <a:rPr lang="uk-UA" sz="1200" dirty="0"/>
              <a:t>Далі показ. У бонусних блоках довше двох хвилин на питаннях не стою.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тут два кроки: порожній словник і</a:t>
            </a:r>
          </a:p>
          <a:p>
            <a:r>
              <a:rPr lang="uk-UA" sz="1200" dirty="0"/>
              <a:t>.get() із запасним значенням.</a:t>
            </a:r>
          </a:p>
          <a:p>
            <a:endParaRPr lang="uk-UA" sz="1200" dirty="0"/>
          </a:p>
          <a:p>
            <a:r>
              <a:rPr lang="uk-UA" sz="1200" dirty="0"/>
              <a:t>ПОРОЖНІЙ СЛОВНИК. Пишу на телевізорі SEEN = {} і питаю групу, що всередині.</a:t>
            </a:r>
          </a:p>
          <a:p>
            <a:r>
              <a:rPr lang="uk-UA" sz="1200" dirty="0"/>
              <a:t>Нічого. Кажу: це шафа без шухляд, і шухляди в ній з'являтимуться самі — щойно</a:t>
            </a:r>
          </a:p>
          <a:p>
            <a:r>
              <a:rPr lang="uk-UA" sz="1200" dirty="0"/>
              <a:t>знадобиться нова.</a:t>
            </a:r>
          </a:p>
          <a:p>
            <a:endParaRPr lang="uk-UA" sz="1200" dirty="0"/>
          </a:p>
          <a:p>
            <a:r>
              <a:rPr lang="uk-UA" sz="1200" dirty="0"/>
              <a:t>.GET З ДРУГИМ АРГУМЕНТОМ. Читаю вголос як речення: дай мені значення за цим</a:t>
            </a:r>
          </a:p>
          <a:p>
            <a:r>
              <a:rPr lang="uk-UA" sz="1200" dirty="0"/>
              <a:t>ключем, а якщо такого ключа немає — дай нуль. Друге число в дужках і є той</a:t>
            </a:r>
          </a:p>
          <a:p>
            <a:r>
              <a:rPr lang="uk-UA" sz="1200" dirty="0"/>
              <a:t>запасний нуль. Показую живцем обидва випадки в консолі.</a:t>
            </a:r>
          </a:p>
          <a:p>
            <a:endParaRPr lang="uk-UA" sz="1200" dirty="0"/>
          </a:p>
          <a:p>
            <a:r>
              <a:rPr lang="uk-UA" sz="1200" dirty="0"/>
              <a:t>РЯДОК ЛІЧИЛЬНИКА. Найдивніший рядок блоку, і його теж читаю справа наліво:</a:t>
            </a:r>
          </a:p>
          <a:p>
            <a:r>
              <a:rPr lang="uk-UA" sz="1200" dirty="0"/>
              <a:t>візьми те, що зараз лежить за цим ключем (або нуль), додай одиницю, поклади</a:t>
            </a:r>
          </a:p>
          <a:p>
            <a:r>
              <a:rPr lang="uk-UA" sz="1200" dirty="0"/>
              <a:t>назад за тим самим ключем. Прошу порахувати вголос, що буде після трьох</a:t>
            </a:r>
          </a:p>
          <a:p>
            <a:r>
              <a:rPr lang="uk-UA" sz="1200" dirty="0"/>
              <a:t>питань про жарт.</a:t>
            </a:r>
          </a:p>
          <a:p>
            <a:endParaRPr lang="uk-UA" sz="1200" dirty="0"/>
          </a:p>
          <a:p>
            <a:r>
              <a:rPr lang="uk-UA" sz="1200" dirty="0"/>
              <a:t>ЩО ДРУКУЄ PRINT(SEEN). Показую живцем — вивід із фігурними дужками, лапками й</a:t>
            </a:r>
          </a:p>
          <a:p>
            <a:r>
              <a:rPr lang="uk-UA" sz="1200" dirty="0"/>
              <a:t>двокрапками. Кажу заздалегідь: так і має бути, це не помилка, а словник,</a:t>
            </a:r>
          </a:p>
          <a:p>
            <a:r>
              <a:rPr lang="uk-UA" sz="1200" dirty="0"/>
              <a:t>надрукований як він є. Інакше половина групи вирішить, що щось поламалось.</a:t>
            </a:r>
          </a:p>
          <a:p>
            <a:endParaRPr lang="uk-UA" sz="1200" dirty="0"/>
          </a:p>
          <a:p>
            <a:r>
              <a:rPr lang="uk-UA" sz="1200" dirty="0"/>
              <a:t>ДЕ ЦЕ СТАВИТИ. Показую пальцем: лічильник — усередині циклу, після thinking();</a:t>
            </a:r>
          </a:p>
          <a:p>
            <a:r>
              <a:rPr lang="uk-UA" sz="1200" dirty="0"/>
              <a:t>друк словника — у прощанні, поруч із «Бувай!».</a:t>
            </a:r>
          </a:p>
          <a:p>
            <a:endParaRPr lang="uk-UA" sz="1200" dirty="0"/>
          </a:p>
          <a:p>
            <a:r>
              <a:rPr lang="uk-UA" sz="1200" dirty="0"/>
              <a:t>Наступний слайд: три шматки.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Новий файл bonus1.py — словник і цикл з блоку</a:t>
            </a:r>
          </a:p>
          <a:p>
            <a:r>
              <a:rPr lang="uk-UA" sz="1200" dirty="0"/>
              <a:t>3 плюс лічильник. Рядків мало, але вони в чотирьох різних місцях, і на слайді</a:t>
            </a:r>
          </a:p>
          <a:p>
            <a:r>
              <a:rPr lang="uk-UA" sz="1200" dirty="0"/>
              <a:t>лежить увесь файл — видно, де стоїть кожен.</a:t>
            </a:r>
          </a:p>
          <a:p>
            <a:endParaRPr lang="uk-UA" sz="1200" dirty="0"/>
          </a:p>
          <a:p>
            <a:r>
              <a:rPr lang="uk-UA" sz="1200" dirty="0"/>
              <a:t>Порядок згори вниз:</a:t>
            </a:r>
          </a:p>
          <a:p>
            <a:r>
              <a:rPr lang="uk-UA" sz="1200" dirty="0"/>
              <a:t>    SEEN = {} — під словником ANSWERS, без відступу;</a:t>
            </a:r>
          </a:p>
          <a:p>
            <a:r>
              <a:rPr lang="uk-UA" sz="1200" dirty="0"/>
              <a:t>    два рядки лічильника — усередині циклу, під thinking();</a:t>
            </a:r>
          </a:p>
          <a:p>
            <a:r>
              <a:rPr lang="uk-UA" sz="1200" dirty="0"/>
              <a:t>    в останньому рядку циклу analyze(text) міняється на tema;</a:t>
            </a:r>
          </a:p>
          <a:p>
            <a:r>
              <a:rPr lang="uk-UA" sz="1200" dirty="0"/>
              <a:t>    друк словника — у прощанні, перед break.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поставили SEEN = {} у цикл — у кінці друкується одиниця або порожньо;</a:t>
            </a:r>
          </a:p>
          <a:p>
            <a:r>
              <a:rPr lang="uk-UA" sz="1200" dirty="0"/>
              <a:t>    забули змінити останній рядок, і тепер analyze викликається двічі —</a:t>
            </a:r>
          </a:p>
          <a:p>
            <a:r>
              <a:rPr lang="uk-UA" sz="1200" dirty="0"/>
              <a:t>        працює, але тема рахується одна, а відповідь береться інша;</a:t>
            </a:r>
          </a:p>
          <a:p>
            <a:r>
              <a:rPr lang="uk-UA" sz="1200" dirty="0"/>
              <a:t>    написали SEEN.get(tema) без нуля — TypeError на першому ж новому ключі;</a:t>
            </a:r>
          </a:p>
          <a:p>
            <a:r>
              <a:rPr lang="uk-UA" sz="1200" dirty="0"/>
              <a:t>    поставили друк словника після break — до нього справа не доходить ніколи.</a:t>
            </a:r>
          </a:p>
          <a:p>
            <a:endParaRPr lang="uk-UA" sz="1200" dirty="0"/>
          </a:p>
          <a:p>
            <a:r>
              <a:rPr lang="uk-UA" sz="1200" dirty="0"/>
              <a:t>Останнє варто показати вголос усій групі: рядок після break у тій самій гілці</a:t>
            </a:r>
          </a:p>
          <a:p>
            <a:r>
              <a:rPr lang="uk-UA" sz="1200" dirty="0"/>
              <a:t>не виконається ніколи, і Python про це не попередить.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спитати двічі про жарт і раз про час, потім «стоп». У</a:t>
            </a:r>
          </a:p>
          <a:p>
            <a:r>
              <a:rPr lang="uk-UA" sz="1200" dirty="0"/>
              <a:t>словнику має бути жарт: 2 і час: 1. Питаю групу, чому немає погоди — бо про</a:t>
            </a:r>
          </a:p>
          <a:p>
            <a:r>
              <a:rPr lang="uk-UA" sz="1200" dirty="0"/>
              <a:t>неї не питали, і шухляда для неї не з'явилась.</a:t>
            </a:r>
          </a:p>
          <a:p>
            <a:endParaRPr lang="uk-UA" sz="1200" dirty="0"/>
          </a:p>
          <a:p>
            <a:r>
              <a:rPr lang="uk-UA" sz="1200" dirty="0"/>
              <a:t>Хто впорався: хай спитає про щось незрозуміле двічі й подивиться, що в словнику</a:t>
            </a:r>
          </a:p>
          <a:p>
            <a:r>
              <a:rPr lang="uk-UA" sz="1200" dirty="0"/>
              <a:t>з'явиться ключ «невідомо». Це теж тема, і вона теж рахується.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bonus1.py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Чому робот пішов спати? Розрядився.</a:t>
            </a:r>
          </a:p>
          <a:p>
            <a:r>
              <a:rPr lang="uk-UA" sz="1200" dirty="0"/>
              <a:t>Ти: котра година</a:t>
            </a:r>
          </a:p>
          <a:p>
            <a:r>
              <a:rPr lang="uk-UA" sz="1200" dirty="0"/>
              <a:t>АІДА: Годинник ще не підключив, вибач.</a:t>
            </a:r>
          </a:p>
          <a:p>
            <a:r>
              <a:rPr lang="uk-UA" sz="1200" dirty="0"/>
              <a:t>Ти: а ще жарт</a:t>
            </a:r>
          </a:p>
          <a:p>
            <a:r>
              <a:rPr lang="uk-UA" sz="1200" dirty="0"/>
              <a:t>АІДА: Чому робот пішов спати? Розрядився.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Ось про що ти питав: {'жарт': 2, 'час': 1}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Головне: у словнику лише ті теми, про які справді питали, і жарт</a:t>
            </a:r>
          </a:p>
          <a:p>
            <a:r>
              <a:rPr lang="uk-UA" sz="1200" dirty="0"/>
              <a:t>стоїть із двійкою. Про погоду не питали — рядка про погоду немає.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Тут діти вперше додають тему самостійно — за</a:t>
            </a:r>
          </a:p>
          <a:p>
            <a:r>
              <a:rPr lang="uk-UA" sz="1200" dirty="0"/>
              <a:t>зразком, який уже набрали, — і питання про те, куди саме дивитись.</a:t>
            </a:r>
          </a:p>
          <a:p>
            <a:endParaRPr lang="uk-UA" sz="1200" dirty="0"/>
          </a:p>
          <a:p>
            <a:r>
              <a:rPr lang="uk-UA" sz="1200" dirty="0"/>
              <a:t>ЧИМ ДАТА ВІДРІЗНЯЄТЬСЯ. Відповідь: нічим суттєвим, її теж треба питати в</a:t>
            </a:r>
          </a:p>
          <a:p>
            <a:r>
              <a:rPr lang="uk-UA" sz="1200" dirty="0"/>
              <a:t>годинника в мить запиту. Це важливо почути: новий випадок виявляється старим,</a:t>
            </a:r>
          </a:p>
          <a:p>
            <a:r>
              <a:rPr lang="uk-UA" sz="1200" dirty="0"/>
              <a:t>і додавати доводиться не механізм, а рядок.</a:t>
            </a:r>
          </a:p>
          <a:p>
            <a:endParaRPr lang="uk-UA" sz="1200" dirty="0"/>
          </a:p>
          <a:p>
            <a:r>
              <a:rPr lang="uk-UA" sz="1200" dirty="0"/>
              <a:t>СКІЛЬКИ МІСЦЬ ЧІПАТИ. Найкорисніше питання, і воно вимагає подивитись у свій</a:t>
            </a:r>
          </a:p>
          <a:p>
            <a:r>
              <a:rPr lang="uk-UA" sz="1200" dirty="0"/>
              <a:t>файл. Прошу порахувати вголос: analyze має впізнати тему, answer має її</a:t>
            </a:r>
          </a:p>
          <a:p>
            <a:r>
              <a:rPr lang="uk-UA" sz="1200" dirty="0"/>
              <a:t>порахувати. Два місця. Хтось назве три й додасть словник ANSWERS — питаю, чи</a:t>
            </a:r>
          </a:p>
          <a:p>
            <a:r>
              <a:rPr lang="uk-UA" sz="1200" dirty="0"/>
              <a:t>потрібен там рядок, якщо відповідь рахується. Не потрібен, і це гарна думка.</a:t>
            </a:r>
          </a:p>
          <a:p>
            <a:endParaRPr lang="uk-UA" sz="1200" dirty="0"/>
          </a:p>
          <a:p>
            <a:r>
              <a:rPr lang="uk-UA" sz="1200" dirty="0"/>
              <a:t>ЯКИМИ СЛОВАМИ ПИТАЮТЬ. Прошу назвати вголос: «яке сьогодні число», «яка дата»,</a:t>
            </a:r>
          </a:p>
          <a:p>
            <a:r>
              <a:rPr lang="uk-UA" sz="1200" dirty="0"/>
              <a:t>«котре число». Витягую спільні шматки — «дат» і «число». Саме вони поїдуть у</a:t>
            </a:r>
          </a:p>
          <a:p>
            <a:r>
              <a:rPr lang="uk-UA" sz="1200" dirty="0"/>
              <a:t>перевірку, і вибрали їх діти.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Нової теорії майже немає — є зразок, за яким</a:t>
            </a:r>
          </a:p>
          <a:p>
            <a:r>
              <a:rPr lang="uk-UA" sz="1200" dirty="0"/>
              <a:t>діти додають тему самі. Саме тому блок добре йде наприкінці пари.</a:t>
            </a:r>
          </a:p>
          <a:p>
            <a:endParaRPr lang="uk-UA" sz="1200" dirty="0"/>
          </a:p>
          <a:p>
            <a:r>
              <a:rPr lang="uk-UA" sz="1200" dirty="0"/>
              <a:t>ДВА МІСЦЯ. Показую на телевізорі свій файл і пальцем називаю обидва: ось тут</a:t>
            </a:r>
          </a:p>
          <a:p>
            <a:r>
              <a:rPr lang="uk-UA" sz="1200" dirty="0"/>
              <a:t>тему впізнають, ось тут на неї відповідають. Кажу, що це і є весь сьогоднішній</a:t>
            </a:r>
          </a:p>
          <a:p>
            <a:r>
              <a:rPr lang="uk-UA" sz="1200" dirty="0"/>
              <a:t>урок, тільки тепер вони роблять це руками.</a:t>
            </a:r>
          </a:p>
          <a:p>
            <a:endParaRPr lang="uk-UA" sz="1200" dirty="0"/>
          </a:p>
          <a:p>
            <a:r>
              <a:rPr lang="uk-UA" sz="1200" dirty="0"/>
              <a:t>КОРЕНІ СЛІВ. Нагадую блок 1: шукаємо не ціле слово, а корінь. «дат» ловить і</a:t>
            </a:r>
          </a:p>
          <a:p>
            <a:r>
              <a:rPr lang="uk-UA" sz="1200" dirty="0"/>
              <a:t>«дата», і «дату», і «датою». «число» ловить «число» й «числа».</a:t>
            </a:r>
          </a:p>
          <a:p>
            <a:endParaRPr lang="uk-UA" sz="1200" dirty="0"/>
          </a:p>
          <a:p>
            <a:r>
              <a:rPr lang="uk-UA" sz="1200" dirty="0"/>
              <a:t>STRFTIME. Читаю вголос як шаблон: усе, що не починається з відсотка, друкується</a:t>
            </a:r>
          </a:p>
          <a:p>
            <a:r>
              <a:rPr lang="uk-UA" sz="1200" dirty="0"/>
              <a:t>як є, а %d, %m і %Y замінюються числами. Показую живцем у консолі, змінюючи</a:t>
            </a:r>
          </a:p>
          <a:p>
            <a:r>
              <a:rPr lang="uk-UA" sz="1200" dirty="0"/>
              <a:t>шаблон: спершу з крапками, потім з рискою.</a:t>
            </a:r>
          </a:p>
          <a:p>
            <a:endParaRPr lang="uk-UA" sz="1200" dirty="0"/>
          </a:p>
          <a:p>
            <a:r>
              <a:rPr lang="uk-UA" sz="1200" dirty="0"/>
              <a:t>ПОРЯДОК RETURN. Головна пастка блоку, і показати її треба живцем. Ставлю новий</a:t>
            </a:r>
          </a:p>
          <a:p>
            <a:r>
              <a:rPr lang="uk-UA" sz="1200" dirty="0"/>
              <a:t>if нижче за return «невідомо», запускаю — тема не впізнається. Питаю групу</a:t>
            </a:r>
          </a:p>
          <a:p>
            <a:r>
              <a:rPr lang="uk-UA" sz="1200" dirty="0"/>
              <a:t>чому. Відповідь: return уже завершив функцію. Це те, що вони запам'ятають</a:t>
            </a:r>
          </a:p>
          <a:p>
            <a:r>
              <a:rPr lang="uk-UA" sz="1200" dirty="0"/>
              <a:t>надовго саме тому, що побачили.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два шматки.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Чотири рядки коду в двох функціях — і головна</a:t>
            </a:r>
          </a:p>
          <a:p>
            <a:r>
              <a:rPr lang="uk-UA" sz="1200" dirty="0"/>
              <a:t>складність не в рядках, а в тому, куди їх поставити.</a:t>
            </a:r>
          </a:p>
          <a:p>
            <a:endParaRPr lang="uk-UA" sz="1200" dirty="0"/>
          </a:p>
          <a:p>
            <a:r>
              <a:rPr lang="uk-UA" sz="1200" dirty="0"/>
              <a:t>Новий файл bonus2.py — словник і цикл з блоку 3. Функції answer у ньому ще не</a:t>
            </a:r>
          </a:p>
          <a:p>
            <a:r>
              <a:rPr lang="uk-UA" sz="1200" dirty="0"/>
              <a:t>було, тож вона з'являється цілком: дата — або відповідь зі словника.</a:t>
            </a:r>
          </a:p>
          <a:p>
            <a:endParaRPr lang="uk-UA" sz="1200" dirty="0"/>
          </a:p>
          <a:p>
            <a:r>
              <a:rPr lang="uk-UA" sz="1200" dirty="0"/>
              <a:t>Кажу порядок:</a:t>
            </a:r>
          </a:p>
          <a:p>
            <a:r>
              <a:rPr lang="uk-UA" sz="1200" dirty="0"/>
              <a:t>    два рядки про «дат» — усередині analyze, вище за останній return;</a:t>
            </a:r>
          </a:p>
          <a:p>
            <a:r>
              <a:rPr lang="uk-UA" sz="1200" dirty="0"/>
              <a:t>    два рядки про «дата» — усередині answer, вище за return ANSWERS[tema].</a:t>
            </a:r>
          </a:p>
          <a:p>
            <a:endParaRPr lang="uk-UA" sz="1200" dirty="0"/>
          </a:p>
          <a:p>
            <a:r>
              <a:rPr lang="uk-UA" sz="1200" dirty="0"/>
              <a:t>Наголошую на відступі: обидва шматки всередині функцій, тобто чотири пробіли.</a:t>
            </a:r>
          </a:p>
          <a:p>
            <a:r>
              <a:rPr lang="uk-UA" sz="1200" dirty="0"/>
              <a:t>Хто набере без відступу, отримає рядок поза функцією й помилку.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поставили новий if нижче за return «невідомо» — тема не впізнається;</a:t>
            </a:r>
          </a:p>
          <a:p>
            <a:r>
              <a:rPr lang="uk-UA" sz="1200" dirty="0"/>
              <a:t>    поставили його в answer нижче за return ANSWERS[tema] — те саме;</a:t>
            </a:r>
          </a:p>
          <a:p>
            <a:r>
              <a:rPr lang="uk-UA" sz="1200" dirty="0"/>
              <a:t>    написали "дата" замість "дат" — «яке сьогодні число» не спрацює;</a:t>
            </a:r>
          </a:p>
          <a:p>
            <a:r>
              <a:rPr lang="uk-UA" sz="1200" dirty="0"/>
              <a:t>    забули лапки навколо шаблону дати.</a:t>
            </a:r>
          </a:p>
          <a:p>
            <a:endParaRPr lang="uk-UA" sz="1200" dirty="0"/>
          </a:p>
          <a:p>
            <a:r>
              <a:rPr lang="uk-UA" sz="1200" dirty="0"/>
              <a:t>Про перші дві кажу одне й те саме речення: return завершує функцію, тому все</a:t>
            </a:r>
          </a:p>
          <a:p>
            <a:r>
              <a:rPr lang="uk-UA" sz="1200" dirty="0"/>
              <a:t>нове ставимо ВИЩЕ за останній return. Ці слова доводиться повторити разів</a:t>
            </a:r>
          </a:p>
          <a:p>
            <a:r>
              <a:rPr lang="uk-UA" sz="1200" dirty="0"/>
              <a:t>п'ять, і це нормально.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спитати «яке сьогодні число» і звірити з датою на</a:t>
            </a:r>
          </a:p>
          <a:p>
            <a:r>
              <a:rPr lang="uk-UA" sz="1200" dirty="0"/>
              <a:t>телефоні. Збіглось — блок зроблено.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у той самий if третій корінь — «сьогодні», через ще</a:t>
            </a:r>
          </a:p>
          <a:p>
            <a:r>
              <a:rPr lang="uk-UA" sz="1200" dirty="0"/>
              <a:t>одне or. Тоді помічник упізнає і «що сьогодні за день».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bonus2.py</a:t>
            </a:r>
          </a:p>
          <a:p>
            <a:r>
              <a:rPr lang="uk-UA" sz="1200" dirty="0"/>
              <a:t>Ти: яке сьогодні число</a:t>
            </a:r>
          </a:p>
          <a:p>
            <a:r>
              <a:rPr lang="uk-UA" sz="1200" dirty="0"/>
              <a:t>АІДА: Сьогодні 30.08.2026</a:t>
            </a:r>
          </a:p>
          <a:p>
            <a:r>
              <a:rPr lang="uk-UA" sz="1200" dirty="0"/>
              <a:t>Ти: яка погода</a:t>
            </a:r>
          </a:p>
          <a:p>
            <a:r>
              <a:rPr lang="uk-UA" sz="1200" dirty="0"/>
              <a:t>АІДА: Вікна не бачу, але вір у сонце!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Дата має збігатися зі справжньою сьогоднішньою. Приїхало «Я ще</a:t>
            </a:r>
          </a:p>
          <a:p>
            <a:r>
              <a:rPr lang="uk-UA" sz="1200" dirty="0"/>
              <a:t>вчуся» — новий if стоїть нижче за return «невідомо».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Питання не технічні, а про людину по той бік</a:t>
            </a:r>
          </a:p>
          <a:p>
            <a:r>
              <a:rPr lang="uk-UA" sz="1200" dirty="0"/>
              <a:t>екрана, — і саме тому вони добре йдуть після двох блоків із кодом.</a:t>
            </a:r>
          </a:p>
          <a:p>
            <a:endParaRPr lang="uk-UA" sz="1200" dirty="0"/>
          </a:p>
          <a:p>
            <a:r>
              <a:rPr lang="uk-UA" sz="1200" dirty="0"/>
              <a:t>ЗВІДКИ ДІЗНАЄТЬСЯ. Кажуть: спитати, вгадати, подивитись у код. Кажу: у код він</a:t>
            </a:r>
          </a:p>
          <a:p>
            <a:r>
              <a:rPr lang="uk-UA" sz="1200" dirty="0"/>
              <a:t>не подивиться, а вгадувати не буде — просто закриє. Тому програма має вміти</a:t>
            </a:r>
          </a:p>
          <a:p>
            <a:r>
              <a:rPr lang="uk-UA" sz="1200" dirty="0"/>
              <a:t>розповісти про себе сама.</a:t>
            </a:r>
          </a:p>
          <a:p>
            <a:endParaRPr lang="uk-UA" sz="1200" dirty="0"/>
          </a:p>
          <a:p>
            <a:r>
              <a:rPr lang="uk-UA" sz="1200" dirty="0"/>
              <a:t>ДЕ ВЖЕ ЛЕЖИТЬ СПИСОК. Найцікавіше питання. Прошу подивитись у свій файл. Хтось</a:t>
            </a:r>
          </a:p>
          <a:p>
            <a:r>
              <a:rPr lang="uk-UA" sz="1200" dirty="0"/>
              <a:t>побачить ключі словника ANSWERS, хтось — перевірки в analyze. Обидві відповіді</a:t>
            </a:r>
          </a:p>
          <a:p>
            <a:r>
              <a:rPr lang="uk-UA" sz="1200" dirty="0"/>
              <a:t>правильні, і обидві кажуть одне: список тем у програмі вже є.</a:t>
            </a:r>
          </a:p>
          <a:p>
            <a:endParaRPr lang="uk-UA" sz="1200" dirty="0"/>
          </a:p>
          <a:p>
            <a:r>
              <a:rPr lang="uk-UA" sz="1200" dirty="0"/>
              <a:t>РУКАМИ ЧИ З КОДУ. Питаю прямо: що станеться зі списком, написаним руками, коли</a:t>
            </a:r>
          </a:p>
          <a:p>
            <a:r>
              <a:rPr lang="uk-UA" sz="1200" dirty="0"/>
              <a:t>ми додамо тему? Відповідь: він застаріє й брехатиме. Це доросла думка, і саме</a:t>
            </a:r>
          </a:p>
          <a:p>
            <a:r>
              <a:rPr lang="uk-UA" sz="1200" dirty="0"/>
              <a:t>її я хочу почути на бонусному блоці.</a:t>
            </a:r>
          </a:p>
          <a:p>
            <a:endParaRPr lang="uk-UA" sz="1200" dirty="0"/>
          </a:p>
          <a:p>
            <a:r>
              <a:rPr lang="uk-UA" sz="1200" dirty="0"/>
              <a:t>Сьогодні ми напишемо список руками — але окремим рядком, який видно, а не</a:t>
            </a:r>
          </a:p>
          <a:p>
            <a:r>
              <a:rPr lang="uk-UA" sz="1200" dirty="0"/>
              <a:t>всередині відповіді. Кажу про це чесно: щоб узяти його прямо зі словника,</a:t>
            </a:r>
          </a:p>
          <a:p>
            <a:r>
              <a:rPr lang="uk-UA" sz="1200" dirty="0"/>
              <a:t>потрібно те, чого ми ще не вчили.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Нове тут одне — join, — і воно того варте:</a:t>
            </a:r>
          </a:p>
          <a:p>
            <a:r>
              <a:rPr lang="uk-UA" sz="1200" dirty="0"/>
              <a:t>без нього список довелося б виводити циклом.</a:t>
            </a:r>
          </a:p>
          <a:p>
            <a:endParaRPr lang="uk-UA" sz="1200" dirty="0"/>
          </a:p>
          <a:p>
            <a:r>
              <a:rPr lang="uk-UA" sz="1200" dirty="0"/>
              <a:t>СПИСОК ТЕМ. Пишу SKILLS = ["жарт", "час", "погода", "дата"] і кажу, що це</a:t>
            </a:r>
          </a:p>
          <a:p>
            <a:r>
              <a:rPr lang="uk-UA" sz="1200" dirty="0"/>
              <a:t>звичайний список, такий самий, як JOKES.</a:t>
            </a:r>
          </a:p>
          <a:p>
            <a:endParaRPr lang="uk-UA" sz="1200" dirty="0"/>
          </a:p>
          <a:p>
            <a:r>
              <a:rPr lang="uk-UA" sz="1200" dirty="0"/>
              <a:t>JOIN. Читаю вголос справа наліво: візьми список у дужках і склей його в один</a:t>
            </a:r>
          </a:p>
          <a:p>
            <a:r>
              <a:rPr lang="uk-UA" sz="1200" dirty="0"/>
              <a:t>рядок, а між шматками постав те, що стоїть перед крапкою. Показую живцем у</a:t>
            </a:r>
          </a:p>
          <a:p>
            <a:r>
              <a:rPr lang="uk-UA" sz="1200" dirty="0"/>
              <a:t>консолі три варіанти: через кому з пробілом, через « і », через тире. Різницю</a:t>
            </a:r>
          </a:p>
          <a:p>
            <a:r>
              <a:rPr lang="uk-UA" sz="1200" dirty="0"/>
              <a:t>видно одразу, і вона смішна.</a:t>
            </a:r>
          </a:p>
          <a:p>
            <a:endParaRPr lang="uk-UA" sz="1200" dirty="0"/>
          </a:p>
          <a:p>
            <a:r>
              <a:rPr lang="uk-UA" sz="1200" dirty="0"/>
              <a:t>Наголошую на порядку: склеювач попереду, список у дужках. Це та річ, яку діти</a:t>
            </a:r>
          </a:p>
          <a:p>
            <a:r>
              <a:rPr lang="uk-UA" sz="1200" dirty="0"/>
              <a:t>пишуть навпаки в половині випадків, і Python скаже щось незрозуміле.</a:t>
            </a:r>
          </a:p>
          <a:p>
            <a:endParaRPr lang="uk-UA" sz="1200" dirty="0"/>
          </a:p>
          <a:p>
            <a:r>
              <a:rPr lang="uk-UA" sz="1200" dirty="0"/>
              <a:t>НАВІЩО ЦЕ. Кажу вголос головне: коли ми додамо тему, треба буде дописати один</a:t>
            </a:r>
          </a:p>
          <a:p>
            <a:r>
              <a:rPr lang="uk-UA" sz="1200" dirty="0"/>
              <a:t>рядок у SKILLS, а не переписувати речення у відповіді. Це і є вся ідея.</a:t>
            </a:r>
          </a:p>
          <a:p>
            <a:endParaRPr lang="uk-UA" sz="1200" dirty="0"/>
          </a:p>
          <a:p>
            <a:r>
              <a:rPr lang="uk-UA" sz="1200" dirty="0"/>
              <a:t>ДЕ СТАВИТИ. Показую пальцем: SKILLS — нагорі, поруч зі словником; перевірка на</a:t>
            </a:r>
          </a:p>
          <a:p>
            <a:r>
              <a:rPr lang="uk-UA" sz="1200" dirty="0"/>
              <a:t>«вмі» — у analyze; сама відповідь — у answer, як і дата.</a:t>
            </a:r>
          </a:p>
          <a:p>
            <a:endParaRPr lang="uk-UA" sz="1200" dirty="0"/>
          </a:p>
          <a:p>
            <a:r>
              <a:rPr lang="uk-UA" sz="1200" dirty="0"/>
              <a:t>Наступний слайд: три шматки, усі за вже знайомим зразком.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Два з трьох шматків діти вже робили в</a:t>
            </a:r>
          </a:p>
          <a:p>
            <a:r>
              <a:rPr lang="uk-UA" sz="1200" dirty="0"/>
              <a:t>попередньому блоці, тому основна увага — на рядку з join.</a:t>
            </a:r>
          </a:p>
          <a:p>
            <a:endParaRPr lang="uk-UA" sz="1200" dirty="0"/>
          </a:p>
          <a:p>
            <a:r>
              <a:rPr lang="uk-UA" sz="1200" dirty="0"/>
              <a:t>Новий файл bonus3.py — словник і цикл з блоку 3 плюс функція answer, як у</a:t>
            </a:r>
          </a:p>
          <a:p>
            <a:r>
              <a:rPr lang="uk-UA" sz="1200" dirty="0"/>
              <a:t>bonus2.py, тільки замість дати — вміння.</a:t>
            </a:r>
          </a:p>
          <a:p>
            <a:endParaRPr lang="uk-UA" sz="1200" dirty="0"/>
          </a:p>
          <a:p>
            <a:r>
              <a:rPr lang="uk-UA" sz="1200" dirty="0"/>
              <a:t>Кажу порядок:</a:t>
            </a:r>
          </a:p>
          <a:p>
            <a:r>
              <a:rPr lang="uk-UA" sz="1200" dirty="0"/>
              <a:t>    SKILLS — нагорі, під ANSWERS, без відступу;</a:t>
            </a:r>
          </a:p>
          <a:p>
            <a:r>
              <a:rPr lang="uk-UA" sz="1200" dirty="0"/>
              <a:t>    перевірка на «вмі» — у analyze, вище за останній return;</a:t>
            </a:r>
          </a:p>
          <a:p>
            <a:r>
              <a:rPr lang="uk-UA" sz="1200" dirty="0"/>
              <a:t>    відповідь — у answer, вище за return ANSWERS[tema].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написали join(", ") замість ", ".join(...) — переплутали місцями;</a:t>
            </a:r>
          </a:p>
          <a:p>
            <a:r>
              <a:rPr lang="uk-UA" sz="1200" dirty="0"/>
              <a:t>    забули пробіл після коми в лапках — теми злипнуться: жарт,час,погода;</a:t>
            </a:r>
          </a:p>
          <a:p>
            <a:r>
              <a:rPr lang="uk-UA" sz="1200" dirty="0"/>
              <a:t>    поставили новий if нижче за return — тема не впізнається;</a:t>
            </a:r>
          </a:p>
          <a:p>
            <a:r>
              <a:rPr lang="uk-UA" sz="1200" dirty="0"/>
              <a:t>    написали SKILLS у лапках і склеїли літери замість слів.</a:t>
            </a:r>
          </a:p>
          <a:p>
            <a:endParaRPr lang="uk-UA" sz="1200" dirty="0"/>
          </a:p>
          <a:p>
            <a:r>
              <a:rPr lang="uk-UA" sz="1200" dirty="0"/>
              <a:t>Останнє варто показати вголос: якщо в join віддати рядок замість списку,</a:t>
            </a:r>
          </a:p>
          <a:p>
            <a:r>
              <a:rPr lang="uk-UA" sz="1200" dirty="0"/>
              <a:t>Python склеїть окремі літери, і вийде «Я вмію: S, K, I, L, L, S». Помилки не</a:t>
            </a:r>
          </a:p>
          <a:p>
            <a:r>
              <a:rPr lang="uk-UA" sz="1200" dirty="0"/>
              <a:t>буде — буде дурниця на екрані, і саме тому її треба впізнавати.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спитати «що ти вмієш», потім «а що ти можеш». Обидві фрази</a:t>
            </a:r>
          </a:p>
          <a:p>
            <a:r>
              <a:rPr lang="uk-UA" sz="1200" dirty="0"/>
              <a:t>мають дати той самий перелік.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допише в SKILLS четверту тему, якої ще немає, — наприклад</a:t>
            </a:r>
          </a:p>
          <a:p>
            <a:r>
              <a:rPr lang="uk-UA" sz="1200" dirty="0"/>
              <a:t>«музика», — і подивиться, що відповідь оновилась сама, хоч рядок із join ніхто</a:t>
            </a:r>
          </a:p>
          <a:p>
            <a:r>
              <a:rPr lang="uk-UA" sz="1200" dirty="0"/>
              <a:t>не чіпав. Це найкраща ілюстрація до того, навіщо взагалі join.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bonus3.py</a:t>
            </a:r>
          </a:p>
          <a:p>
            <a:r>
              <a:rPr lang="uk-UA" sz="1200" dirty="0"/>
              <a:t>Ти: що ти вмієш</a:t>
            </a:r>
          </a:p>
          <a:p>
            <a:r>
              <a:rPr lang="uk-UA" sz="1200" dirty="0"/>
              <a:t>АІДА: Я вмію: жарт, час, погода</a:t>
            </a:r>
          </a:p>
          <a:p>
            <a:r>
              <a:rPr lang="uk-UA" sz="1200" dirty="0"/>
              <a:t>Ти: а що ти можеш</a:t>
            </a:r>
          </a:p>
          <a:p>
            <a:r>
              <a:rPr lang="uk-UA" sz="1200" dirty="0"/>
              <a:t>АІДА: Я вмію: жарт, час, погода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Головне: теми перелічені через кому з пробілом, і в кінці немає</a:t>
            </a:r>
          </a:p>
          <a:p>
            <a:r>
              <a:rPr lang="uk-UA" sz="1200" dirty="0"/>
              <a:t>зайвої коми — join ставить її тільки між шматками.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блок уроку, дві хвилини питань. Тут уперше за пару</a:t>
            </a:r>
          </a:p>
          <a:p>
            <a:r>
              <a:rPr lang="uk-UA" sz="1200" dirty="0"/>
              <a:t>порівнюються числа, а не рядки, — і це та відмінність, заради якої блок і</a:t>
            </a:r>
          </a:p>
          <a:p>
            <a:r>
              <a:rPr lang="uk-UA" sz="1200" dirty="0"/>
              <a:t>стоїть.</a:t>
            </a:r>
          </a:p>
          <a:p>
            <a:endParaRPr lang="uk-UA" sz="1200" dirty="0"/>
          </a:p>
          <a:p>
            <a:r>
              <a:rPr lang="uk-UA" sz="1200" dirty="0"/>
              <a:t>НАСТРІЙ ЗРАНКУ І ВВЕЧЕРІ. Питання, на яке відповідають усі, зокрема</a:t>
            </a:r>
          </a:p>
          <a:p>
            <a:r>
              <a:rPr lang="uk-UA" sz="1200" dirty="0"/>
              <a:t>найтихіші. Витягую слова: зранку сонний, увечері теж сонний, удень нормально.</a:t>
            </a:r>
          </a:p>
          <a:p>
            <a:r>
              <a:rPr lang="uk-UA" sz="1200" dirty="0"/>
              <a:t>Смішно й правдиво.</a:t>
            </a:r>
          </a:p>
          <a:p>
            <a:endParaRPr lang="uk-UA" sz="1200" dirty="0"/>
          </a:p>
          <a:p>
            <a:r>
              <a:rPr lang="uk-UA" sz="1200" dirty="0"/>
              <a:t>ЗВІДКИ ЗНАТИ, РАНОК ЧИ ВЕЧІР. Відповідь у них уже є: годинник, той самий, з</a:t>
            </a:r>
          </a:p>
          <a:p>
            <a:r>
              <a:rPr lang="uk-UA" sz="1200" dirty="0"/>
              <a:t>якого ми брали час і дату. Кажу, що з нього можна взяти не весь час, а саму</a:t>
            </a:r>
          </a:p>
          <a:p>
            <a:r>
              <a:rPr lang="uk-UA" sz="1200" dirty="0"/>
              <a:t>годину — одне число.</a:t>
            </a:r>
          </a:p>
          <a:p>
            <a:endParaRPr lang="uk-UA" sz="1200" dirty="0"/>
          </a:p>
          <a:p>
            <a:r>
              <a:rPr lang="uk-UA" sz="1200" dirty="0"/>
              <a:t>МЕНШЕ І ДОРІВНЮЄ. Головне питання блоку. Досі всі перевірки були на точний</a:t>
            </a:r>
          </a:p>
          <a:p>
            <a:r>
              <a:rPr lang="uk-UA" sz="1200" dirty="0"/>
              <a:t>збіг: тема дорівнює «жарт». А число можна питати інакше: менше, більше. Прошу</a:t>
            </a:r>
          </a:p>
          <a:p>
            <a:r>
              <a:rPr lang="uk-UA" sz="1200" dirty="0"/>
              <a:t>навести приклад із життя — зріст, вік, оцінка. Приклади знаходять швидко.</a:t>
            </a:r>
          </a:p>
          <a:p>
            <a:endParaRPr lang="uk-UA" sz="1200" dirty="0"/>
          </a:p>
          <a:p>
            <a:r>
              <a:rPr lang="uk-UA" sz="1200" dirty="0"/>
              <a:t>Кажу заздалегідь: жереб ми приберемо. Помічник стане передбачуваним, і це</a:t>
            </a:r>
          </a:p>
          <a:p>
            <a:r>
              <a:rPr lang="uk-UA" sz="1200" dirty="0"/>
              <a:t>навмисно — характер за годинником чесніший за характер навмання.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показ. Чотири хвилини, і половина з них — на порядок</a:t>
            </a:r>
          </a:p>
          <a:p>
            <a:r>
              <a:rPr lang="uk-UA" sz="1200" dirty="0"/>
              <a:t>перевірок, бо саме він тут неочевидний.</a:t>
            </a:r>
          </a:p>
          <a:p>
            <a:endParaRPr lang="uk-UA" sz="1200" dirty="0"/>
          </a:p>
          <a:p>
            <a:r>
              <a:rPr lang="uk-UA" sz="1200" dirty="0"/>
              <a:t>ГОДИНА ЧИСЛОМ. Показую живцем у консолі: datetime.now().hour і побачене число.</a:t>
            </a:r>
          </a:p>
          <a:p>
            <a:r>
              <a:rPr lang="uk-UA" sz="1200" dirty="0"/>
              <a:t>Кажу, що це не рядок, а число, і тому з ним можна порівнювати на «менше».</a:t>
            </a:r>
          </a:p>
          <a:p>
            <a:r>
              <a:rPr lang="uk-UA" sz="1200" dirty="0"/>
              <a:t>Нагадую: лапок навколо числа немає.</a:t>
            </a:r>
          </a:p>
          <a:p>
            <a:endParaRPr lang="uk-UA" sz="1200" dirty="0"/>
          </a:p>
          <a:p>
            <a:r>
              <a:rPr lang="uk-UA" sz="1200" dirty="0"/>
              <a:t>ПЕРЕВІРКА НА «МЕНШЕ». Досі всі if були про точний збіг. Кажу вголос: тепер</a:t>
            </a:r>
          </a:p>
          <a:p>
            <a:r>
              <a:rPr lang="uk-UA" sz="1200" dirty="0"/>
              <a:t>питання інше — не «чи це та година», а «чи вона раніша». Малюю на дошці лінію</a:t>
            </a:r>
          </a:p>
          <a:p>
            <a:r>
              <a:rPr lang="uk-UA" sz="1200" dirty="0"/>
              <a:t>від 0 до 23 і ставлю дві риски: 12 і 18. Три шматки — три настрої.</a:t>
            </a:r>
          </a:p>
          <a:p>
            <a:endParaRPr lang="uk-UA" sz="1200" dirty="0"/>
          </a:p>
          <a:p>
            <a:r>
              <a:rPr lang="uk-UA" sz="1200" dirty="0"/>
              <a:t>ПОРЯДОК. Головне місце блоку. Питаю групу, що буде, якщо перевірити спершу</a:t>
            </a:r>
          </a:p>
          <a:p>
            <a:r>
              <a:rPr lang="uk-UA" sz="1200" dirty="0"/>
              <a:t>«менше за 18». Хай хтось порахує вголос для дев'ятої ранку: дев'ять менше за</a:t>
            </a:r>
          </a:p>
          <a:p>
            <a:r>
              <a:rPr lang="uk-UA" sz="1200" dirty="0"/>
              <a:t>18, отже жартівливий, і до бадьорого справа не дійде ніколи. Тому перевірки</a:t>
            </a:r>
          </a:p>
          <a:p>
            <a:r>
              <a:rPr lang="uk-UA" sz="1200" dirty="0"/>
              <a:t>йдуть від меншого до більшого.</a:t>
            </a:r>
          </a:p>
          <a:p>
            <a:endParaRPr lang="uk-UA" sz="1200" dirty="0"/>
          </a:p>
          <a:p>
            <a:r>
              <a:rPr lang="uk-UA" sz="1200" dirty="0"/>
              <a:t>ELSE. Нагадую: else без умови й завжди останній. Він ловить усе від 18 до 23.</a:t>
            </a:r>
          </a:p>
          <a:p>
            <a:endParaRPr lang="uk-UA" sz="1200" dirty="0"/>
          </a:p>
          <a:p>
            <a:r>
              <a:rPr lang="uk-UA" sz="1200" dirty="0"/>
              <a:t>ЩО ЗНИКАЄ. Кажу окремо: рядок з random.choice ми прибираємо. Помічник більше</a:t>
            </a:r>
          </a:p>
          <a:p>
            <a:r>
              <a:rPr lang="uk-UA" sz="1200" dirty="0"/>
              <a:t>не кидає жереб. Питаю, чи стало гірше, — і чую обидві думки. Обидві правильні,</a:t>
            </a:r>
          </a:p>
          <a:p>
            <a:r>
              <a:rPr lang="uk-UA" sz="1200" dirty="0"/>
              <a:t>і це гарна розмова на кінець пари.</a:t>
            </a:r>
          </a:p>
          <a:p>
            <a:endParaRPr lang="uk-UA" sz="1200" dirty="0"/>
          </a:p>
          <a:p>
            <a:r>
              <a:rPr lang="uk-UA" sz="1200" dirty="0"/>
              <a:t>Наступний слайд: шість рядків замість одного.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Остання практика запасу, п'ять хвилин. Шість рядків, які замінюють один, — і</a:t>
            </a:r>
          </a:p>
          <a:p>
            <a:r>
              <a:rPr lang="uk-UA" sz="1200" dirty="0"/>
              <a:t>головне сказати вголос, що старий рядок треба прибрати.</a:t>
            </a:r>
          </a:p>
          <a:p>
            <a:endParaRPr lang="uk-UA" sz="1200" dirty="0"/>
          </a:p>
          <a:p>
            <a:r>
              <a:rPr lang="uk-UA" sz="1200" dirty="0"/>
              <a:t>Новий файл bonus4.py — словник і цикл з блоку 3 плюс настрій за годиною. Хто</a:t>
            </a:r>
          </a:p>
          <a:p>
            <a:r>
              <a:rPr lang="uk-UA" sz="1200" dirty="0"/>
              <a:t>робить це у файлі з настроєм, знаходить рядок MOOD = random.choice([...]),</a:t>
            </a:r>
          </a:p>
          <a:p>
            <a:r>
              <a:rPr lang="uk-UA" sz="1200" dirty="0"/>
              <a:t>стирає його й набирає на його місце вісім рядків з екрана. Наголошую: саме замість, а не на додачу.</a:t>
            </a:r>
          </a:p>
          <a:p>
            <a:r>
              <a:rPr lang="uk-UA" sz="1200" dirty="0"/>
              <a:t>Якщо лишити обидва, спрацює той, що нижчий, і половина групи не зрозуміє, чому</a:t>
            </a:r>
          </a:p>
          <a:p>
            <a:r>
              <a:rPr lang="uk-UA" sz="1200" dirty="0"/>
              <a:t>настрій стрибає.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лишили старий рядок з random.choice нижче за новий блок;</a:t>
            </a:r>
          </a:p>
          <a:p>
            <a:r>
              <a:rPr lang="uk-UA" sz="1200" dirty="0"/>
              <a:t>    написали HOUR у лапках — тоді порівняння рядка з числом дасть TypeError;</a:t>
            </a:r>
          </a:p>
          <a:p>
            <a:r>
              <a:rPr lang="uk-UA" sz="1200" dirty="0"/>
              <a:t>    поставили перевірку на 18 першою — бадьорого настрою не буде ніколи;</a:t>
            </a:r>
          </a:p>
          <a:p>
            <a:r>
              <a:rPr lang="uk-UA" sz="1200" dirty="0"/>
              <a:t>    зробили відступ у рядках MOOD не чотири пробіли, а вісім.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подивитись на годинник у класі й сказати, який настрій має</a:t>
            </a:r>
          </a:p>
          <a:p>
            <a:r>
              <a:rPr lang="uk-UA" sz="1200" dirty="0"/>
              <a:t>бути. Потім запустити й звірити. Це та рідкісна перевірка, де відповідь відома</a:t>
            </a:r>
          </a:p>
          <a:p>
            <a:r>
              <a:rPr lang="uk-UA" sz="1200" dirty="0"/>
              <a:t>заздалегідь, і діти люблять її саме тому.</a:t>
            </a:r>
          </a:p>
          <a:p>
            <a:endParaRPr lang="uk-UA" sz="1200" dirty="0"/>
          </a:p>
          <a:p>
            <a:r>
              <a:rPr lang="uk-UA" sz="1200" dirty="0"/>
              <a:t>Питаю групу наприкінці: а якщо ми прийдемо на пару о дев'ятій ранку — яким</a:t>
            </a:r>
          </a:p>
          <a:p>
            <a:r>
              <a:rPr lang="uk-UA" sz="1200" dirty="0"/>
              <a:t>буде помічник? Бадьорим. А о восьмій вечора? Сонним. Тобто програма тепер</a:t>
            </a:r>
          </a:p>
          <a:p>
            <a:r>
              <a:rPr lang="uk-UA" sz="1200" dirty="0"/>
              <a:t>знає щось про світ, а не тільки про те, що їй написали.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четвертий настрій для ночі — ще один elif із HOUR</a:t>
            </a:r>
          </a:p>
          <a:p>
            <a:r>
              <a:rPr lang="uk-UA" sz="1200" dirty="0"/>
              <a:t>менше за 6, і новий рядок у словнику PREFIX. Два рядки, і день ділиться на</a:t>
            </a:r>
          </a:p>
          <a:p>
            <a:r>
              <a:rPr lang="uk-UA" sz="1200" dirty="0"/>
              <a:t>чотири частини.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bonus4.py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Мм... Чому робот пішов спати? Розрядився.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О пів на десяту вечора приставка «Мм...» — і вона буде такою до</a:t>
            </a:r>
          </a:p>
          <a:p>
            <a:r>
              <a:rPr lang="uk-UA" sz="1200" dirty="0"/>
              <a:t>ранку. Запусти ще раз: настрій той самий, бо година та сама.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рожні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262933"/>
          </a:xfrm>
          <a:prstGeom prst="roundRect">
            <a:avLst>
              <a:gd name="adj" fmla="val 655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Хай нарешті розуміє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Минулого разу помічник знав дві фрази буква в букву. Сьогодні він почне впізнавати тему.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37698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«Привіт!» і «привіт» — чому це для програми різні слова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analyze() — функція, яка визначає, про що питають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Словник відповідей замість десятка перевірок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Сценарії: жарт, котра година, погода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Настрій дня і паузи, щоб він здавався живим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449367"/>
          </a:xfrm>
          <a:prstGeom prst="roundRect">
            <a:avLst>
              <a:gd name="adj" fmla="val 512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перевірка через in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assistant2.py у папці проєкту й набери ці вісім рядків.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2956484"/>
          </a:xfrm>
          <a:prstGeom prst="roundRect">
            <a:avLst>
              <a:gd name="adj" fmla="val 429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text = input("Ти: ").lower()</a:t>
            </a:r>
          </a:p>
          <a:p>
            <a:pPr algn="l">
              <a:lnSpc>
                <a:spcPts val="2560"/>
              </a:lnSpc>
              <a:buNone/>
            </a:pPr>
            <a:endParaRPr lang="uk-UA" sz="160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if "жарт" in text: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Чому робот пішов спати? Розрядився.")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elif "привіт" in text: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Привіт-привіт!")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else: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Я ще вчуся.")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775911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930017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Запусти тричі: «жарт», потім «РОЗКАЖИ ЖАРТ», потім «а жарт якийсь є?».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Усі три мають дати ту саму відповідь. Дала не ту — загубився .lower().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05658" y="5610265"/>
            <a:ext cx="13252025" cy="115702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000"/>
              </a:lnSpc>
              <a:buNone/>
            </a:pPr>
            <a:r>
              <a:rPr lang="uk-UA" sz="2000" b="0" dirty="0">
                <a:solidFill>
                  <a:srgbClr val="2B2823"/>
                </a:solidFill>
                <a:latin typeface="Onest"/>
                <a:cs typeface="Onest"/>
              </a:rPr>
              <a:t>sk-proj-um81etvDr6itkuIilLOqoda50kFaF-hvRjcSfGsbJzPnh8MKDHA9B1C_33wr4xV3CSCsKw-aegT3BlbkFJORwOqKI8q6zenvfA6uRCgl0gSYo1PEYPgn7wpMYlYht3uhfUJQ4sXLBLUwv9DY</a:t>
            </a:r>
          </a:p>
          <a:p>
            <a:pPr algn="l">
              <a:lnSpc>
                <a:spcPts val="3000"/>
              </a:lnSpc>
              <a:buNone/>
            </a:pPr>
            <a:r>
              <a:rPr lang="uk-UA" sz="2000" b="0" dirty="0">
                <a:solidFill>
                  <a:srgbClr val="2B2823"/>
                </a:solidFill>
                <a:latin typeface="Onest"/>
                <a:cs typeface="Onest"/>
              </a:rPr>
              <a:t>gxkXZrea_LQA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Функція analyze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Впізнавати теми прямо в циклі — тісно. Винесемо це в окрему функцію.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def analyze(text): — оголошуємо функцію з одним аргументом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return віддає значення і одразу завершує функцію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or — «час» АБО «годин»: питають і так, і так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Останній return «невідомо» — сітка на всі інші фрази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Функція приймає фразу і віддає назву теми. «Зрозуміти, про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що питають» і «відповісти» стали двома різними справами: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фраз безліч, а тем чотири.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40780"/>
          </a:xfrm>
          <a:prstGeom prst="roundRect">
            <a:avLst>
              <a:gd name="adj" fmla="val 447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функція analyze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Зітри все з assistant2.py і набери це. Спершу функція, потім дві перевірки.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9617"/>
            <a:ext cx="10485120" cy="3769157"/>
          </a:xfrm>
          <a:prstGeom prst="roundRect">
            <a:avLst>
              <a:gd name="adj" fmla="val 3369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2240"/>
              </a:lnSpc>
              <a:buNone/>
            </a:pPr>
            <a:endParaRPr lang="uk-UA" sz="1400"/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print(analyze("Розкажи жарт"))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print(analyze("скільки років черепасі"))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589270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740146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На екрані два слова згори вниз: жарт і невідомо. Не «АІДА», а сама тема.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Слова немає — забули return або функція стоїть нижче за 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005176"/>
          </a:xfrm>
          <a:prstGeom prst="roundRect">
            <a:avLst>
              <a:gd name="adj" fmla="val 929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Словник відповідей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Тему помічник уже впізнає. Одна хвилина: де тримати самі відповіді?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незручний список, коли речі треба брати не по номеру?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у житті шукають річ у шафі з підписаними шухлядами?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має статись, якщо попросили те, чого в шафі немає?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Словник відповідей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Тема вже відома. Тепер відповіді — не купа if, а одна коробка з підписаними полицями.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Словник — фігурні дужки, всередині пари «ключ: значення»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Дістаємо квадратними: ANSWERS["жарт"] — ключ у лапках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Ключа немає — KeyError, тому «невідомо» теж є в словнику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Нова тема — новий рядок даних, а не нова гілка коду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Список — полиця, де речі лежать за номерами. Словник 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шафа з підписаними шухлядами: щоб дістати річ, називаєш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не номер, а підпис.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18275"/>
          </a:xfrm>
          <a:prstGeom prst="roundRect">
            <a:avLst>
              <a:gd name="adj" fmla="val 442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словник і цикл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assistant2.py цілком. Нове — словник ANSWERS і цикл під функцією analyze.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7168896" cy="5276545"/>
          </a:xfrm>
          <a:prstGeom prst="roundRect">
            <a:avLst>
              <a:gd name="adj" fmla="val 240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ANSWERS[analyze(text)])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314944" y="1137742"/>
            <a:ext cx="3023616" cy="1787881"/>
          </a:xfrm>
          <a:prstGeom prst="roundRect">
            <a:avLst>
              <a:gd name="adj" fmla="val 7103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497824" y="1288618"/>
            <a:ext cx="2657856" cy="15684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Чотири ключі словника — це рівно ті чотири слова, які віддає analyze. KeyError на екрані — ключ і тема написані по-різному, звір їх буква в букву.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76701"/>
          </a:xfrm>
          <a:prstGeom prst="roundRect">
            <a:avLst>
              <a:gd name="adj" fmla="val 739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Час і жарт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Дві теми — і відповіді на них беруться зовсім по-різному. Питаю, у чому різниця.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Жарт можна написати заздалегідь. А котру годину — можна?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буде, якщо покласти час у словник як звичайний рядок?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програма взагалі знає, котра зараз година?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Які ще відповіді не можна написати наперед?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5552" y="310912"/>
            <a:ext cx="7802880" cy="3709776"/>
          </a:xfrm>
          <a:prstGeom prst="roundRect">
            <a:avLst>
              <a:gd name="adj" fmla="val 753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Час і жарт — різні відповіді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Жарт можна написати наперед. Час — ні: його треба дізнатись у ту секунду, коли спитали.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JOKES — список готових жартів, random.choice бере один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datetime.now() питає годинник у мить запиту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.strftime("Зараз %H:%M") робить із моменту рядок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from datetime import datetime — беремо з набору саме його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час і жарт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assistant2.py цілком. Нове — два import нагорі, список JOKES і функція answer.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398618"/>
          </a:xfrm>
          <a:prstGeom prst="roundRect">
            <a:avLst>
              <a:gd name="adj" fmla="val 2352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import random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from datetime import datetime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JOKES = ["Робот пішов спати — розрядився.",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 "Мій улюблений формат — .txt, він не сперечається."]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def answer(tema):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tema == "час":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datetime.now().strftime("Зараз %H:%M")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tema == "жарт":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random.choice(JOKES)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ANSWERS[tema]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answer(analyze(text)))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76701"/>
          </a:xfrm>
          <a:prstGeom prst="roundRect">
            <a:avLst>
              <a:gd name="adj" fmla="val 739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Настрій дня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відповідає правильно, але однаково. Дві хвилини: чого йому бракує?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відрізняється розмова з людиною від розмови з довідкою?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буває у вас настрій різний у різні дні?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показати настрій, не міняючи самих відповідей?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буде, якщо настрій мінятиметься на кожну фразу?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Настрій дня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Той самий помічник, але сьогодні він бадьорий, а завтра сонний. Одна змінна — і він ніби живий.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MOOD — жереб, кинутий один раз на старті програми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PREFIX — словник, який переводить настрій у приставку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Ключі PREFIX збігаються зі словами у списку настроїв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Відповіді ті самі — міняється лише приставка перед ними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ЗАПАМ'ЯТАТИ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Рядок з random.choice стоїть ЗВЕРХУ, поза циклом. Усередині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циклу настрій мінявся б на кожну репліку — це вже не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характер, а нервовий зрив.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настрій дня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Окрема програма mood.py: словник і цикл з блоку 3 плюс настрій дня — MOOD і PREFIX.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510403"/>
          </a:xfrm>
          <a:prstGeom prst="roundRect">
            <a:avLst>
              <a:gd name="adj" fmla="val 2305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import random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MOOD = random.choice(["бадьорий", "сонний", "жартівливий"])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PREFIX = {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"бадьорий": "Ого! 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"сонний": "Мм... 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"жартівливий": "Ха! 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" + PREFIX[MOOD] + ANSWERS[analyze(text)])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291154"/>
          </a:xfrm>
          <a:prstGeom prst="roundRect">
            <a:avLst>
              <a:gd name="adj" fmla="val 848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Паузи в розмові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Останній блок пари. Дві хвилини: чому миттєва відповідь здається неживою?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часу людина думає, перш ніж відповісти?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чат показує «друкує...», хоча міг би просто мовчати?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станеться, якщо пауза буде надто довга?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Паузи роблять розмову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Миттєва відповідь читається як табличка. Три крапки з паузами — як жива відповідь.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time.sleep(0.4) справді зупиняє програму на 0.4 секунди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end="" у print — не переходити на новий рядок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flush=True — «не збирай у буфер, покажи одразу»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for i in range(3): — цикл, який сам знає, що йому три рази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Не захоплюйтесь: пауза в дві секунди на кожну репліку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дратує вже на п'ятій. Півсекунди — досить, і саме тому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 нас 0.4.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паузу «думаю...»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Окрема програма thinking.py: словник і цикл з блоку 3 плюс пауза «думаю...».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398618"/>
          </a:xfrm>
          <a:prstGeom prst="roundRect">
            <a:avLst>
              <a:gd name="adj" fmla="val 2352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import time</a:t>
            </a:r>
          </a:p>
          <a:p>
            <a:pPr algn="l">
              <a:lnSpc>
                <a:spcPts val="1200"/>
              </a:lnSpc>
              <a:buNone/>
            </a:pPr>
            <a:endParaRPr lang="uk-UA" sz="1000"/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200"/>
              </a:lnSpc>
              <a:buNone/>
            </a:pPr>
            <a:endParaRPr lang="uk-UA" sz="1000"/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200"/>
              </a:lnSpc>
              <a:buNone/>
            </a:pPr>
            <a:endParaRPr lang="uk-UA" sz="1000"/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def thinking():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думаю", end="", flush=True)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for i in range(3):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time.sleep(0.4)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print(".", end="", flush=True)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print()</a:t>
            </a:r>
          </a:p>
          <a:p>
            <a:pPr algn="l">
              <a:lnSpc>
                <a:spcPts val="1200"/>
              </a:lnSpc>
              <a:buNone/>
            </a:pPr>
            <a:endParaRPr lang="uk-UA" sz="1000"/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thinking()</a:t>
            </a:r>
          </a:p>
          <a:p>
            <a:pPr algn="l">
              <a:lnSpc>
                <a:spcPts val="12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ANSWERS[analyze(text)])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2"/>
          <a:srcRect l="1001" r="1000"/>
          <a:stretch>
            <a:fillRect/>
          </a:stretch>
        </p:blipFill>
        <p:spPr>
          <a:xfrm>
            <a:off x="-190529" y="-236292"/>
            <a:ext cx="12502692" cy="7176332"/>
          </a:xfrm>
          <a:prstGeom prst="roundRect">
            <a:avLst>
              <a:gd name="adj" fmla="val 1770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2331720"/>
          </a:xfrm>
          <a:prstGeom prst="roundRect">
            <a:avLst>
              <a:gd name="adj" fmla="val 1198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Домашнє завдання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53440" y="1246099"/>
            <a:ext cx="6949440" cy="1104138"/>
          </a:xfrm>
          <a:prstGeom prst="roundRect">
            <a:avLst>
              <a:gd name="adj" fmla="val 11502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1036320" y="1398005"/>
            <a:ext cx="6583680" cy="93954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1. Скопіюй у analyze два рядки про «погод» — зроби з них «музик».</a:t>
            </a:r>
          </a:p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2. Додай у ANSWERS пару «музика»: відповідь у лапках і кома.</a:t>
            </a:r>
          </a:p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3. Додай у JOKES свій третій жарт — кома після другого.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Помічник рахує теми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відповідає, але нічого про розмову не знає. Питаю, як його навчити рахувати.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порахувати, про що тебе питали найчастіше?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лічильників треба, якщо тем чотири?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може словник почати порожнім і рости під час роботи?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787466"/>
          </a:xfrm>
          <a:prstGeom prst="roundRect">
            <a:avLst>
              <a:gd name="adj" fmla="val 482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Словник, який росте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Порожні фігурні дужки — теж словник. Далі він наповнюється сам, під час розмови.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538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SEEN = {} — словник без жодного рядка всередині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SEEN.get(tema, 0) — «дай значення, а якщо ключа немає, дай нуль»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SEEN[tema] = SEEN.get(tema, 0) + 1 — на одиницю більше, ніж було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print(SEEN) друкує весь словник як він є, разом із дужками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644238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740250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959706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Без .get() перший же новий ключ дав би KeyError — той самий,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про який ми говорили на блоці 3. Тому або перераховуємо всі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ключі заздалегідь, або питаємо через .get() і не думаємо.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37731"/>
          </a:xfrm>
          <a:prstGeom prst="roundRect">
            <a:avLst>
              <a:gd name="adj" fmla="val 427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лічильник тем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bonus1.py — словник і цикл з блоку 3 плюс лічильник тем SEEN.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6695846" cy="5496001"/>
          </a:xfrm>
          <a:prstGeom prst="roundRect">
            <a:avLst>
              <a:gd name="adj" fmla="val 2311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SEEN = {}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Ось про що ти питав:", SEEN)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tema = analyze(text)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SEEN[tema] = SEEN.get(tema, 0) + 1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ANSWERS[tema])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841894" y="1137742"/>
            <a:ext cx="3496666" cy="1540307"/>
          </a:xfrm>
          <a:prstGeom prst="roundRect">
            <a:avLst>
              <a:gd name="adj" fmla="val 824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024774" y="1288618"/>
            <a:ext cx="3130906" cy="13208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SEEN = {} стоїть поза циклом, інакше лічильник обнулятиметься щоразу. У циклі тепер один analyze на репліку, а не два: тема лежить у tema.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Помічник знає число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Час він уже каже. Питаю, чи так само просто буде з датою.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дата відрізняється від часу для програми?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місць у коді треба чіпати, щоб додати нову тему?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Якими словами люди питають про число?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463083"/>
          </a:xfrm>
          <a:prstGeom prst="roundRect">
            <a:avLst>
              <a:gd name="adj" fmla="val 511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Нова тема за зразком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Тема додається у два місця: там, де її впізнають, і там, де на неї відповідають.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У analyze — новий if з коренями слів, вище за останній return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У answer — новий if із порахованою відповіддю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strftime("Сьогодні %d.%m.%Y") робить із дати рядок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%d — число, %m — місяць, %Y — рік чотирма цифрами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31985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41586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63532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Порядок рядків у analyze має значення: return зупиняє функцію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одразу. Новий if, поставлений нижче за return «невідомо»,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не спрацює ніколи — і Python про це не скаже ні слова.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тема «дата»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bonus2.py — словник і цикл з блоку 3 плюс тема «дата» і функція answer.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510403"/>
          </a:xfrm>
          <a:prstGeom prst="roundRect">
            <a:avLst>
              <a:gd name="adj" fmla="val 2305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from datetime import datetime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"дат" in text or "число"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"дата"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def answer(tema):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tema == "дата":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datetime.now().strftime("Сьогодні %d.%m.%Y")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ANSWERS[tema]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answer(analyze(text)))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Помічник розповідає, що вміє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Група вже знає всі теми напам'ять. А новий користувач — ні. Питаю, як йому допомогти.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новий користувач дізнається, що можна спитати?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в програмі вже лежить список того, що вона вміє?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краще: написати список руками чи взяти його з коду?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77790"/>
          </a:xfrm>
          <a:prstGeom prst="roundRect">
            <a:avLst>
              <a:gd name="adj" fmla="val 539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Список тем і join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Один рядок перетворює список на людське перелічення через кому.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SKILLS — звичайний список назв тем у лапках через кому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", ".join(SKILLS) склеює список в один рядок через кому й пробіл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Склеювач стоїть попереду, а список — у дужках після join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Нова тема — новий рядок у SKILLS, і відповідь оновиться сама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034561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130573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50029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join працює тільки зі списком рядків. Якщо в списку буде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число, Python скаже TypeError: sequence item 0 — і це чесно: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склеїти число з текстом він відмовляється й тут.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«що ти вмієш»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bonus3.py — словник і цикл з блоку 3 плюс тема «вміння» і список SKILLS.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349926"/>
          </a:xfrm>
          <a:prstGeom prst="roundRect">
            <a:avLst>
              <a:gd name="adj" fmla="val 237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"вмі" in text or "можеш" in text: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"вміння"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SKILLS = ["жарт", "час", "погода"]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def answer(tema):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tema == "вміння":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"Я вмію: " + ", ".join(SKILLS)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ANSWERS[tema]</a:t>
            </a:r>
          </a:p>
          <a:p>
            <a:pPr algn="l">
              <a:lnSpc>
                <a:spcPts val="1265"/>
              </a:lnSpc>
              <a:buNone/>
            </a:pPr>
            <a:endParaRPr lang="uk-UA" sz="1100"/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265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answer(analyze(text)))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Настрій за годинником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Настрій ми кидали жеребом. Питаю, чи не можна зробити його чеснішим.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однаковий у вас настрій зранку і пізно ввечері?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програма може дізнатися, ранок зараз чи вечір?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«якщо менше за 12» відрізняється від «якщо дорівнює»?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77790"/>
          </a:xfrm>
          <a:prstGeom prst="roundRect">
            <a:avLst>
              <a:gd name="adj" fmla="val 539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Число замість жереба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Одне число з годинника — і настрій помічника перестає бути випадковим.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datetime.now().hour віддає саму годину числом від 0 до 23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if HOUR &lt; 12: — перевірка не на збіг, а на «менше»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elif HOUR &lt; 18: перевіряється тільки тоді, коли перша не спрацювала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else ловить усе, що лишилось: вечір і ніч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034561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130573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50029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Порядок перевірок важливий саме тому, що вони на «менше».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Якщо поставити 18 першим, то й дев'ята ранку буде «менше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за 18» — і помічник ніколи не стане бадьорим.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настрій за годиною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bonus4.py — словник і цикл з блоку 3 плюс настрій, який залежить від години.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10485120" cy="5398618"/>
          </a:xfrm>
          <a:prstGeom prst="roundRect">
            <a:avLst>
              <a:gd name="adj" fmla="val 2352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from datetime import datetime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"погод" in text: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"погода"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ANSWERS = {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"жарт": "Чому робот пішов спати? Розрядився.",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"час": "Годинник ще не підключив, вибач.",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"погода": "Вікна не бачу, але вір у сонце!",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"невідомо": "Я ще вчуся. Спитай про жарт, час чи погоду.",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HOUR = datetime.now().hour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if HOUR &lt; 12: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MOOD = "бадьорий"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elif HOUR &lt; 18: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MOOD = "жартівливий"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else: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MOOD = "сонний"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PREFIX = {"бадьорий": "Ого! ", "сонний": "Мм... ", "жартівливий": "Ха! "}</a:t>
            </a:r>
          </a:p>
          <a:p>
            <a:pPr algn="l">
              <a:lnSpc>
                <a:spcPts val="1100"/>
              </a:lnSpc>
              <a:buNone/>
            </a:pPr>
            <a:endParaRPr lang="uk-UA" sz="1000"/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text.lower() == "стоп":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10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" + PREFIX[MOOD] + ANSWERS[analyze(text)])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роки">
  <a:themeElements>
    <a:clrScheme name="Уроки">
      <a:dk1>
        <a:srgbClr val="1B1A17"/>
      </a:dk1>
      <a:lt1>
        <a:srgbClr val="FFFFFF"/>
      </a:lt1>
      <a:dk2>
        <a:srgbClr val="2B2823"/>
      </a:dk2>
      <a:lt2>
        <a:srgbClr val="F1EFE8"/>
      </a:lt2>
      <a:accent1>
        <a:srgbClr val="14513C"/>
      </a:accent1>
      <a:accent2>
        <a:srgbClr val="B9862F"/>
      </a:accent2>
      <a:accent3>
        <a:srgbClr val="9E4A3A"/>
      </a:accent3>
      <a:accent4>
        <a:srgbClr val="6C6860"/>
      </a:accent4>
      <a:accent5>
        <a:srgbClr val="E9EFE9"/>
      </a:accent5>
      <a:accent6>
        <a:srgbClr val="FFF6E3"/>
      </a:accent6>
      <a:hlink>
        <a:srgbClr val="14513C"/>
      </a:hlink>
      <a:folHlink>
        <a:srgbClr val="6C6860"/>
      </a:folHlink>
    </a:clrScheme>
    <a:fontScheme name="Уроки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Урок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12143</Words>
  <Application>Microsoft Macintosh PowerPoint</Application>
  <PresentationFormat>Widescreen</PresentationFormat>
  <Paragraphs>1384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Courier New</vt:lpstr>
      <vt:lpstr>Onest</vt:lpstr>
      <vt:lpstr>Уроки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Дмитро Штефан</cp:lastModifiedBy>
  <cp:revision>1</cp:revision>
  <dcterms:modified xsi:type="dcterms:W3CDTF">2026-10-14T18:10:07Z</dcterms:modified>
</cp:coreProperties>
</file>

<file path=docProps/core0.xml><?xml version="1.0" encoding="utf-8"?>
<cp:coreProperties xmlns:cp="http://schemas.openxmlformats.org/package/2006/metadata/core-properties" xmlns:dc="http://purl.org/dc/elements/1.1/" xmlns:xsi="http://www.w3.org/2001/XMLSchema-instance">
  <dc:title>Логіка спілкування</dc:title>
  <dc:subject>Перший помічник: слова, логіка, пам'ять · AI Assistant: створення помічника</dc:subject>
</cp:coreProperties>
</file>