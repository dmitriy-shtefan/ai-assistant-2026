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3"/>
    <p:restoredTop sz="68475"/>
  </p:normalViewPr>
  <p:slideViewPr>
    <p:cSldViewPr snapToGrid="0">
      <p:cViewPr varScale="1">
        <p:scale>
          <a:sx n="104" d="100"/>
          <a:sy n="104" d="100"/>
        </p:scale>
        <p:origin x="27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перекличка і план</a:t>
            </a:r>
          </a:p>
          <a:p>
            <a:endParaRPr lang="uk-UA" sz="1200" dirty="0"/>
          </a:p>
          <a:p>
            <a:r>
              <a:rPr lang="uk-UA" sz="1200" dirty="0"/>
              <a:t>Цей слайд висить на екрані, поки я роблю перекличку. Група читає план сама —</a:t>
            </a:r>
          </a:p>
          <a:p>
            <a:r>
              <a:rPr lang="uk-UA" sz="1200" dirty="0"/>
              <a:t>мені говорити нічого не треба, і п'ять хвилин не пропадають.</a:t>
            </a:r>
          </a:p>
          <a:p>
            <a:endParaRPr lang="uk-UA" sz="1200" dirty="0"/>
          </a:p>
          <a:p>
            <a:r>
              <a:rPr lang="uk-UA" sz="1200" dirty="0"/>
              <a:t>Коли перекличка скінчилась, кажу головне одним реченням: сьогодні помічник</a:t>
            </a:r>
          </a:p>
          <a:p>
            <a:r>
              <a:rPr lang="uk-UA" sz="1200" dirty="0"/>
              <a:t>уперше відповідатиме не тим, що ми йому написали.</a:t>
            </a:r>
          </a:p>
          <a:p>
            <a:endParaRPr lang="uk-UA" sz="1200" dirty="0"/>
          </a:p>
          <a:p>
            <a:r>
              <a:rPr lang="uk-UA" sz="1200" dirty="0"/>
              <a:t>Нагадую, де ми зупинились. У нашому помічнику є теми, які ми придумали</a:t>
            </a:r>
          </a:p>
          <a:p>
            <a:r>
              <a:rPr lang="uk-UA" sz="1200" dirty="0"/>
              <a:t>руками: жарт, час, нотатки. Питаю групу: а що буде, якщо спитати його, чому</a:t>
            </a:r>
          </a:p>
          <a:p>
            <a:r>
              <a:rPr lang="uk-UA" sz="1200" dirty="0"/>
              <a:t>небо синє? Правильна відповідь — «я ще вчуся». І так буде завжди, скільки б</a:t>
            </a:r>
          </a:p>
          <a:p>
            <a:r>
              <a:rPr lang="uk-UA" sz="1200" dirty="0"/>
              <a:t>тем ми не додали: усіх питань світу руками не напишеш.</a:t>
            </a:r>
          </a:p>
          <a:p>
            <a:endParaRPr lang="uk-UA" sz="1200" dirty="0"/>
          </a:p>
          <a:p>
            <a:r>
              <a:rPr lang="uk-UA" sz="1200" dirty="0"/>
              <a:t>Тому сьогодні ми підключаємо чужий розум. Модель уже навчена, вчити її не</a:t>
            </a:r>
          </a:p>
          <a:p>
            <a:r>
              <a:rPr lang="uk-UA" sz="1200" dirty="0"/>
              <a:t>треба. Наше завдання інше: навчитись правильно її питати й правильно читати</a:t>
            </a:r>
          </a:p>
          <a:p>
            <a:r>
              <a:rPr lang="uk-UA" sz="1200" dirty="0"/>
              <a:t>відповідь.</a:t>
            </a:r>
          </a:p>
          <a:p>
            <a:endParaRPr lang="uk-UA" sz="1200" dirty="0"/>
          </a:p>
          <a:p>
            <a:r>
              <a:rPr lang="uk-UA" sz="1200" dirty="0"/>
              <a:t>Як влаштована пара, кажу одразу: шість однакових кроків. Спершу я показую на</a:t>
            </a:r>
          </a:p>
          <a:p>
            <a:r>
              <a:rPr lang="uk-UA" sz="1200" dirty="0"/>
              <a:t>телевізорі й пояснюю — усі дивляться, ніхто не набирає. Потім на екрані</a:t>
            </a:r>
          </a:p>
          <a:p>
            <a:r>
              <a:rPr lang="uk-UA" sz="1200" dirty="0"/>
              <a:t>з'являється те, що треба набрати, — і набирають усі. Вигадувати нічого не</a:t>
            </a:r>
          </a:p>
          <a:p>
            <a:r>
              <a:rPr lang="uk-UA" sz="1200" dirty="0"/>
              <a:t>треба, усе буде на екрані.</a:t>
            </a:r>
          </a:p>
          <a:p>
            <a:endParaRPr lang="uk-UA" sz="1200" dirty="0"/>
          </a:p>
          <a:p>
            <a:r>
              <a:rPr lang="uk-UA" sz="1200" dirty="0"/>
              <a:t>Одразу знімаю два страхи. Перший: «це складно» — насправді весь запит це</a:t>
            </a:r>
          </a:p>
          <a:p>
            <a:r>
              <a:rPr lang="uk-UA" sz="1200" dirty="0"/>
              <a:t>чотири рядки. Другий: «а якщо не буде працювати </a:t>
            </a:r>
            <a:r>
              <a:rPr lang="en-US" sz="1200" dirty="0"/>
              <a:t>AI</a:t>
            </a:r>
            <a:r>
              <a:rPr lang="uk-UA" sz="1200" dirty="0"/>
              <a:t>» — у нас буде запасний план,</a:t>
            </a:r>
          </a:p>
          <a:p>
            <a:r>
              <a:rPr lang="uk-UA" sz="1200" dirty="0"/>
              <a:t>мок-функція з останнього блоку, і урок від цього не зупиниться.</a:t>
            </a:r>
          </a:p>
          <a:p>
            <a:endParaRPr lang="uk-UA" sz="1200" dirty="0"/>
          </a:p>
          <a:p>
            <a:r>
              <a:rPr lang="uk-UA" sz="1200" dirty="0"/>
              <a:t>Технічне, що краще перевірити до дзвінка: чи проходить pip</a:t>
            </a:r>
          </a:p>
          <a:p>
            <a:r>
              <a:rPr lang="uk-UA" sz="1200" dirty="0"/>
              <a:t>install requests, і чи лежить у мене на екрані свій ключ про запас. Якщо</a:t>
            </a:r>
          </a:p>
          <a:p>
            <a:r>
              <a:rPr lang="uk-UA" sz="1200" dirty="0"/>
              <a:t>мережі немає зовсім — веду урок демонстраційно, а група набирає все те саме й</a:t>
            </a:r>
          </a:p>
          <a:p>
            <a:r>
              <a:rPr lang="uk-UA" sz="1200" dirty="0"/>
              <a:t>працює через мок.</a:t>
            </a:r>
          </a:p>
          <a:p>
            <a:endParaRPr lang="uk-UA" sz="1200" dirty="0"/>
          </a:p>
          <a:p>
            <a:r>
              <a:rPr lang="uk-UA" sz="1200" dirty="0"/>
              <a:t>І нагадую про папку з уроку 3: user.json, notes.txt і persona.txt мають лежати</a:t>
            </a:r>
          </a:p>
          <a:p>
            <a:r>
              <a:rPr lang="uk-UA" sz="1200" dirty="0"/>
              <a:t>там же, куди ми сьогодні покладемо key.txt.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  <a:r>
              <a:rPr lang="en-US" sz="1200" dirty="0"/>
              <a:t> (7 </a:t>
            </a:r>
            <a:r>
              <a:rPr lang="uk-UA" sz="1200" dirty="0"/>
              <a:t>хв)</a:t>
            </a:r>
          </a:p>
          <a:p>
            <a:endParaRPr lang="uk-UA" sz="1200" dirty="0"/>
          </a:p>
          <a:p>
            <a:r>
              <a:rPr lang="uk-UA" sz="1200" dirty="0"/>
              <a:t>Дві хвилини на початку уроку. Питання ведуть до образу віконця видачі, і</a:t>
            </a:r>
          </a:p>
          <a:p>
            <a:r>
              <a:rPr lang="uk-UA" sz="1200" dirty="0"/>
              <a:t>краще, щоб цей образ назвали діти, а не я.</a:t>
            </a:r>
          </a:p>
          <a:p>
            <a:endParaRPr lang="uk-UA" sz="1200" dirty="0"/>
          </a:p>
          <a:p>
            <a:r>
              <a:rPr lang="uk-UA" sz="1200" dirty="0"/>
              <a:t>ЗВІДКИ ВЗЯТИ ТЕ, ЧОГО НЕ ЗНАЄШ. Кажуть: з інтернету, спитати когось. Ловлю</a:t>
            </a:r>
          </a:p>
          <a:p>
            <a:r>
              <a:rPr lang="uk-UA" sz="1200" dirty="0"/>
              <a:t>друге: спитати. Саме це програма й робить — питає іншу програму.</a:t>
            </a:r>
          </a:p>
          <a:p>
            <a:endParaRPr lang="uk-UA" sz="1200" dirty="0"/>
          </a:p>
          <a:p>
            <a:r>
              <a:rPr lang="uk-UA" sz="1200" dirty="0"/>
              <a:t>ЧИ МОЖНА ЗАЙТИ В ЧУЖУ ПРОГРАМУ. Відповідь очевидна — ні. Питаю чому. Бо це</a:t>
            </a:r>
          </a:p>
          <a:p>
            <a:r>
              <a:rPr lang="uk-UA" sz="1200" dirty="0"/>
              <a:t>чуже, бо там гроші, бо зламають. Усе правильно, і саме тому доступ дають не</a:t>
            </a:r>
          </a:p>
          <a:p>
            <a:r>
              <a:rPr lang="uk-UA" sz="1200" dirty="0"/>
              <a:t>всередину, а через віконце.</a:t>
            </a:r>
          </a:p>
          <a:p>
            <a:endParaRPr lang="uk-UA" sz="1200" dirty="0"/>
          </a:p>
          <a:p>
            <a:r>
              <a:rPr lang="uk-UA" sz="1200" dirty="0"/>
              <a:t>ЯК ЗАМОВЛЯЮТЬ ТАМ, КУДИ НЕ ПУСКАЮТЬ. Найкорисніше питання. Приклади знаходять</a:t>
            </a:r>
          </a:p>
          <a:p>
            <a:r>
              <a:rPr lang="uk-UA" sz="1200" dirty="0"/>
              <a:t>швидко: аптека, пошта, видача замовлень, каса. Беру перший названий і далі весь</a:t>
            </a:r>
          </a:p>
          <a:p>
            <a:r>
              <a:rPr lang="uk-UA" sz="1200" dirty="0"/>
              <a:t>урок говорю саме про нього.</a:t>
            </a:r>
          </a:p>
          <a:p>
            <a:endParaRPr lang="uk-UA" sz="1200" dirty="0"/>
          </a:p>
          <a:p>
            <a:r>
              <a:rPr lang="uk-UA" sz="1200" dirty="0"/>
              <a:t>БЛАНК ЗАПОВНЕНИЙ НЕПРАВИЛЬНО. Кажуть: не приймуть, скажуть переробити. Ось і</a:t>
            </a:r>
          </a:p>
          <a:p>
            <a:r>
              <a:rPr lang="uk-UA" sz="1200" dirty="0"/>
              <a:t>сервер так само: він відповість числом, і число це ми сьогодні побачимо не раз.</a:t>
            </a:r>
          </a:p>
          <a:p>
            <a:endParaRPr lang="uk-UA" sz="1200" dirty="0"/>
          </a:p>
          <a:p>
            <a:r>
              <a:rPr lang="uk-UA" sz="1200" dirty="0"/>
              <a:t>Далі показ. Він займе чотири хвилини й закінчиться тим самим образом віконця.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(11 хв)</a:t>
            </a:r>
          </a:p>
          <a:p>
            <a:endParaRPr lang="uk-UA" sz="1200" dirty="0"/>
          </a:p>
          <a:p>
            <a:r>
              <a:rPr lang="uk-UA" sz="1200" dirty="0"/>
              <a:t>Найважливіший блок для розуміння всього уроку: якщо образ зайде, решта піде</a:t>
            </a:r>
          </a:p>
          <a:p>
            <a:r>
              <a:rPr lang="uk-UA" sz="1200" dirty="0"/>
              <a:t>легко. Говорю сам, група слухає й нічого не набирає — попереджаю про це</a:t>
            </a:r>
          </a:p>
          <a:p>
            <a:r>
              <a:rPr lang="uk-UA" sz="1200" dirty="0"/>
              <a:t>окремо, інакше половина одразу полізе в клавіатуру.</a:t>
            </a:r>
          </a:p>
          <a:p>
            <a:endParaRPr lang="uk-UA" sz="1200" dirty="0"/>
          </a:p>
          <a:p>
            <a:r>
              <a:rPr lang="uk-UA" sz="1200" dirty="0"/>
              <a:t>Пояснюю через віконце видачі — у їдальні, на пошті, у сервісному центрі. На</a:t>
            </a:r>
          </a:p>
          <a:p>
            <a:r>
              <a:rPr lang="uk-UA" sz="1200" dirty="0"/>
              <a:t>кухню нас не пускають і кухаря не показують. Але є віконце, є бланк, і якщо</a:t>
            </a:r>
          </a:p>
          <a:p>
            <a:r>
              <a:rPr lang="uk-UA" sz="1200" dirty="0"/>
              <a:t>бланк заповнити правильно, через хвилину принесуть тацю з тим, що замовляли.</a:t>
            </a:r>
          </a:p>
          <a:p>
            <a:endParaRPr lang="uk-UA" sz="1200" dirty="0"/>
          </a:p>
          <a:p>
            <a:r>
              <a:rPr lang="uk-UA" sz="1200" dirty="0"/>
              <a:t>API — рівно те саме між програмами. Наша програма не заходить усередину</a:t>
            </a:r>
          </a:p>
          <a:p>
            <a:r>
              <a:rPr lang="uk-UA" sz="1200" dirty="0"/>
              <a:t>ChatGPT, та й не змогла б: він на чужих серверах. Вона подає записку у</a:t>
            </a:r>
          </a:p>
          <a:p>
            <a:r>
              <a:rPr lang="uk-UA" sz="1200" dirty="0"/>
              <a:t>віконце — ось адреса, ось хто я, ось моє питання — і отримує назад відповідь у</a:t>
            </a:r>
          </a:p>
          <a:p>
            <a:r>
              <a:rPr lang="uk-UA" sz="1200" dirty="0"/>
              <a:t>заздалегідь домовленій формі.</a:t>
            </a:r>
          </a:p>
          <a:p>
            <a:endParaRPr lang="uk-UA" sz="1200" dirty="0"/>
          </a:p>
          <a:p>
            <a:r>
              <a:rPr lang="uk-UA" sz="1200" dirty="0"/>
              <a:t>Наголошую на слові «домовленість»: API — не програма й не файл. Це правила, за</a:t>
            </a:r>
          </a:p>
          <a:p>
            <a:r>
              <a:rPr lang="uk-UA" sz="1200" dirty="0"/>
              <a:t>якими двоє домовились розмовляти. Тому й кажуть «API сервісу»: у кожного вони</a:t>
            </a:r>
          </a:p>
          <a:p>
            <a:r>
              <a:rPr lang="uk-UA" sz="1200" dirty="0"/>
              <a:t>свої, як бланки на різних поштах.</a:t>
            </a:r>
          </a:p>
          <a:p>
            <a:endParaRPr lang="uk-UA" sz="1200" dirty="0"/>
          </a:p>
          <a:p>
            <a:r>
              <a:rPr lang="uk-UA" sz="1200" dirty="0"/>
              <a:t>Прошу групу назвати, де вони вже стикалися з API, самі того не знаючи. Гарні</a:t>
            </a:r>
          </a:p>
          <a:p>
            <a:r>
              <a:rPr lang="uk-UA" sz="1200" dirty="0"/>
              <a:t>відповіді: гра показує погоду — вона питає чужий сервіс; сайт із квитками</a:t>
            </a:r>
          </a:p>
          <a:p>
            <a:r>
              <a:rPr lang="uk-UA" sz="1200" dirty="0"/>
              <a:t>питає розклад у залізниці; телефон показує курс валют. Усі вони не зберігають</a:t>
            </a:r>
          </a:p>
          <a:p>
            <a:r>
              <a:rPr lang="uk-UA" sz="1200" dirty="0"/>
              <a:t>ці дані, а щоразу питають того, хто знає.</a:t>
            </a:r>
          </a:p>
          <a:p>
            <a:endParaRPr lang="uk-UA" sz="1200" dirty="0"/>
          </a:p>
          <a:p>
            <a:r>
              <a:rPr lang="uk-UA" sz="1200" dirty="0"/>
              <a:t>Кажу чесно й одразу: за віконцем стоїть чужий сервер. Отже, потрібен інтернет;</a:t>
            </a:r>
          </a:p>
          <a:p>
            <a:r>
              <a:rPr lang="uk-UA" sz="1200" dirty="0"/>
              <a:t>отже, буває черга; отже, за це просять грошей. Усі три речі ми зустрінемо вже</a:t>
            </a:r>
          </a:p>
          <a:p>
            <a:r>
              <a:rPr lang="uk-UA" sz="1200" dirty="0"/>
              <a:t>сьогодні.</a:t>
            </a:r>
          </a:p>
          <a:p>
            <a:endParaRPr lang="uk-UA" sz="1200" dirty="0"/>
          </a:p>
          <a:p>
            <a:r>
              <a:rPr lang="uk-UA" sz="1200" dirty="0"/>
              <a:t>Де плутаються: думають, що API — це сама модель. Ні, API — це вхід до неї.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кілька рядків і стукаємо в справжнє віконце — без</a:t>
            </a:r>
          </a:p>
          <a:p>
            <a:r>
              <a:rPr lang="uk-UA" sz="1200" dirty="0"/>
              <a:t>ключа й без грошей, просто щоб побачити, що воно відповідає.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(16 хв)</a:t>
            </a:r>
          </a:p>
          <a:p>
            <a:endParaRPr lang="uk-UA" sz="1200" dirty="0"/>
          </a:p>
          <a:p>
            <a:r>
              <a:rPr lang="uk-UA" sz="1200" dirty="0"/>
              <a:t>Перше, що група робить руками, і навмисно найпростіше: чотири рядки й одна</a:t>
            </a:r>
          </a:p>
          <a:p>
            <a:r>
              <a:rPr lang="uk-UA" sz="1200" dirty="0"/>
              <a:t>бібліотека. Віконце, у яке ми стукаємо, справжнє — GitHub віддає випадкову</a:t>
            </a:r>
          </a:p>
          <a:p>
            <a:r>
              <a:rPr lang="uk-UA" sz="1200" dirty="0"/>
              <a:t>пораду програмістам, не питає ключа й не бере грошей.</a:t>
            </a:r>
          </a:p>
          <a:p>
            <a:endParaRPr lang="uk-UA" sz="1200" dirty="0"/>
          </a:p>
          <a:p>
            <a:r>
              <a:rPr lang="uk-UA" sz="1200" dirty="0"/>
              <a:t>Порядок кажу вголос. Спершу термінал: pip install requests. У PyCharm це</a:t>
            </a:r>
          </a:p>
          <a:p>
            <a:r>
              <a:rPr lang="uk-UA" sz="1200" dirty="0"/>
              <a:t>вкладка внизу вікна. Прошу одразу сказати, у кого не вийшло, — далі без цієї</a:t>
            </a:r>
          </a:p>
          <a:p>
            <a:r>
              <a:rPr lang="uk-UA" sz="1200" dirty="0"/>
              <a:t>бібліотеки не рушимо. Якщо не ставиться через права або проксі, допомагає</a:t>
            </a:r>
          </a:p>
          <a:p>
            <a:r>
              <a:rPr lang="uk-UA" sz="1200" dirty="0"/>
              <a:t>python -m pip install requests.</a:t>
            </a:r>
          </a:p>
          <a:p>
            <a:endParaRPr lang="uk-UA" sz="1200" dirty="0"/>
          </a:p>
          <a:p>
            <a:r>
              <a:rPr lang="uk-UA" sz="1200" dirty="0"/>
              <a:t>Потім створюємо api_test.py у тій самій папці, де з уроку 3 лежать user.json і</a:t>
            </a:r>
          </a:p>
          <a:p>
            <a:r>
              <a:rPr lang="uk-UA" sz="1200" dirty="0"/>
              <a:t>notes.txt, і набираємо рядки з екрана.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ModuleNotFoundError: requests — бібліотеку не поставили або поставили в</a:t>
            </a:r>
          </a:p>
          <a:p>
            <a:r>
              <a:rPr lang="uk-UA" sz="1200" dirty="0"/>
              <a:t>    інший Python; повертаємось у термінал;</a:t>
            </a:r>
          </a:p>
          <a:p>
            <a:r>
              <a:rPr lang="uk-UA" sz="1200" dirty="0"/>
              <a:t>    помилка в адресі — вона довга, звіряємо посимвольно;</a:t>
            </a:r>
          </a:p>
          <a:p>
            <a:r>
              <a:rPr lang="uk-UA" sz="1200" dirty="0"/>
              <a:t>    ConnectionError замість числа — немає інтернету. Кажу вголос, що це не</a:t>
            </a:r>
          </a:p>
          <a:p>
            <a:r>
              <a:rPr lang="uk-UA" sz="1200" dirty="0"/>
              <a:t>    їхня поломка: показую все на своєму екрані, і в блоці 6 з'явиться мок,</a:t>
            </a:r>
          </a:p>
          <a:p>
            <a:r>
              <a:rPr lang="uk-UA" sz="1200" dirty="0"/>
              <a:t>    який працює й без мережі.</a:t>
            </a:r>
          </a:p>
          <a:p>
            <a:endParaRPr lang="uk-UA" sz="1200" dirty="0"/>
          </a:p>
          <a:p>
            <a:r>
              <a:rPr lang="uk-UA" sz="1200" dirty="0"/>
              <a:t>Що обговорюємо після. Питаю: наша програма зайшла всередину GitHub? Ні, вона</a:t>
            </a:r>
          </a:p>
          <a:p>
            <a:r>
              <a:rPr lang="uk-UA" sz="1200" dirty="0"/>
              <a:t>подала записку у віконце й отримала відповідь. Друге питання: що таке 200? Це</a:t>
            </a:r>
          </a:p>
          <a:p>
            <a:r>
              <a:rPr lang="uk-UA" sz="1200" dirty="0"/>
              <a:t>не текст відповіді, а слово про саму доставку — «прийняв, ось тобі таця». Далі</a:t>
            </a:r>
          </a:p>
          <a:p>
            <a:r>
              <a:rPr lang="uk-UA" sz="1200" dirty="0"/>
              <a:t>весь урок ми дивитимемось саме на це число.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останнім рядком</a:t>
            </a:r>
          </a:p>
          <a:p>
            <a:endParaRPr lang="uk-UA" sz="1200" dirty="0"/>
          </a:p>
          <a:p>
            <a:r>
              <a:rPr lang="uk-UA" sz="1200" dirty="0"/>
              <a:t>    print("Довжина відповіді:", len(r.text))</a:t>
            </a:r>
          </a:p>
          <a:p>
            <a:endParaRPr lang="uk-UA" sz="1200" dirty="0"/>
          </a:p>
          <a:p>
            <a:r>
              <a:rPr lang="uk-UA" sz="1200" dirty="0"/>
              <a:t>і запустить ще двічі. Фраза щоразу інша, довжина інша, а 200 те саме.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api_test.py</a:t>
            </a:r>
          </a:p>
          <a:p>
            <a:r>
              <a:rPr lang="uk-UA" sz="1200" dirty="0"/>
              <a:t>Код: 200</a:t>
            </a:r>
          </a:p>
          <a:p>
            <a:r>
              <a:rPr lang="uk-UA" sz="1200" dirty="0"/>
              <a:t>Відповідь: Design for failure.</a:t>
            </a:r>
          </a:p>
          <a:p>
            <a:endParaRPr lang="uk-UA" sz="1200" dirty="0"/>
          </a:p>
          <a:p>
            <a:r>
              <a:rPr lang="uk-UA" sz="1200" dirty="0"/>
              <a:t>Фраза щоразу інша: це віконце GitHub, воно віддає випадкову пораду</a:t>
            </a:r>
          </a:p>
          <a:p>
            <a:r>
              <a:rPr lang="uk-UA" sz="1200" dirty="0"/>
              <a:t>програмістам і не просить ні ключа, ні грошей.</a:t>
            </a:r>
          </a:p>
          <a:p>
            <a:endParaRPr lang="uk-UA" sz="1200" dirty="0"/>
          </a:p>
          <a:p>
            <a:r>
              <a:rPr lang="uk-UA" sz="1200" dirty="0"/>
              <a:t>Важливе тут не сама фраза, а два факти: програма сама сходила на</a:t>
            </a:r>
          </a:p>
          <a:p>
            <a:r>
              <a:rPr lang="uk-UA" sz="1200" dirty="0"/>
              <a:t>чужий сервер і повернулася звідти, а число 200 сказало, що записку</a:t>
            </a:r>
          </a:p>
          <a:p>
            <a:r>
              <a:rPr lang="uk-UA" sz="1200" dirty="0"/>
              <a:t>прийняли.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(18 хв)</a:t>
            </a:r>
          </a:p>
          <a:p>
            <a:endParaRPr lang="uk-UA" sz="1200" dirty="0"/>
          </a:p>
          <a:p>
            <a:r>
              <a:rPr lang="uk-UA" sz="1200" dirty="0"/>
              <a:t>Дві хвилини перед розбором запиту. Питання про конверт — і відповіді на них у</a:t>
            </a:r>
          </a:p>
          <a:p>
            <a:r>
              <a:rPr lang="uk-UA" sz="1200" dirty="0"/>
              <a:t>дітей уже є з життя.</a:t>
            </a:r>
          </a:p>
          <a:p>
            <a:endParaRPr lang="uk-UA" sz="1200" dirty="0"/>
          </a:p>
          <a:p>
            <a:r>
              <a:rPr lang="uk-UA" sz="1200" dirty="0"/>
              <a:t>ЩО ПИШУТЬ НА КОНВЕРТІ. Адресу й від кого. Ловлю обидві відповіді: адреса — це</a:t>
            </a:r>
          </a:p>
          <a:p>
            <a:r>
              <a:rPr lang="uk-UA" sz="1200" dirty="0"/>
              <a:t>endpoint, від кого — це заголовки з ключем. Сам лист — це тіло запиту. Три</a:t>
            </a:r>
          </a:p>
          <a:p>
            <a:r>
              <a:rPr lang="uk-UA" sz="1200" dirty="0"/>
              <a:t>частини, названі дітьми.</a:t>
            </a:r>
          </a:p>
          <a:p>
            <a:endParaRPr lang="uk-UA" sz="1200" dirty="0"/>
          </a:p>
          <a:p>
            <a:r>
              <a:rPr lang="uk-UA" sz="1200" dirty="0"/>
              <a:t>ЗВІДКИ СЕРВЕР ЗНАЄ, ХТО ПРИЙШОВ. Кажуть: по імені, по паролю. Кажу, що майже</a:t>
            </a:r>
          </a:p>
          <a:p>
            <a:r>
              <a:rPr lang="uk-UA" sz="1200" dirty="0"/>
              <a:t>так — по ключу, і ключ буде окремим блоком за десять хвилин.</a:t>
            </a:r>
          </a:p>
          <a:p>
            <a:endParaRPr lang="uk-UA" sz="1200" dirty="0"/>
          </a:p>
          <a:p>
            <a:r>
              <a:rPr lang="uk-UA" sz="1200" dirty="0"/>
              <a:t>ЯКОЮ МОВОЮ ДОМОВЛЯЮТЬСЯ. Тут можна почути «англійською» — і це смішно й майже</a:t>
            </a:r>
          </a:p>
          <a:p>
            <a:r>
              <a:rPr lang="uk-UA" sz="1200" dirty="0"/>
              <a:t>правильно. Кажу: формат називається JSON, і ми його вже бачили. Прошу згадати</a:t>
            </a:r>
          </a:p>
          <a:p>
            <a:r>
              <a:rPr lang="uk-UA" sz="1200" dirty="0"/>
              <a:t>де. Урок 3, файл user.json. Якщо хтось згадає сам — хвалю голосно, бо це саме</a:t>
            </a:r>
          </a:p>
          <a:p>
            <a:r>
              <a:rPr lang="uk-UA" sz="1200" dirty="0"/>
              <a:t>та нитка, заради якої урок 3 стояв перед уроком 4.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(22 хв)</a:t>
            </a:r>
          </a:p>
          <a:p>
            <a:endParaRPr lang="uk-UA" sz="1200" dirty="0"/>
          </a:p>
          <a:p>
            <a:r>
              <a:rPr lang="uk-UA" sz="1200" dirty="0"/>
              <a:t>Блок, що перетворює образ віконця на три конкретні слова. Кожне пояснюю окремо</a:t>
            </a:r>
          </a:p>
          <a:p>
            <a:r>
              <a:rPr lang="uk-UA" sz="1200" dirty="0"/>
              <a:t>і одразу прив'язую до образу.</a:t>
            </a:r>
          </a:p>
          <a:p>
            <a:endParaRPr lang="uk-UA" sz="1200" dirty="0"/>
          </a:p>
          <a:p>
            <a:r>
              <a:rPr lang="uk-UA" sz="1200" dirty="0"/>
              <a:t>endpoint — адреса віконця. У великих сервісів віконець багато: одне для</a:t>
            </a:r>
          </a:p>
          <a:p>
            <a:r>
              <a:rPr lang="uk-UA" sz="1200" dirty="0"/>
              <a:t>тексту, друге для картинок, третє для звуку. Адреса каже, у яке саме ми</a:t>
            </a:r>
          </a:p>
          <a:p>
            <a:r>
              <a:rPr lang="uk-UA" sz="1200" dirty="0"/>
              <a:t>стукаємо. Виглядає як звичайне посилання, тільки відкривати його в браузері</a:t>
            </a:r>
          </a:p>
          <a:p>
            <a:r>
              <a:rPr lang="uk-UA" sz="1200" dirty="0"/>
              <a:t>марно: воно чекає на запит від програми, а не від людини.</a:t>
            </a:r>
          </a:p>
          <a:p>
            <a:endParaRPr lang="uk-UA" sz="1200" dirty="0"/>
          </a:p>
          <a:p>
            <a:r>
              <a:rPr lang="uk-UA" sz="1200" dirty="0"/>
              <a:t>headers — заголовки. Це те, що написано на конверті, а не в листі. Головне,</a:t>
            </a:r>
          </a:p>
          <a:p>
            <a:r>
              <a:rPr lang="uk-UA" sz="1200" dirty="0"/>
              <a:t>що ми туди кладемо, — ключ: «я такий-то, у мене є дозвіл». Без ключа записку</a:t>
            </a:r>
          </a:p>
          <a:p>
            <a:r>
              <a:rPr lang="uk-UA" sz="1200" dirty="0"/>
              <a:t>не приймуть, і сьогодні ми це побачимо кодом 401.</a:t>
            </a:r>
          </a:p>
          <a:p>
            <a:endParaRPr lang="uk-UA" sz="1200" dirty="0"/>
          </a:p>
          <a:p>
            <a:r>
              <a:rPr lang="uk-UA" sz="1200" dirty="0"/>
              <a:t>Тіло запиту — власне питання. Воно їде у форматі JSON, і тут кажу вголос</a:t>
            </a:r>
          </a:p>
          <a:p>
            <a:r>
              <a:rPr lang="uk-UA" sz="1200" dirty="0"/>
              <a:t>приємне: цей формат ми вже знаємо. На уроці 3 ми клали у user.json словник із</a:t>
            </a:r>
          </a:p>
          <a:p>
            <a:r>
              <a:rPr lang="uk-UA" sz="1200" dirty="0"/>
              <a:t>фігурними дужками й парами «ключ»: значення — тіло запиту виглядає так само.</a:t>
            </a:r>
          </a:p>
          <a:p>
            <a:endParaRPr lang="uk-UA" sz="1200" dirty="0"/>
          </a:p>
          <a:p>
            <a:r>
              <a:rPr lang="uk-UA" sz="1200" dirty="0"/>
              <a:t>У тілі два поля. model — яку саме модель просимо. messages — СПИСОК</a:t>
            </a:r>
          </a:p>
          <a:p>
            <a:r>
              <a:rPr lang="uk-UA" sz="1200" dirty="0"/>
              <a:t>повідомлень, і всередині нього словник із двома полями: role (хто говорить) і</a:t>
            </a:r>
          </a:p>
          <a:p>
            <a:r>
              <a:rPr lang="uk-UA" sz="1200" dirty="0"/>
              <a:t>content (що саме). Сьогодні в списку одне повідомлення. На уроці 5 їх стане</a:t>
            </a:r>
          </a:p>
          <a:p>
            <a:r>
              <a:rPr lang="uk-UA" sz="1200" dirty="0"/>
              <a:t>багато — і саме так у помічника з'явиться пам'ять розмови, тому список варто</a:t>
            </a:r>
          </a:p>
          <a:p>
            <a:r>
              <a:rPr lang="uk-UA" sz="1200" dirty="0"/>
              <a:t>роздивитись уже зараз.</a:t>
            </a:r>
          </a:p>
          <a:p>
            <a:endParaRPr lang="uk-UA" sz="1200" dirty="0"/>
          </a:p>
          <a:p>
            <a:r>
              <a:rPr lang="uk-UA" sz="1200" dirty="0"/>
              <a:t>Прошу групу самих сказати, що станеться, якщо покласти ключ у тіло замість</a:t>
            </a:r>
          </a:p>
          <a:p>
            <a:r>
              <a:rPr lang="uk-UA" sz="1200" dirty="0"/>
              <a:t>заголовків. Правильна відповідь — не пустять: на конверті не написано, хто</a:t>
            </a:r>
          </a:p>
          <a:p>
            <a:r>
              <a:rPr lang="uk-UA" sz="1200" dirty="0"/>
              <a:t>відправник.</a:t>
            </a:r>
          </a:p>
          <a:p>
            <a:endParaRPr lang="uk-UA" sz="1200" dirty="0"/>
          </a:p>
          <a:p>
            <a:r>
              <a:rPr lang="uk-UA" sz="1200" dirty="0"/>
              <a:t>Де плутаються: думають, що endpoint треба відкрити в браузері; плутають</a:t>
            </a:r>
          </a:p>
          <a:p>
            <a:r>
              <a:rPr lang="uk-UA" sz="1200" dirty="0"/>
              <a:t>заголовки із самим питанням; лякаються слова JSON, забувши, що вже його</a:t>
            </a:r>
          </a:p>
          <a:p>
            <a:r>
              <a:rPr lang="uk-UA" sz="1200" dirty="0"/>
              <a:t>бачили.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адресу й тіло запиту. Нікуди воно ще не полетить —</a:t>
            </a:r>
          </a:p>
          <a:p>
            <a:r>
              <a:rPr lang="uk-UA" sz="1200" dirty="0"/>
              <a:t>спершу складемо записку.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(27 хв)</a:t>
            </a:r>
          </a:p>
          <a:p>
            <a:endParaRPr lang="uk-UA" sz="1200" dirty="0"/>
          </a:p>
          <a:p>
            <a:r>
              <a:rPr lang="uk-UA" sz="1200" dirty="0"/>
              <a:t>Набираємо записку, але ще не надсилаємо. Кажу це прямо, щоб ніхто не чекав</a:t>
            </a:r>
          </a:p>
          <a:p>
            <a:r>
              <a:rPr lang="uk-UA" sz="1200" dirty="0"/>
              <a:t>відповіді моделі: сьогодні вона буде, але через два блоки.</a:t>
            </a:r>
          </a:p>
          <a:p>
            <a:endParaRPr lang="uk-UA" sz="1200" dirty="0"/>
          </a:p>
          <a:p>
            <a:r>
              <a:rPr lang="uk-UA" sz="1200" dirty="0"/>
              <a:t>Порядок. Створюємо ai_chat.py у папці проєкту й набираємо сім рядків з екрана.</a:t>
            </a:r>
          </a:p>
          <a:p>
            <a:r>
              <a:rPr lang="uk-UA" sz="1200" dirty="0"/>
              <a:t>Файл цей до кінця уроку тільки ростиме, тому просимо не створювати щоразу</a:t>
            </a:r>
          </a:p>
          <a:p>
            <a:r>
              <a:rPr lang="uk-UA" sz="1200" dirty="0"/>
              <a:t>новий і не називати його інакше.</a:t>
            </a:r>
          </a:p>
          <a:p>
            <a:endParaRPr lang="uk-UA" sz="1200" dirty="0"/>
          </a:p>
          <a:p>
            <a:r>
              <a:rPr lang="uk-UA" sz="1200" dirty="0"/>
              <a:t>Що проговорюю вголос, поки набирають. URL — просто рядок, звичайна змінна.</a:t>
            </a:r>
          </a:p>
          <a:p>
            <a:r>
              <a:rPr lang="uk-UA" sz="1200" dirty="0"/>
              <a:t>data — звичайний словник, такий самий, як user на уроці 3. Усередині</a:t>
            </a:r>
          </a:p>
          <a:p>
            <a:r>
              <a:rPr lang="uk-UA" sz="1200" dirty="0"/>
              <a:t>"messages" стоїть список, а в списку — ще один словник. Так, три поверхи: це</a:t>
            </a:r>
          </a:p>
          <a:p>
            <a:r>
              <a:rPr lang="uk-UA" sz="1200" dirty="0"/>
              <a:t>нормально, і рівно так виглядають дані в інтернеті.</a:t>
            </a:r>
          </a:p>
          <a:p>
            <a:endParaRPr lang="uk-UA" sz="1200" dirty="0"/>
          </a:p>
          <a:p>
            <a:r>
              <a:rPr lang="uk-UA" sz="1200" dirty="0"/>
              <a:t>Два останні рядки — не частина запиту, а перевірка себе. Вони показують, що ми</a:t>
            </a:r>
          </a:p>
          <a:p>
            <a:r>
              <a:rPr lang="uk-UA" sz="1200" dirty="0"/>
              <a:t>вміємо дістати з цієї конструкції потрібне поле: спершу за іменем, потім через</a:t>
            </a:r>
          </a:p>
          <a:p>
            <a:r>
              <a:rPr lang="uk-UA" sz="1200" dirty="0"/>
              <a:t>[0] — перший елемент списку. Це рівно той рух, яким у блоці 5 діставатимемо</a:t>
            </a:r>
          </a:p>
          <a:p>
            <a:r>
              <a:rPr lang="uk-UA" sz="1200" dirty="0"/>
              <a:t>відповідь моделі, тільки в інший бік.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загубили дужку в кінці другого рядка — там підряд стоять }, ] і };</a:t>
            </a:r>
          </a:p>
          <a:p>
            <a:r>
              <a:rPr lang="uk-UA" sz="1200" dirty="0"/>
              <a:t>    поставили кутові лапки замість прямих, бо редактор чи телефон їх підмінив;</a:t>
            </a:r>
          </a:p>
          <a:p>
            <a:r>
              <a:rPr lang="uk-UA" sz="1200" dirty="0"/>
              <a:t>    забули кому після "gpt-4o-mini";</a:t>
            </a:r>
          </a:p>
          <a:p>
            <a:r>
              <a:rPr lang="uk-UA" sz="1200" dirty="0"/>
              <a:t>    написали messages з великої літери або через одну «s» — сервіс потім</a:t>
            </a:r>
          </a:p>
          <a:p>
            <a:r>
              <a:rPr lang="uk-UA" sz="1200" dirty="0"/>
              <a:t>    такого поля не впізнає.</a:t>
            </a:r>
          </a:p>
          <a:p>
            <a:endParaRPr lang="uk-UA" sz="1200" dirty="0"/>
          </a:p>
          <a:p>
            <a:r>
              <a:rPr lang="uk-UA" sz="1200" dirty="0"/>
              <a:t>Питання, яке лунає: а чому не можна просто написати питання рядком? Відповідаю:</a:t>
            </a:r>
          </a:p>
          <a:p>
            <a:r>
              <a:rPr lang="uk-UA" sz="1200" dirty="0"/>
              <a:t>бо на тому боці програма, і їй потрібна сувора форма — інакше вона не</a:t>
            </a:r>
          </a:p>
          <a:p>
            <a:r>
              <a:rPr lang="uk-UA" sz="1200" dirty="0"/>
              <a:t>зрозуміє, де питання, а де назва моделі.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ще один рядок</a:t>
            </a:r>
          </a:p>
          <a:p>
            <a:endParaRPr lang="uk-UA" sz="1200" dirty="0"/>
          </a:p>
          <a:p>
            <a:r>
              <a:rPr lang="uk-UA" sz="1200" dirty="0"/>
              <a:t>    print(data["messages"][0]["role"])</a:t>
            </a:r>
          </a:p>
          <a:p>
            <a:endParaRPr lang="uk-UA" sz="1200" dirty="0"/>
          </a:p>
          <a:p>
            <a:r>
              <a:rPr lang="uk-UA" sz="1200" dirty="0"/>
              <a:t>і скаже вголос, що надрукувалось і звідки воно взялося.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gpt-4o-mini</a:t>
            </a:r>
          </a:p>
          <a:p>
            <a:r>
              <a:rPr lang="uk-UA" sz="1200" dirty="0"/>
              <a:t>Привіт! Хто ти?</a:t>
            </a:r>
          </a:p>
          <a:p>
            <a:endParaRPr lang="uk-UA" sz="1200" dirty="0"/>
          </a:p>
          <a:p>
            <a:r>
              <a:rPr lang="uk-UA" sz="1200" dirty="0"/>
              <a:t>Обидва рядки надрукувались — значить, словник зібраний правильно</a:t>
            </a:r>
          </a:p>
          <a:p>
            <a:r>
              <a:rPr lang="uk-UA" sz="1200" dirty="0"/>
              <a:t>і з нього можна діставати поля за іменем.</a:t>
            </a:r>
          </a:p>
          <a:p>
            <a:endParaRPr lang="uk-UA" sz="1200" dirty="0"/>
          </a:p>
          <a:p>
            <a:r>
              <a:rPr lang="uk-UA" sz="1200" dirty="0"/>
              <a:t>Якщо натомість SyntaxError — майже завжди загубилась одна з дужок</a:t>
            </a:r>
          </a:p>
          <a:p>
            <a:r>
              <a:rPr lang="uk-UA" sz="1200" dirty="0"/>
              <a:t>у кінці другого рядка: там їх підряд три, і всі різні.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(29 хв)</a:t>
            </a:r>
          </a:p>
          <a:p>
            <a:endParaRPr lang="uk-UA" sz="1200" dirty="0"/>
          </a:p>
          <a:p>
            <a:r>
              <a:rPr lang="uk-UA" sz="1200" dirty="0"/>
              <a:t>Дві хвилини перед блоком про ключ. Це найдорослішіша розмова уроку, і вона</a:t>
            </a:r>
          </a:p>
          <a:p>
            <a:r>
              <a:rPr lang="uk-UA" sz="1200" dirty="0"/>
              <a:t>варта того, щоб питання прозвучали до пояснення.</a:t>
            </a:r>
          </a:p>
          <a:p>
            <a:endParaRPr lang="uk-UA" sz="1200" dirty="0"/>
          </a:p>
          <a:p>
            <a:r>
              <a:rPr lang="uk-UA" sz="1200" dirty="0"/>
              <a:t>НАВІЩО ЗНАТИ, ХТО ЗВЕРНУВСЯ. Кажуть: щоб не зловживали, щоб рахувати. Обидві</a:t>
            </a:r>
          </a:p>
          <a:p>
            <a:r>
              <a:rPr lang="uk-UA" sz="1200" dirty="0"/>
              <a:t>відповіді правильні.</a:t>
            </a:r>
          </a:p>
          <a:p>
            <a:endParaRPr lang="uk-UA" sz="1200" dirty="0"/>
          </a:p>
          <a:p>
            <a:r>
              <a:rPr lang="uk-UA" sz="1200" dirty="0"/>
              <a:t>ХТО ПЛАТИТЬ. Тут майже завжди тиша, і саме тому питання цінне. Кажу прямо: за</a:t>
            </a:r>
          </a:p>
          <a:p>
            <a:r>
              <a:rPr lang="uk-UA" sz="1200" dirty="0"/>
              <a:t>кожен запит платить власник ключа. Сьогодні це я або школа. Це не абстракція —</a:t>
            </a:r>
          </a:p>
          <a:p>
            <a:r>
              <a:rPr lang="uk-UA" sz="1200" dirty="0"/>
              <a:t>це гроші, і діти реагують на це серйозніше, ніж на будь-яке «так не можна».</a:t>
            </a:r>
          </a:p>
          <a:p>
            <a:endParaRPr lang="uk-UA" sz="1200" dirty="0"/>
          </a:p>
          <a:p>
            <a:r>
              <a:rPr lang="uk-UA" sz="1200" dirty="0"/>
              <a:t>ЯКЩО КЛЮЧ ПОБАЧИТЬ ЧУЖИЙ. Відповідь уже очевидна після попереднього питання:</a:t>
            </a:r>
          </a:p>
          <a:p>
            <a:r>
              <a:rPr lang="uk-UA" sz="1200" dirty="0"/>
              <a:t>чужий питатиме за твій рахунок. Кажу вголос порівняння: показати ключ — це як</a:t>
            </a:r>
          </a:p>
          <a:p>
            <a:r>
              <a:rPr lang="uk-UA" sz="1200" dirty="0"/>
              <a:t>дати комусь свою картку разом із пінкодом.</a:t>
            </a:r>
          </a:p>
          <a:p>
            <a:endParaRPr lang="uk-UA" sz="1200" dirty="0"/>
          </a:p>
          <a:p>
            <a:r>
              <a:rPr lang="uk-UA" sz="1200" dirty="0"/>
              <a:t>ДЕ КЛЮЧ МАЄ ЛЕЖАТИ. Хтось згадає урок 3 і скаже «у файлі». Якщо згадає —</a:t>
            </a:r>
          </a:p>
          <a:p>
            <a:r>
              <a:rPr lang="uk-UA" sz="1200" dirty="0"/>
              <a:t>хвалю: це рівно те саме правило, тільки тепер у файлі лежить не ім'я, а ключ.</a:t>
            </a:r>
          </a:p>
          <a:p>
            <a:endParaRPr lang="uk-UA" sz="1200" dirty="0"/>
          </a:p>
          <a:p>
            <a:r>
              <a:rPr lang="uk-UA" sz="1200" dirty="0"/>
              <a:t>Далі показ, і на ньому я ще раз скажу правило курсу.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(33 хв)</a:t>
            </a:r>
          </a:p>
          <a:p>
            <a:endParaRPr lang="uk-UA" sz="1200" dirty="0"/>
          </a:p>
          <a:p>
            <a:r>
              <a:rPr lang="uk-UA" sz="1200" dirty="0"/>
              <a:t>Блок про безпеку, і його не можна проскочити. Діти цього віку охоче скидають</a:t>
            </a:r>
          </a:p>
          <a:p>
            <a:r>
              <a:rPr lang="uk-UA" sz="1200" dirty="0"/>
              <a:t>одне одному код у месенджер — разом із ключем.</a:t>
            </a:r>
          </a:p>
          <a:p>
            <a:endParaRPr lang="uk-UA" sz="1200" dirty="0"/>
          </a:p>
          <a:p>
            <a:r>
              <a:rPr lang="uk-UA" sz="1200" dirty="0"/>
              <a:t>Пояснюю, що таке ключ: довгий рядок із літер і цифр, який сервіс видає</a:t>
            </a:r>
          </a:p>
          <a:p>
            <a:r>
              <a:rPr lang="uk-UA" sz="1200" dirty="0"/>
              <a:t>особисто тобі. Він потрібен, щоб сервіс знав, чиї це запити і кому їх</a:t>
            </a:r>
          </a:p>
          <a:p>
            <a:r>
              <a:rPr lang="uk-UA" sz="1200" dirty="0"/>
              <a:t>рахувати.</a:t>
            </a:r>
          </a:p>
          <a:p>
            <a:endParaRPr lang="uk-UA" sz="1200" dirty="0"/>
          </a:p>
          <a:p>
            <a:r>
              <a:rPr lang="uk-UA" sz="1200" dirty="0"/>
              <a:t>Далі найважливіше речення блоку: за кожен запит за цим ключем платить його</a:t>
            </a:r>
          </a:p>
          <a:p>
            <a:r>
              <a:rPr lang="uk-UA" sz="1200" dirty="0"/>
              <a:t>власник. Не той, хто надіслав, а той, чий ключ. Тому показати ключ — це</a:t>
            </a:r>
          </a:p>
          <a:p>
            <a:r>
              <a:rPr lang="uk-UA" sz="1200" dirty="0"/>
              <a:t>приблизно як віддати комусь свою картку: той, хто його знайде, витратить чужі</a:t>
            </a:r>
          </a:p>
          <a:p>
            <a:r>
              <a:rPr lang="uk-UA" sz="1200" dirty="0"/>
              <a:t>гроші, а власник дізнається про це з рахунку.</a:t>
            </a:r>
          </a:p>
          <a:p>
            <a:endParaRPr lang="uk-UA" sz="1200" dirty="0"/>
          </a:p>
          <a:p>
            <a:r>
              <a:rPr lang="uk-UA" sz="1200" dirty="0"/>
              <a:t>Звідси й правило: ключ не пишуть у коді. Він лежить у key.txt, а програма</a:t>
            </a:r>
          </a:p>
          <a:p>
            <a:r>
              <a:rPr lang="uk-UA" sz="1200" dirty="0"/>
              <a:t>читає його рівно так, як читала user.json на уроці 3. Показую на телевізорі</a:t>
            </a:r>
          </a:p>
          <a:p>
            <a:r>
              <a:rPr lang="uk-UA" sz="1200" dirty="0"/>
              <a:t>два рядки з наступного слайда й окремо зупиняюсь на .strip(): це не прикраса.</a:t>
            </a:r>
          </a:p>
          <a:p>
            <a:r>
              <a:rPr lang="uk-UA" sz="1200" dirty="0"/>
              <a:t>При копіюванні майже завжди чіпляється пробіл або перенос рядка, і сервіс</a:t>
            </a:r>
          </a:p>
          <a:p>
            <a:r>
              <a:rPr lang="uk-UA" sz="1200" dirty="0"/>
              <a:t>відповідає 401 — «не впізнав». Це поломка номер один сьогоднішнього уроку, і</a:t>
            </a:r>
          </a:p>
          <a:p>
            <a:r>
              <a:rPr lang="uk-UA" sz="1200" dirty="0"/>
              <a:t>краще сказати про неї наперед.</a:t>
            </a:r>
          </a:p>
          <a:p>
            <a:endParaRPr lang="uk-UA" sz="1200" dirty="0"/>
          </a:p>
          <a:p>
            <a:r>
              <a:rPr lang="uk-UA" sz="1200" dirty="0"/>
              <a:t>Слово Bearer у заголовку теж пояснюю: це частина домовленості, «пред'явник».</a:t>
            </a:r>
          </a:p>
          <a:p>
            <a:r>
              <a:rPr lang="uk-UA" sz="1200" dirty="0"/>
              <a:t>Без нього ключ не читають, хоч він і правильний.</a:t>
            </a:r>
          </a:p>
          <a:p>
            <a:endParaRPr lang="uk-UA" sz="1200" dirty="0"/>
          </a:p>
          <a:p>
            <a:r>
              <a:rPr lang="uk-UA" sz="1200" dirty="0"/>
              <a:t>Питання, яке точно буде: «а де взяти ключ?» Відповідаю за ситуацією в школі.</a:t>
            </a:r>
          </a:p>
          <a:p>
            <a:r>
              <a:rPr lang="uk-UA" sz="1200" dirty="0"/>
              <a:t>Найчастіше на уроці працює один спільний ключ викладача, який роздається на</a:t>
            </a:r>
          </a:p>
          <a:p>
            <a:r>
              <a:rPr lang="uk-UA" sz="1200" dirty="0"/>
              <a:t>заняття. Хто хоче свій — реєструється на сайті сервісу з дорослими; там треба</a:t>
            </a:r>
          </a:p>
          <a:p>
            <a:r>
              <a:rPr lang="uk-UA" sz="1200" dirty="0"/>
              <a:t>картка, тож це справа домашня, а не класна.</a:t>
            </a:r>
          </a:p>
          <a:p>
            <a:endParaRPr lang="uk-UA" sz="1200" dirty="0"/>
          </a:p>
          <a:p>
            <a:r>
              <a:rPr lang="uk-UA" sz="1200" dirty="0"/>
              <a:t>Друге питання: «а це дорого?» Один запит дуже дешевий, але сотні запитів у</a:t>
            </a:r>
          </a:p>
          <a:p>
            <a:r>
              <a:rPr lang="uk-UA" sz="1200" dirty="0"/>
              <a:t>циклі коштують помітно. Тому не ставимо запит усередину циклу без потреби і не</a:t>
            </a:r>
          </a:p>
          <a:p>
            <a:r>
              <a:rPr lang="uk-UA" sz="1200" dirty="0"/>
              <a:t>надсилаємо величезних текстів.</a:t>
            </a:r>
          </a:p>
          <a:p>
            <a:endParaRPr lang="uk-UA" sz="1200" dirty="0"/>
          </a:p>
          <a:p>
            <a:r>
              <a:rPr lang="uk-UA" sz="1200" dirty="0"/>
              <a:t>Наступний слайд: кладемо ключ у файл і читаємо його програмою.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(38 хв)</a:t>
            </a:r>
          </a:p>
          <a:p>
            <a:endParaRPr lang="uk-UA" sz="1200" dirty="0"/>
          </a:p>
          <a:p>
            <a:r>
              <a:rPr lang="uk-UA" sz="1200" dirty="0"/>
              <a:t>Практика, у якій ключ уперше з'являється в програмі — і жодного разу в коді.</a:t>
            </a:r>
          </a:p>
          <a:p>
            <a:endParaRPr lang="uk-UA" sz="1200" dirty="0"/>
          </a:p>
          <a:p>
            <a:r>
              <a:rPr lang="uk-UA" sz="1200" dirty="0"/>
              <a:t>Порядок кажу по кроках. Створюємо файл key.txt поруч із ai_chat.py. Вставляємо</a:t>
            </a:r>
          </a:p>
          <a:p>
            <a:r>
              <a:rPr lang="uk-UA" sz="1200" dirty="0"/>
              <a:t>в нього ключ одним рядком: без лапок, без слова key, без пробілів на початку й</a:t>
            </a:r>
          </a:p>
          <a:p>
            <a:r>
              <a:rPr lang="uk-UA" sz="1200" dirty="0"/>
              <a:t>у кінці. Зберігаємо. Далі дописуємо чотири рядки в самий кінець ai_chat.py, під</a:t>
            </a:r>
          </a:p>
          <a:p>
            <a:r>
              <a:rPr lang="uk-UA" sz="1200" dirty="0"/>
              <a:t>наявні print — нічого вище не чіпаємо й нічого не вставляємо всередину.</a:t>
            </a:r>
          </a:p>
          <a:p>
            <a:endParaRPr lang="uk-UA" sz="1200" dirty="0"/>
          </a:p>
          <a:p>
            <a:r>
              <a:rPr lang="uk-UA" sz="1200" dirty="0"/>
              <a:t>Кажу вголос, чому саме в кінець, бо про це спитають. Python читає файл згори</a:t>
            </a:r>
          </a:p>
          <a:p>
            <a:r>
              <a:rPr lang="uk-UA" sz="1200" dirty="0"/>
              <a:t>вниз, тому спершу друкуються два рядки з блоку 2, а «Довжина ключа» стає</a:t>
            </a:r>
          </a:p>
          <a:p>
            <a:r>
              <a:rPr lang="uk-UA" sz="1200" dirty="0"/>
              <a:t>останньою — рівно так, як показано в «Очікуваному результаті». Хто всуне цей</a:t>
            </a:r>
          </a:p>
          <a:p>
            <a:r>
              <a:rPr lang="uk-UA" sz="1200" dirty="0"/>
              <a:t>блок угору, побачить свою довжину першою, звірить екран із очікуваним і</a:t>
            </a:r>
          </a:p>
          <a:p>
            <a:r>
              <a:rPr lang="uk-UA" sz="1200" dirty="0"/>
              <a:t>вирішить, що зламав код. Порядок для програми важить лише один: KEY має бути</a:t>
            </a:r>
          </a:p>
          <a:p>
            <a:r>
              <a:rPr lang="uk-UA" sz="1200" dirty="0"/>
              <a:t>прочитаний раніше, ніж рядок headers його вживає, — а в кінці файла обидва</a:t>
            </a:r>
          </a:p>
          <a:p>
            <a:r>
              <a:rPr lang="uk-UA" sz="1200" dirty="0"/>
              <a:t>рядки стоять поруч.</a:t>
            </a:r>
          </a:p>
          <a:p>
            <a:endParaRPr lang="uk-UA" sz="1200" dirty="0"/>
          </a:p>
          <a:p>
            <a:r>
              <a:rPr lang="uk-UA" sz="1200" dirty="0"/>
              <a:t>Про кожен рядок кажу окремо. Перші два — це урок 3 у чистому вигляді, той</a:t>
            </a:r>
          </a:p>
          <a:p>
            <a:r>
              <a:rPr lang="uk-UA" sz="1200" dirty="0"/>
              <a:t>самий open і той самий with; нового тут лише .strip(), який зрізає з країв</a:t>
            </a:r>
          </a:p>
          <a:p>
            <a:r>
              <a:rPr lang="uk-UA" sz="1200" dirty="0"/>
              <a:t>пробіли й перенос рядка. Рядок headers — словник з одним ключем, значення</a:t>
            </a:r>
          </a:p>
          <a:p>
            <a:r>
              <a:rPr lang="uk-UA" sz="1200" dirty="0"/>
              <a:t>якого складається зі слова Bearer, пробілу після нього і самого ключа; пробіл</a:t>
            </a:r>
          </a:p>
          <a:p>
            <a:r>
              <a:rPr lang="uk-UA" sz="1200" dirty="0"/>
              <a:t>усередині лапок обов'язковий. Останній рядок друкує довжину, а не ключ, і це</a:t>
            </a:r>
          </a:p>
          <a:p>
            <a:r>
              <a:rPr lang="uk-UA" sz="1200" dirty="0"/>
              <a:t>не випадковість: ключ не показують навіть на проєкторі.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FileNotFoundError — key.txt створили в іншій папці або назвали key.txt.txt;</a:t>
            </a:r>
          </a:p>
          <a:p>
            <a:r>
              <a:rPr lang="uk-UA" sz="1200" dirty="0"/>
              <a:t>    у файлі лишились лапки навколо ключа — сервіс потім відповість 401;</a:t>
            </a:r>
          </a:p>
          <a:p>
            <a:r>
              <a:rPr lang="uk-UA" sz="1200" dirty="0"/>
              <a:t>    забули .strip() — довжина буде на одиницю більша, ніж у сусіда з тим самим</a:t>
            </a:r>
          </a:p>
          <a:p>
            <a:r>
              <a:rPr lang="uk-UA" sz="1200" dirty="0"/>
              <a:t>    ключем, і саме це видно на екрані;</a:t>
            </a:r>
          </a:p>
          <a:p>
            <a:r>
              <a:rPr lang="uk-UA" sz="1200" dirty="0"/>
              <a:t>    у заголовку загубився пробіл після Bearer або саме слово Bearer;</a:t>
            </a:r>
          </a:p>
          <a:p>
            <a:r>
              <a:rPr lang="uk-UA" sz="1200" dirty="0"/>
              <a:t>    написали KEY маленькими буквами в одному місці й великими в другому.</a:t>
            </a:r>
          </a:p>
          <a:p>
            <a:endParaRPr lang="uk-UA" sz="1200" dirty="0"/>
          </a:p>
          <a:p>
            <a:r>
              <a:rPr lang="uk-UA" sz="1200" dirty="0"/>
              <a:t>Що обговорюємо після: питаю, чому ми друкуємо довжину, а не ключ. Правильна</a:t>
            </a:r>
          </a:p>
          <a:p>
            <a:r>
              <a:rPr lang="uk-UA" sz="1200" dirty="0"/>
              <a:t>відповідь має прозвучати від дітей: бо ключ — це гаманець.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рядок</a:t>
            </a:r>
          </a:p>
          <a:p>
            <a:endParaRPr lang="uk-UA" sz="1200" dirty="0"/>
          </a:p>
          <a:p>
            <a:r>
              <a:rPr lang="uk-UA" sz="1200" dirty="0"/>
              <a:t>    print("Останні чотири знаки:", KEY[-4:])</a:t>
            </a:r>
          </a:p>
          <a:p>
            <a:endParaRPr lang="uk-UA" sz="1200" dirty="0"/>
          </a:p>
          <a:p>
            <a:r>
              <a:rPr lang="uk-UA" sz="1200" dirty="0"/>
              <a:t>Саме так дорослі перевіряють, чи той ключ у файлі, не показуючи його цілком.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gpt-4o-mini</a:t>
            </a:r>
          </a:p>
          <a:p>
            <a:r>
              <a:rPr lang="uk-UA" sz="1200" dirty="0"/>
              <a:t>Привіт! Хто ти?</a:t>
            </a:r>
          </a:p>
          <a:p>
            <a:r>
              <a:rPr lang="uk-UA" sz="1200" dirty="0"/>
              <a:t>Довжина ключа: 164</a:t>
            </a:r>
          </a:p>
          <a:p>
            <a:endParaRPr lang="uk-UA" sz="1200" dirty="0"/>
          </a:p>
          <a:p>
            <a:r>
              <a:rPr lang="uk-UA" sz="1200" dirty="0"/>
              <a:t>Число буде своє: ключі бувають різної довжини. Головне, що воно не</a:t>
            </a:r>
          </a:p>
          <a:p>
            <a:r>
              <a:rPr lang="uk-UA" sz="1200" dirty="0"/>
              <a:t>нуль і що на екран не поїхав сам ключ — показувати його не можна</a:t>
            </a:r>
          </a:p>
          <a:p>
            <a:r>
              <a:rPr lang="uk-UA" sz="1200" dirty="0"/>
              <a:t>навіть сусідові.</a:t>
            </a:r>
          </a:p>
          <a:p>
            <a:endParaRPr lang="uk-UA" sz="1200" dirty="0"/>
          </a:p>
          <a:p>
            <a:r>
              <a:rPr lang="uk-UA" sz="1200" dirty="0"/>
              <a:t>FileNotFoundError означає, що key.txt лежить не в тій папці, звідки</a:t>
            </a:r>
          </a:p>
          <a:p>
            <a:r>
              <a:rPr lang="uk-UA" sz="1200" dirty="0"/>
              <a:t>запущено програму.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 (39 хв)</a:t>
            </a:r>
          </a:p>
          <a:p>
            <a:endParaRPr lang="uk-UA" sz="1200" dirty="0"/>
          </a:p>
          <a:p>
            <a:r>
              <a:rPr lang="uk-UA" sz="1200" dirty="0"/>
              <a:t>Одна хвилина перед першим справжнім запитом. Питання коротке, бо код на</a:t>
            </a:r>
          </a:p>
          <a:p>
            <a:r>
              <a:rPr lang="uk-UA" sz="1200" dirty="0"/>
              <a:t>наступному слайді довгий, а головна думка тут одна.</a:t>
            </a:r>
          </a:p>
          <a:p>
            <a:endParaRPr lang="uk-UA" sz="1200" dirty="0"/>
          </a:p>
          <a:p>
            <a:r>
              <a:rPr lang="uk-UA" sz="1200" dirty="0"/>
              <a:t>ЯК ДІЗНАЄМОСЬ, ЩО ДІЙШЛО. Кажуть: побачимо відповідь. Кажу: не завжди —</a:t>
            </a:r>
          </a:p>
          <a:p>
            <a:r>
              <a:rPr lang="uk-UA" sz="1200" dirty="0"/>
              <a:t>відповідь може й не приїхати, а програма не зависне, вона просто піде далі.</a:t>
            </a:r>
          </a:p>
          <a:p>
            <a:endParaRPr lang="uk-UA" sz="1200" dirty="0"/>
          </a:p>
          <a:p>
            <a:r>
              <a:rPr lang="uk-UA" sz="1200" dirty="0"/>
              <a:t>ЩО ДИВИТИСЬ ПЕРШИМ. Головне питання блоку. Правильна відповідь — число, і саме</a:t>
            </a:r>
          </a:p>
          <a:p>
            <a:r>
              <a:rPr lang="uk-UA" sz="1200" dirty="0"/>
              <a:t>її я хочу почути. Пояснюю на прикладі з блоку 1: там ми вже друкували 200 і</a:t>
            </a:r>
          </a:p>
          <a:p>
            <a:r>
              <a:rPr lang="uk-UA" sz="1200" dirty="0"/>
              <a:t>навіть не дивились у текст.</a:t>
            </a:r>
          </a:p>
          <a:p>
            <a:endParaRPr lang="uk-UA" sz="1200" dirty="0"/>
          </a:p>
          <a:p>
            <a:r>
              <a:rPr lang="uk-UA" sz="1200" dirty="0"/>
              <a:t>ПРО ЩО КАЖЕ НЕСПОДІВАНЕ ЧИСЛО. Прошу вгадати. Кажуть: не туди прийшло, не</a:t>
            </a:r>
          </a:p>
          <a:p>
            <a:r>
              <a:rPr lang="uk-UA" sz="1200" dirty="0"/>
              <a:t>пустили, зайнято. Усі три вгадані: 404, 401 і 429. Називаю їх уголос і кажу, що</a:t>
            </a:r>
          </a:p>
          <a:p>
            <a:r>
              <a:rPr lang="uk-UA" sz="1200" dirty="0"/>
              <a:t>за хвилину вони будуть на слайді.</a:t>
            </a:r>
          </a:p>
          <a:p>
            <a:endParaRPr lang="uk-UA" sz="1200" dirty="0"/>
          </a:p>
          <a:p>
            <a:r>
              <a:rPr lang="uk-UA" sz="1200" dirty="0"/>
              <a:t>Далі показ, і на ньому головне правило: спершу число, потім текст.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(43 хв)</a:t>
            </a:r>
          </a:p>
          <a:p>
            <a:endParaRPr lang="uk-UA" sz="1200" dirty="0"/>
          </a:p>
          <a:p>
            <a:r>
              <a:rPr lang="uk-UA" sz="1200" dirty="0"/>
              <a:t>Головний технічний момент уроку, і всього два рядки коду. Тримаю їх на</a:t>
            </a:r>
          </a:p>
          <a:p>
            <a:r>
              <a:rPr lang="uk-UA" sz="1200" dirty="0"/>
              <a:t>телевізорі й розбираю слово за словом; група дивиться й не набирає.</a:t>
            </a:r>
          </a:p>
          <a:p>
            <a:endParaRPr lang="uk-UA" sz="1200" dirty="0"/>
          </a:p>
          <a:p>
            <a:r>
              <a:rPr lang="uk-UA" sz="1200" dirty="0"/>
              <a:t>requests.post — «подати записку у віконце». Не get, як у блоці 1: get — це</a:t>
            </a:r>
          </a:p>
          <a:p>
            <a:r>
              <a:rPr lang="uk-UA" sz="1200" dirty="0"/>
              <a:t>просто піти за адресою й подивитись, а post — принести з собою дані. Три</a:t>
            </a:r>
          </a:p>
          <a:p>
            <a:r>
              <a:rPr lang="uk-UA" sz="1200" dirty="0"/>
              <a:t>аргументи: URL — куди, headers — від кого, json=data — що саме.</a:t>
            </a:r>
          </a:p>
          <a:p>
            <a:endParaRPr lang="uk-UA" sz="1200" dirty="0"/>
          </a:p>
          <a:p>
            <a:r>
              <a:rPr lang="uk-UA" sz="1200" dirty="0"/>
              <a:t>Окремо наголошую на json=data. Саме з цим словом бібліотека сама перетворить</a:t>
            </a:r>
          </a:p>
          <a:p>
            <a:r>
              <a:rPr lang="uk-UA" sz="1200" dirty="0"/>
              <a:t>наш словник на JSON і сама допише потрібний заголовок. Хто напише data=data,</a:t>
            </a:r>
          </a:p>
          <a:p>
            <a:r>
              <a:rPr lang="uk-UA" sz="1200" dirty="0"/>
              <a:t>отримає незрозумілу помилку від сервера — це друга типова поломка уроку після</a:t>
            </a:r>
          </a:p>
          <a:p>
            <a:r>
              <a:rPr lang="uk-UA" sz="1200" dirty="0"/>
              <a:t>пробілу в ключі.</a:t>
            </a:r>
          </a:p>
          <a:p>
            <a:endParaRPr lang="uk-UA" sz="1200" dirty="0"/>
          </a:p>
          <a:p>
            <a:r>
              <a:rPr lang="uk-UA" sz="1200" dirty="0"/>
              <a:t>r — відповідь. Це не текст і не словник, це вся посилка цілком: у ній є число,</a:t>
            </a:r>
          </a:p>
          <a:p>
            <a:r>
              <a:rPr lang="uk-UA" sz="1200" dirty="0"/>
              <a:t>є сирий текст, є розібраний словник. Сьогодні беремо з неї спершу число.</a:t>
            </a:r>
          </a:p>
          <a:p>
            <a:endParaRPr lang="uk-UA" sz="1200" dirty="0"/>
          </a:p>
          <a:p>
            <a:r>
              <a:rPr lang="uk-UA" sz="1200" dirty="0"/>
              <a:t>r.status_code — число, яким сервер відповів. Читаю коди вголос і прошу</a:t>
            </a:r>
          </a:p>
          <a:p>
            <a:r>
              <a:rPr lang="uk-UA" sz="1200" dirty="0"/>
              <a:t>запам'ятати чотири: 200 — усе добре, відповідь є; 401 — не впізнав ключ (майже</a:t>
            </a:r>
          </a:p>
          <a:p>
            <a:r>
              <a:rPr lang="uk-UA" sz="1200" dirty="0"/>
              <a:t>завжди пробіл або забуте слово Bearer); 429 — забагато запитів або скінчились</a:t>
            </a:r>
          </a:p>
          <a:p>
            <a:r>
              <a:rPr lang="uk-UA" sz="1200" dirty="0"/>
              <a:t>кошти; 404 — переплутана адреса. П'ятий, 500, означає, що зламалось у них, і</a:t>
            </a:r>
          </a:p>
          <a:p>
            <a:r>
              <a:rPr lang="uk-UA" sz="1200" dirty="0"/>
              <a:t>лікується повтором.</a:t>
            </a:r>
          </a:p>
          <a:p>
            <a:endParaRPr lang="uk-UA" sz="1200" dirty="0"/>
          </a:p>
          <a:p>
            <a:r>
              <a:rPr lang="uk-UA" sz="1200" dirty="0"/>
              <a:t>Правило з плашки повторюю двічі, бо воно економить половину наступного блоку:</a:t>
            </a:r>
          </a:p>
          <a:p>
            <a:r>
              <a:rPr lang="uk-UA" sz="1200" dirty="0"/>
              <a:t>спершу друкуємо число, і тільки потім ліземо в текст. У відповіді з помилкою</a:t>
            </a:r>
          </a:p>
          <a:p>
            <a:r>
              <a:rPr lang="uk-UA" sz="1200" dirty="0"/>
              <a:t>поля «choices» немає взагалі, і програма впаде в геть іншому місці, ніж</a:t>
            </a:r>
          </a:p>
          <a:p>
            <a:r>
              <a:rPr lang="uk-UA" sz="1200" dirty="0"/>
              <a:t>зламалась.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 весь файл із наступного слайда цілком і читаю вголос,</a:t>
            </a:r>
          </a:p>
          <a:p>
            <a:r>
              <a:rPr lang="uk-UA" sz="1200" dirty="0"/>
              <a:t>який рядок звідки взявся: імпорт, ключ, адреса, заголовки, тіло, надсилання.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файл згори вниз і дивимось на число.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 (49 хв)</a:t>
            </a:r>
          </a:p>
          <a:p>
            <a:endParaRPr lang="uk-UA" sz="1200" dirty="0"/>
          </a:p>
          <a:p>
            <a:r>
              <a:rPr lang="uk-UA" sz="1200" dirty="0"/>
              <a:t>Перша практика з мережею. Готуюсь ходити по класу багато: тут ламається</a:t>
            </a:r>
          </a:p>
          <a:p>
            <a:r>
              <a:rPr lang="uk-UA" sz="1200" dirty="0"/>
              <a:t>найбільше за весь урок, і майже все ламається однаково.</a:t>
            </a:r>
          </a:p>
          <a:p>
            <a:endParaRPr lang="uk-UA" sz="1200" dirty="0"/>
          </a:p>
          <a:p>
            <a:r>
              <a:rPr lang="uk-UA" sz="1200" dirty="0"/>
              <a:t>Порядок кажу вголос. Відкриваємо ai_chat.py, який росте з блоку 2, і звіряємо</a:t>
            </a:r>
          </a:p>
          <a:p>
            <a:r>
              <a:rPr lang="uk-UA" sz="1200" dirty="0"/>
              <a:t>його з екраном згори вниз. Додається рядок import requests найпершим, рядок з</a:t>
            </a:r>
          </a:p>
          <a:p>
            <a:r>
              <a:rPr lang="uk-UA" sz="1200" dirty="0"/>
              <a:t>requests.post і print із кодом. Прибираються три тимчасові print з минулих</a:t>
            </a:r>
          </a:p>
          <a:p>
            <a:r>
              <a:rPr lang="uk-UA" sz="1200" dirty="0"/>
              <a:t>блоків — вони своє відпрацювали.</a:t>
            </a:r>
          </a:p>
          <a:p>
            <a:endParaRPr lang="uk-UA" sz="1200" dirty="0"/>
          </a:p>
          <a:p>
            <a:r>
              <a:rPr lang="uk-UA" sz="1200" dirty="0"/>
              <a:t>Одна перестановка: читання ключа й рядок headers, які в минулому блоці лягли в</a:t>
            </a:r>
          </a:p>
          <a:p>
            <a:r>
              <a:rPr lang="uk-UA" sz="1200" dirty="0"/>
              <a:t>кінець, тепер переїжджають угору — на екрані видно, куди саме: одразу під</a:t>
            </a:r>
          </a:p>
          <a:p>
            <a:r>
              <a:rPr lang="uk-UA" sz="1200" dirty="0"/>
              <a:t>import requests, над URL. Кажу, що це не нова вимога, а прибирання: KEY і</a:t>
            </a:r>
          </a:p>
          <a:p>
            <a:r>
              <a:rPr lang="uk-UA" sz="1200" dirty="0"/>
              <a:t>headers потрібні рядкові з requests.post, і зручніше, коли все спорядження</a:t>
            </a:r>
          </a:p>
          <a:p>
            <a:r>
              <a:rPr lang="uk-UA" sz="1200" dirty="0"/>
              <a:t>лежить угорі. Хто загубився — не переставляє, а набирає файл з екрана заново;</a:t>
            </a:r>
          </a:p>
          <a:p>
            <a:r>
              <a:rPr lang="uk-UA" sz="1200" dirty="0"/>
              <a:t>на слайді він цілий.</a:t>
            </a:r>
          </a:p>
          <a:p>
            <a:endParaRPr lang="uk-UA" sz="1200" dirty="0"/>
          </a:p>
          <a:p>
            <a:r>
              <a:rPr lang="uk-UA" sz="1200" dirty="0"/>
              <a:t>Наголошую на трьох місцях, бо на них губляться всі: json=data, а не data=data;</a:t>
            </a:r>
          </a:p>
          <a:p>
            <a:r>
              <a:rPr lang="uk-UA" sz="1200" dirty="0"/>
              <a:t>пробіл після слова Bearer усередині лапок; ключ читається з .strip().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401 — дивимось спершу на key.txt очима, потім на Bearer, потім на .strip();</a:t>
            </a:r>
          </a:p>
          <a:p>
            <a:r>
              <a:rPr lang="uk-UA" sz="1200" dirty="0"/>
              <a:t>    NameError: requests — забули найперший рядок;</a:t>
            </a:r>
          </a:p>
          <a:p>
            <a:r>
              <a:rPr lang="uk-UA" sz="1200" dirty="0"/>
              <a:t>    data=data замість json=data — сервер відповідає 400 або 415;</a:t>
            </a:r>
          </a:p>
          <a:p>
            <a:r>
              <a:rPr lang="uk-UA" sz="1200" dirty="0"/>
              <a:t>    429 — якщо ключ спільний на групу, це буває: просимо почекати й не тиснути</a:t>
            </a:r>
          </a:p>
          <a:p>
            <a:r>
              <a:rPr lang="uk-UA" sz="1200" dirty="0"/>
              <a:t>    запуск підряд;</a:t>
            </a:r>
          </a:p>
          <a:p>
            <a:r>
              <a:rPr lang="uk-UA" sz="1200" dirty="0"/>
              <a:t>    ConnectionError замість числа — немає інтернету; кажу вголос, що це не</a:t>
            </a:r>
          </a:p>
          <a:p>
            <a:r>
              <a:rPr lang="uk-UA" sz="1200" dirty="0"/>
              <a:t>    їхня поломка, і що в блоці 6 буде мок.</a:t>
            </a:r>
          </a:p>
          <a:p>
            <a:endParaRPr lang="uk-UA" sz="1200" dirty="0"/>
          </a:p>
          <a:p>
            <a:r>
              <a:rPr lang="uk-UA" sz="1200" dirty="0"/>
              <a:t>Кажу групі заздалегідь: помилка тут нормальна й навіть корисна. Ми вперше</a:t>
            </a:r>
          </a:p>
          <a:p>
            <a:r>
              <a:rPr lang="uk-UA" sz="1200" dirty="0"/>
              <a:t>говоримо з чужим сервером, і він відповідає числами саме для того, щоб можна</a:t>
            </a:r>
          </a:p>
          <a:p>
            <a:r>
              <a:rPr lang="uk-UA" sz="1200" dirty="0"/>
              <a:t>було зрозуміти, що не так. Прошу кожного, у кого не 200, прочитати число</a:t>
            </a:r>
          </a:p>
          <a:p>
            <a:r>
              <a:rPr lang="uk-UA" sz="1200" dirty="0"/>
              <a:t>вголос — далі розбираємось разом і швидко.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останнім рядком</a:t>
            </a:r>
          </a:p>
          <a:p>
            <a:endParaRPr lang="uk-UA" sz="1200" dirty="0"/>
          </a:p>
          <a:p>
            <a:r>
              <a:rPr lang="uk-UA" sz="1200" dirty="0"/>
              <a:t>    print(r.text[:200])</a:t>
            </a:r>
          </a:p>
          <a:p>
            <a:endParaRPr lang="uk-UA" sz="1200" dirty="0"/>
          </a:p>
          <a:p>
            <a:r>
              <a:rPr lang="uk-UA" sz="1200" dirty="0"/>
              <a:t>і подивиться на перші двісті знаків сирої відповіді. Вона страшна, вона в</a:t>
            </a:r>
          </a:p>
          <a:p>
            <a:r>
              <a:rPr lang="uk-UA" sz="1200" dirty="0"/>
              <a:t>дужках і лапках — і рівно її ми розберемо в наступному блоці.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Код: 200</a:t>
            </a:r>
          </a:p>
          <a:p>
            <a:endParaRPr lang="uk-UA" sz="1200" dirty="0"/>
          </a:p>
          <a:p>
            <a:r>
              <a:rPr lang="uk-UA" sz="1200" dirty="0"/>
              <a:t>Це все, що має надрукуватись у цьому блоці: саме число, а не текст</a:t>
            </a:r>
          </a:p>
          <a:p>
            <a:r>
              <a:rPr lang="uk-UA" sz="1200" dirty="0"/>
              <a:t>відповіді — його дістанемо в наступному.</a:t>
            </a:r>
          </a:p>
          <a:p>
            <a:endParaRPr lang="uk-UA" sz="1200" dirty="0"/>
          </a:p>
          <a:p>
            <a:r>
              <a:rPr lang="uk-UA" sz="1200" dirty="0"/>
              <a:t>Якщо натомість:</a:t>
            </a:r>
          </a:p>
          <a:p>
            <a:r>
              <a:rPr lang="uk-UA" sz="1200" dirty="0"/>
              <a:t>401 — ключ не прийнято (пробіл у файлі або забуте слово Bearer);</a:t>
            </a:r>
          </a:p>
          <a:p>
            <a:r>
              <a:rPr lang="uk-UA" sz="1200" dirty="0"/>
              <a:t>429 — забагато запитів або скінчились кошти на ключі;</a:t>
            </a:r>
          </a:p>
          <a:p>
            <a:r>
              <a:rPr lang="uk-UA" sz="1200" dirty="0"/>
              <a:t>404 — помилка в адресі;</a:t>
            </a:r>
          </a:p>
          <a:p>
            <a:r>
              <a:rPr lang="uk-UA" sz="1200" dirty="0"/>
              <a:t>ConnectionError — немає інтернету, працюємо через мок із блоку 6.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(51 хв)</a:t>
            </a:r>
          </a:p>
          <a:p>
            <a:endParaRPr lang="uk-UA" sz="1200" dirty="0"/>
          </a:p>
          <a:p>
            <a:r>
              <a:rPr lang="uk-UA" sz="1200" dirty="0"/>
              <a:t>Дві хвилини перед розбором відповіді. Тут нічого нового немає — усе вже було на</a:t>
            </a:r>
          </a:p>
          <a:p>
            <a:r>
              <a:rPr lang="uk-UA" sz="1200" dirty="0"/>
              <a:t>уроках 2 і 3, — і про це варто сказати вголос, бо на вигляд відповідь лякає.</a:t>
            </a:r>
          </a:p>
          <a:p>
            <a:endParaRPr lang="uk-UA" sz="1200" dirty="0"/>
          </a:p>
          <a:p>
            <a:r>
              <a:rPr lang="uk-UA" sz="1200" dirty="0"/>
              <a:t>ЧОМУ ЦІЛИЙ СЛОВНИК. Кажуть: щоб було більше інформації. Правильно. Перелічую,</a:t>
            </a:r>
          </a:p>
          <a:p>
            <a:r>
              <a:rPr lang="uk-UA" sz="1200" dirty="0"/>
              <a:t>що там ще лежить: яка модель відповідала, скільки це коштувало, чому відповідь</a:t>
            </a:r>
          </a:p>
          <a:p>
            <a:r>
              <a:rPr lang="uk-UA" sz="1200" dirty="0"/>
              <a:t>скінчилась. Нам сьогодні потрібен один рядок із усього цього.</a:t>
            </a:r>
          </a:p>
          <a:p>
            <a:endParaRPr lang="uk-UA" sz="1200" dirty="0"/>
          </a:p>
          <a:p>
            <a:r>
              <a:rPr lang="uk-UA" sz="1200" dirty="0"/>
              <a:t>ЯК ДІСТАЮТЬ ЗІ СЛОВНИКА. Відповідь мають знати всі: квадратні дужки й ключ у</a:t>
            </a:r>
          </a:p>
          <a:p>
            <a:r>
              <a:rPr lang="uk-UA" sz="1200" dirty="0"/>
              <a:t>лапках. Прошу когось сказати вголос — це та річ, яку корисно повторити перед</a:t>
            </a:r>
          </a:p>
          <a:p>
            <a:r>
              <a:rPr lang="uk-UA" sz="1200" dirty="0"/>
              <a:t>складним слайдом.</a:t>
            </a:r>
          </a:p>
          <a:p>
            <a:endParaRPr lang="uk-UA" sz="1200" dirty="0"/>
          </a:p>
          <a:p>
            <a:r>
              <a:rPr lang="uk-UA" sz="1200" dirty="0"/>
              <a:t>СЛОВНИК УСЕРЕДИНІ СЛОВНИКА. Найважливіше питання. Кажу: тоді дужки ставлять</a:t>
            </a:r>
          </a:p>
          <a:p>
            <a:r>
              <a:rPr lang="uk-UA" sz="1200" dirty="0"/>
              <a:t>одні за одними, і виходить коридор із дверей. Прошу уявити шафу, у якій кожна</a:t>
            </a:r>
          </a:p>
          <a:p>
            <a:r>
              <a:rPr lang="uk-UA" sz="1200" dirty="0"/>
              <a:t>шухляда — теж шафа. Смішно, але точно.</a:t>
            </a:r>
          </a:p>
          <a:p>
            <a:endParaRPr lang="uk-UA" sz="1200" dirty="0"/>
          </a:p>
          <a:p>
            <a:r>
              <a:rPr lang="uk-UA" sz="1200" dirty="0"/>
              <a:t>Далі показ, і на ньому ми пройдемо цей коридор по одних дверях за раз.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(55 хв)</a:t>
            </a:r>
          </a:p>
          <a:p>
            <a:endParaRPr lang="uk-UA" sz="1200" dirty="0"/>
          </a:p>
          <a:p>
            <a:r>
              <a:rPr lang="uk-UA" sz="1200" dirty="0"/>
              <a:t>Другий за важливістю блок уроку. Дітей лякає довгий ланцюжок дужок, тому</a:t>
            </a:r>
          </a:p>
          <a:p>
            <a:r>
              <a:rPr lang="uk-UA" sz="1200" dirty="0"/>
              <a:t>розбираю його як шлях, а не як формулу.</a:t>
            </a:r>
          </a:p>
          <a:p>
            <a:endParaRPr lang="uk-UA" sz="1200" dirty="0"/>
          </a:p>
          <a:p>
            <a:r>
              <a:rPr lang="uk-UA" sz="1200" dirty="0"/>
              <a:t>r.json() перетворює те, що прислав сервер, на звичайний словник Python. Це той</a:t>
            </a:r>
          </a:p>
          <a:p>
            <a:r>
              <a:rPr lang="uk-UA" sz="1200" dirty="0"/>
              <a:t>самий json.load з уроку 3, тільки читає не з файла, а з відповіді. Після цього</a:t>
            </a:r>
          </a:p>
          <a:p>
            <a:r>
              <a:rPr lang="uk-UA" sz="1200" dirty="0"/>
              <a:t>рядка ми працюємо зі словником, який уже вміємо.</a:t>
            </a:r>
          </a:p>
          <a:p>
            <a:endParaRPr lang="uk-UA" sz="1200" dirty="0"/>
          </a:p>
          <a:p>
            <a:r>
              <a:rPr lang="uk-UA" sz="1200" dirty="0"/>
              <a:t>Далі кажу: у відповіді багато службового — скільки токенів витрачено, яка</a:t>
            </a:r>
          </a:p>
          <a:p>
            <a:r>
              <a:rPr lang="uk-UA" sz="1200" dirty="0"/>
              <a:t>модель відповідала, коли це було. Нам потрібен один рядок, і до нього веде</a:t>
            </a:r>
          </a:p>
          <a:p>
            <a:r>
              <a:rPr lang="uk-UA" sz="1200" dirty="0"/>
              <a:t>коридор із чотирьох дверей.</a:t>
            </a:r>
          </a:p>
          <a:p>
            <a:endParaRPr lang="uk-UA" sz="1200" dirty="0"/>
          </a:p>
          <a:p>
            <a:r>
              <a:rPr lang="uk-UA" sz="1200" dirty="0"/>
              <a:t>Перші двері: «choices» — список варіантів відповіді. Так, сервіс може прислати</a:t>
            </a:r>
          </a:p>
          <a:p>
            <a:r>
              <a:rPr lang="uk-UA" sz="1200" dirty="0"/>
              <a:t>кілька; за замовчуванням один.</a:t>
            </a:r>
          </a:p>
          <a:p>
            <a:endParaRPr lang="uk-UA" sz="1200" dirty="0"/>
          </a:p>
          <a:p>
            <a:r>
              <a:rPr lang="uk-UA" sz="1200" dirty="0"/>
              <a:t>Другі: [0] — беремо перший варіант. Нагадую, що нумерація в списку з нуля, і</a:t>
            </a:r>
          </a:p>
          <a:p>
            <a:r>
              <a:rPr lang="uk-UA" sz="1200" dirty="0"/>
              <a:t>це вже було зі списками жартів на уроці 2.</a:t>
            </a:r>
          </a:p>
          <a:p>
            <a:endParaRPr lang="uk-UA" sz="1200" dirty="0"/>
          </a:p>
          <a:p>
            <a:r>
              <a:rPr lang="uk-UA" sz="1200" dirty="0"/>
              <a:t>Треті: «message» — усередині варіанта лежить саме повідомлення, а поруч</a:t>
            </a:r>
          </a:p>
          <a:p>
            <a:r>
              <a:rPr lang="uk-UA" sz="1200" dirty="0"/>
              <a:t>службові поля.</a:t>
            </a:r>
          </a:p>
          <a:p>
            <a:endParaRPr lang="uk-UA" sz="1200" dirty="0"/>
          </a:p>
          <a:p>
            <a:r>
              <a:rPr lang="uk-UA" sz="1200" dirty="0"/>
              <a:t>Четверті: «content» — і ось він, текст.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 обидва варіанти: короткий у один рядок і довгий, де</a:t>
            </a:r>
          </a:p>
          <a:p>
            <a:r>
              <a:rPr lang="uk-UA" sz="1200" dirty="0"/>
              <a:t>кожні двері стоять окремим рядком зі своєю змінною. Роблять вони те саме, але</a:t>
            </a:r>
          </a:p>
          <a:p>
            <a:r>
              <a:rPr lang="uk-UA" sz="1200" dirty="0"/>
              <a:t>довгий можна проходити по кроку й друкувати кожен крок. Кажу правило, яке</a:t>
            </a:r>
          </a:p>
          <a:p>
            <a:r>
              <a:rPr lang="uk-UA" sz="1200" dirty="0"/>
              <a:t>рятує щоразу: заплутався в дужках — розбери на окремі рядки.</a:t>
            </a:r>
          </a:p>
          <a:p>
            <a:endParaRPr lang="uk-UA" sz="1200" dirty="0"/>
          </a:p>
          <a:p>
            <a:r>
              <a:rPr lang="uk-UA" sz="1200" dirty="0"/>
              <a:t>Один раз прошу надрукувати всю відповідь цілком, як вона є. Діти мають</a:t>
            </a:r>
          </a:p>
          <a:p>
            <a:r>
              <a:rPr lang="uk-UA" sz="1200" dirty="0"/>
              <a:t>побачити цей великий словник очима — після цього коридор перестає бути магією.</a:t>
            </a:r>
          </a:p>
          <a:p>
            <a:endParaRPr lang="uk-UA" sz="1200" dirty="0"/>
          </a:p>
          <a:p>
            <a:r>
              <a:rPr lang="uk-UA" sz="1200" dirty="0"/>
              <a:t>Де плутаються: пишуть r.json без дужок; пропускають [0]; шукають «content»</a:t>
            </a:r>
          </a:p>
          <a:p>
            <a:r>
              <a:rPr lang="uk-UA" sz="1200" dirty="0"/>
              <a:t>одразу в answer; лізуть у «choices», коли код був не 200, і ловлять KeyError.</a:t>
            </a:r>
          </a:p>
          <a:p>
            <a:endParaRPr lang="uk-UA" sz="1200" dirty="0"/>
          </a:p>
          <a:p>
            <a:r>
              <a:rPr lang="uk-UA" sz="1200" dirty="0"/>
              <a:t>Наступний слайд: проходимо коридор по кроках і друкуємо відповідь.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(60 хв)</a:t>
            </a:r>
          </a:p>
          <a:p>
            <a:endParaRPr lang="uk-UA" sz="1200" dirty="0"/>
          </a:p>
          <a:p>
            <a:r>
              <a:rPr lang="uk-UA" sz="1200" dirty="0"/>
              <a:t>Той момент, заради якого був увесь урок: на екрані вперше з'являється справжня</a:t>
            </a:r>
          </a:p>
          <a:p>
            <a:r>
              <a:rPr lang="uk-UA" sz="1200" dirty="0"/>
              <a:t>відповідь моделі, а не наша власна фраза.</a:t>
            </a:r>
          </a:p>
          <a:p>
            <a:endParaRPr lang="uk-UA" sz="1200" dirty="0"/>
          </a:p>
          <a:p>
            <a:r>
              <a:rPr lang="uk-UA" sz="1200" dirty="0"/>
              <a:t>Порядок. Дописуємо сім рядків у кінець ai_chat.py, під print із кодом. Нічого</a:t>
            </a:r>
          </a:p>
          <a:p>
            <a:r>
              <a:rPr lang="uk-UA" sz="1200" dirty="0"/>
              <a:t>не видаляємо: число має лишитись, воно ще знадобиться.</a:t>
            </a:r>
          </a:p>
          <a:p>
            <a:endParaRPr lang="uk-UA" sz="1200" dirty="0"/>
          </a:p>
          <a:p>
            <a:r>
              <a:rPr lang="uk-UA" sz="1200" dirty="0"/>
              <a:t>Проговорюю вголос, що робить кожен рядок, поки набирають. answer = r.json() —</a:t>
            </a:r>
          </a:p>
          <a:p>
            <a:r>
              <a:rPr lang="uk-UA" sz="1200" dirty="0"/>
              <a:t>відповідь стала звичайним словником. Далі три рядки — це і є коридор,</a:t>
            </a:r>
          </a:p>
          <a:p>
            <a:r>
              <a:rPr lang="uk-UA" sz="1200" dirty="0"/>
              <a:t>розібраний на кроки: список варіантів, перший варіант, повідомлення й текст у</a:t>
            </a:r>
          </a:p>
          <a:p>
            <a:r>
              <a:rPr lang="uk-UA" sz="1200" dirty="0"/>
              <a:t>ньому. Останній рядок друкує відповідь від імені помічника.</a:t>
            </a:r>
          </a:p>
          <a:p>
            <a:endParaRPr lang="uk-UA" sz="1200" dirty="0"/>
          </a:p>
          <a:p>
            <a:r>
              <a:rPr lang="uk-UA" sz="1200" dirty="0"/>
              <a:t>Наголошую: розбити на кроки — не «для слабких». Так роблять дорослі, коли</a:t>
            </a:r>
          </a:p>
          <a:p>
            <a:r>
              <a:rPr lang="uk-UA" sz="1200" dirty="0"/>
              <a:t>дані незнайомі. Коли працює, ті самі чотири двері можна написати в один рядок</a:t>
            </a:r>
          </a:p>
          <a:p>
            <a:r>
              <a:rPr lang="uk-UA" sz="1200" dirty="0"/>
              <a:t>— і це теж правильно.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KeyError: 'choices' — код був не 200; повертаємось до числа й лікуємо ключ;</a:t>
            </a:r>
          </a:p>
          <a:p>
            <a:r>
              <a:rPr lang="uk-UA" sz="1200" dirty="0"/>
              <a:t>    написали r.json без дужок — тоді в answer лежить сама функція, а не</a:t>
            </a:r>
          </a:p>
          <a:p>
            <a:r>
              <a:rPr lang="uk-UA" sz="1200" dirty="0"/>
              <a:t>    словник, і наступний рядок падає з дивною помилкою;</a:t>
            </a:r>
          </a:p>
          <a:p>
            <a:r>
              <a:rPr lang="uk-UA" sz="1200" dirty="0"/>
              <a:t>    пропустили [0] і шукають «message» одразу в списку — TypeError про те, що</a:t>
            </a:r>
          </a:p>
          <a:p>
            <a:r>
              <a:rPr lang="uk-UA" sz="1200" dirty="0"/>
              <a:t>    індекс має бути числом;</a:t>
            </a:r>
          </a:p>
          <a:p>
            <a:r>
              <a:rPr lang="uk-UA" sz="1200" dirty="0"/>
              <a:t>    надрукували first замість first["message"]["content"] і дивуються дужкам.</a:t>
            </a:r>
          </a:p>
          <a:p>
            <a:endParaRPr lang="uk-UA" sz="1200" dirty="0"/>
          </a:p>
          <a:p>
            <a:r>
              <a:rPr lang="uk-UA" sz="1200" dirty="0"/>
              <a:t>Що робимо разом після. Прошу двох дітей зачитати свої відповіді вголос:</a:t>
            </a:r>
          </a:p>
          <a:p>
            <a:r>
              <a:rPr lang="uk-UA" sz="1200" dirty="0"/>
              <a:t>питання те саме, а слова різні. Повертаюсь до уроку 1 однією фразою: модель</a:t>
            </a:r>
          </a:p>
          <a:p>
            <a:r>
              <a:rPr lang="uk-UA" sz="1200" dirty="0"/>
              <a:t>вгадує наступне слово, тому й відповідь щоразу нова.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рядок</a:t>
            </a:r>
          </a:p>
          <a:p>
            <a:endParaRPr lang="uk-UA" sz="1200" dirty="0"/>
          </a:p>
          <a:p>
            <a:r>
              <a:rPr lang="uk-UA" sz="1200" dirty="0"/>
              <a:t>    print(answer["usage"])</a:t>
            </a:r>
          </a:p>
          <a:p>
            <a:endParaRPr lang="uk-UA" sz="1200" dirty="0"/>
          </a:p>
          <a:p>
            <a:r>
              <a:rPr lang="uk-UA" sz="1200" dirty="0"/>
              <a:t>і подивиться, скільки токенів з'їв запит. Це наочно пояснює, чому довгі запити</a:t>
            </a:r>
          </a:p>
          <a:p>
            <a:r>
              <a:rPr lang="uk-UA" sz="1200" dirty="0"/>
              <a:t>коштують дорожче.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Код: 200</a:t>
            </a:r>
          </a:p>
          <a:p>
            <a:r>
              <a:rPr lang="uk-UA" sz="1200" dirty="0"/>
              <a:t>АІДА: Привіт! Я мовна модель — програма, яка допомагає з питаннями,</a:t>
            </a:r>
          </a:p>
          <a:p>
            <a:r>
              <a:rPr lang="uk-UA" sz="1200" dirty="0"/>
              <a:t>поясненнями й текстами. Питай про що завгодно.</a:t>
            </a:r>
          </a:p>
          <a:p>
            <a:endParaRPr lang="uk-UA" sz="1200" dirty="0"/>
          </a:p>
          <a:p>
            <a:r>
              <a:rPr lang="uk-UA" sz="1200" dirty="0"/>
              <a:t>Текст щоразу трохи інший: модель складає його наново, слово за</a:t>
            </a:r>
          </a:p>
          <a:p>
            <a:r>
              <a:rPr lang="uk-UA" sz="1200" dirty="0"/>
              <a:t>словом. Це те саме, що ми бачили на уроці 1.</a:t>
            </a:r>
          </a:p>
          <a:p>
            <a:endParaRPr lang="uk-UA" sz="1200" dirty="0"/>
          </a:p>
          <a:p>
            <a:r>
              <a:rPr lang="uk-UA" sz="1200" dirty="0"/>
              <a:t>Якщо натомість KeyError: 'choices' — розбирати нема чого, бо код</a:t>
            </a:r>
          </a:p>
          <a:p>
            <a:r>
              <a:rPr lang="uk-UA" sz="1200" dirty="0"/>
              <a:t>був не 200. Якщо надрукувалось щось на кшталт {'id': 'chatcmpl-...} —</a:t>
            </a:r>
          </a:p>
          <a:p>
            <a:r>
              <a:rPr lang="uk-UA" sz="1200" dirty="0"/>
              <a:t>зупинились посеред коридору.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 (61 хв)</a:t>
            </a:r>
          </a:p>
          <a:p>
            <a:endParaRPr lang="uk-UA" sz="1200" dirty="0"/>
          </a:p>
          <a:p>
            <a:r>
              <a:rPr lang="uk-UA" sz="1200" dirty="0"/>
              <a:t>Одна хвилина перед фіналом уроку. Код на наступному слайді найдовший за пару,</a:t>
            </a:r>
          </a:p>
          <a:p>
            <a:r>
              <a:rPr lang="uk-UA" sz="1200" dirty="0"/>
              <a:t>тому питання коротке й швидке.</a:t>
            </a:r>
          </a:p>
          <a:p>
            <a:endParaRPr lang="uk-UA" sz="1200" dirty="0"/>
          </a:p>
          <a:p>
            <a:r>
              <a:rPr lang="uk-UA" sz="1200" dirty="0"/>
              <a:t>СКІЛЬКИ РАЗІВ ПОВТОРЮВАТИ. Правильна відповідь: щоразу. А отже — функція. Це</a:t>
            </a:r>
          </a:p>
          <a:p>
            <a:r>
              <a:rPr lang="uk-UA" sz="1200" dirty="0"/>
              <a:t>рівно те, що вони робили на уроці 2 з analyze, і про цю паралель варто сказати</a:t>
            </a:r>
          </a:p>
          <a:p>
            <a:r>
              <a:rPr lang="uk-UA" sz="1200" dirty="0"/>
              <a:t>вголос: коли шматок коду потрібен багато разів, йому дають ім'я.</a:t>
            </a:r>
          </a:p>
          <a:p>
            <a:endParaRPr lang="uk-UA" sz="1200" dirty="0"/>
          </a:p>
          <a:p>
            <a:r>
              <a:rPr lang="uk-UA" sz="1200" dirty="0"/>
              <a:t>ЯК ПЕРЕВІРЯТИ БЕЗ ІНТЕРНЕТУ. Питання практичне, і в аудиторії воно рано чи</a:t>
            </a:r>
          </a:p>
          <a:p>
            <a:r>
              <a:rPr lang="uk-UA" sz="1200" dirty="0"/>
              <a:t>пізно стає головним. Кажуть: ніяк, чекати. Кажу: є спосіб — зробити другу таку</a:t>
            </a:r>
          </a:p>
          <a:p>
            <a:r>
              <a:rPr lang="uk-UA" sz="1200" dirty="0"/>
              <a:t>саму функцію, яка нікуди не ходить і просто вигадує відповідь. Слово «мок»</a:t>
            </a:r>
          </a:p>
          <a:p>
            <a:r>
              <a:rPr lang="uk-UA" sz="1200" dirty="0"/>
              <a:t>поки не називаю.</a:t>
            </a:r>
          </a:p>
          <a:p>
            <a:endParaRPr lang="uk-UA" sz="1200" dirty="0"/>
          </a:p>
          <a:p>
            <a:r>
              <a:rPr lang="uk-UA" sz="1200" dirty="0"/>
              <a:t>ЩО ВІДПОВІСТИ ПРИ ВІДМОВІ. Найкорисніше питання. Кажуть: нічого, помилку.</a:t>
            </a:r>
          </a:p>
          <a:p>
            <a:r>
              <a:rPr lang="uk-UA" sz="1200" dirty="0"/>
              <a:t>Кажу: функція має повернути рядок у будь-якому разі — інакше програма впаде</a:t>
            </a:r>
          </a:p>
          <a:p>
            <a:r>
              <a:rPr lang="uk-UA" sz="1200" dirty="0"/>
              <a:t>вже після неї. Тому в коді буде if із поверненням тексту про код відповіді.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(65 хв)</a:t>
            </a:r>
          </a:p>
          <a:p>
            <a:endParaRPr lang="uk-UA" sz="1200" dirty="0"/>
          </a:p>
          <a:p>
            <a:r>
              <a:rPr lang="uk-UA" sz="1200" dirty="0"/>
              <a:t>Останній змістовний блок. Показую на телевізорі весь код із наступного слайда</a:t>
            </a:r>
          </a:p>
          <a:p>
            <a:r>
              <a:rPr lang="uk-UA" sz="1200" dirty="0"/>
              <a:t>і читаю вголос, який рядок звідки взявся: усе нове тут — це обгортка навколо</a:t>
            </a:r>
          </a:p>
          <a:p>
            <a:r>
              <a:rPr lang="uk-UA" sz="1200" dirty="0"/>
              <a:t>того, що ми вже набрали.</a:t>
            </a:r>
          </a:p>
          <a:p>
            <a:endParaRPr lang="uk-UA" sz="1200" dirty="0"/>
          </a:p>
          <a:p>
            <a:r>
              <a:rPr lang="uk-UA" sz="1200" dirty="0"/>
              <a:t>ask_ai(question) приймає питання і повертає рядок-відповідь. Усередині — ті</a:t>
            </a:r>
          </a:p>
          <a:p>
            <a:r>
              <a:rPr lang="uk-UA" sz="1200" dirty="0"/>
              <a:t>самі чотири речі: тіло запиту, надсилання, перевірка коду, коридор. Далі цикл</a:t>
            </a:r>
          </a:p>
          <a:p>
            <a:r>
              <a:rPr lang="uk-UA" sz="1200" dirty="0"/>
              <a:t>не знає й не хоче знати, що там усередині мережа: він просто питає функцію. Це</a:t>
            </a:r>
          </a:p>
          <a:p>
            <a:r>
              <a:rPr lang="uk-UA" sz="1200" dirty="0"/>
              <a:t>та сама думка, що на уроці 2, коли впізнавання теми згорнулось в analyze.</a:t>
            </a:r>
          </a:p>
          <a:p>
            <a:endParaRPr lang="uk-UA" sz="1200" dirty="0"/>
          </a:p>
          <a:p>
            <a:r>
              <a:rPr lang="uk-UA" sz="1200" dirty="0"/>
              <a:t>Найважливіший рядок — перевірка статусу. Якщо код не 200, ми не ліземо у</a:t>
            </a:r>
          </a:p>
          <a:p>
            <a:r>
              <a:rPr lang="uk-UA" sz="1200" dirty="0"/>
              <a:t>«choices»: його там немає, і буде KeyError у незрозумілому місці. Замість цього</a:t>
            </a:r>
          </a:p>
          <a:p>
            <a:r>
              <a:rPr lang="uk-UA" sz="1200" dirty="0"/>
              <a:t>повертаємо чесне повідомлення з кодом. Кажу вголос: програма, яка ламається,</a:t>
            </a:r>
          </a:p>
          <a:p>
            <a:r>
              <a:rPr lang="uk-UA" sz="1200" dirty="0"/>
              <a:t>гірша за програму, яка каже, що саме не так.</a:t>
            </a:r>
          </a:p>
          <a:p>
            <a:endParaRPr lang="uk-UA" sz="1200" dirty="0"/>
          </a:p>
          <a:p>
            <a:r>
              <a:rPr lang="uk-UA" sz="1200" dirty="0"/>
              <a:t>Звертаю увагу, що URL і headers лишились поза функцією. Вони однакові для всіх</a:t>
            </a:r>
          </a:p>
          <a:p>
            <a:r>
              <a:rPr lang="uk-UA" sz="1200" dirty="0"/>
              <a:t>запитів, і читати ключ на кожен запит немає сенсу.</a:t>
            </a:r>
          </a:p>
          <a:p>
            <a:endParaRPr lang="uk-UA" sz="1200" dirty="0"/>
          </a:p>
          <a:p>
            <a:r>
              <a:rPr lang="uk-UA" sz="1200" dirty="0"/>
              <a:t>Далі мок. Пояснюю ідею: це підробка, яка вдає справжнє. ask_ai_mock приймає те</a:t>
            </a:r>
          </a:p>
          <a:p>
            <a:r>
              <a:rPr lang="uk-UA" sz="1200" dirty="0"/>
              <a:t>саме питання й повертає такий самий рядок, тільки нікуди не ходить. Для решти</a:t>
            </a:r>
          </a:p>
          <a:p>
            <a:r>
              <a:rPr lang="uk-UA" sz="1200" dirty="0"/>
              <a:t>програми різниці немає — у цьому й суть. Навіщо: немає інтернету — урок іде</a:t>
            </a:r>
          </a:p>
          <a:p>
            <a:r>
              <a:rPr lang="uk-UA" sz="1200" dirty="0"/>
              <a:t>далі; запити коштують — поки налагоджуємо цикл, немає сенсу палити справжні;</a:t>
            </a:r>
          </a:p>
          <a:p>
            <a:r>
              <a:rPr lang="uk-UA" sz="1200" dirty="0"/>
              <a:t>мок відповідає миттєво, а модель за секунду-дві, і коли перевіряєш програму</a:t>
            </a:r>
          </a:p>
          <a:p>
            <a:r>
              <a:rPr lang="uk-UA" sz="1200" dirty="0"/>
              <a:t>двадцять разів, це відчутно. Кажу наперед: на уроці 11, на захисті проєкту,</a:t>
            </a:r>
          </a:p>
          <a:p>
            <a:r>
              <a:rPr lang="uk-UA" sz="1200" dirty="0"/>
              <a:t>мок урятує не одного.</a:t>
            </a:r>
          </a:p>
          <a:p>
            <a:endParaRPr lang="uk-UA" sz="1200" dirty="0"/>
          </a:p>
          <a:p>
            <a:r>
              <a:rPr lang="uk-UA" sz="1200" dirty="0"/>
              <a:t>Тут же розмова про розподіл праці. Питаю: а чи треба тепер analyze з уроку 2?</a:t>
            </a:r>
          </a:p>
          <a:p>
            <a:r>
              <a:rPr lang="uk-UA" sz="1200" dirty="0"/>
              <a:t>Хороша відповідь — треба: час і нотатки швидше й безкоштовно віддати самим, і</a:t>
            </a:r>
          </a:p>
          <a:p>
            <a:r>
              <a:rPr lang="uk-UA" sz="1200" dirty="0"/>
              <a:t>не варто ганяти запит у мережу заради годинника. Домашнє завдання рівно про це.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весь низ файла заново.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 (71 хв)</a:t>
            </a:r>
          </a:p>
          <a:p>
            <a:endParaRPr lang="uk-UA" sz="1200" dirty="0"/>
          </a:p>
          <a:p>
            <a:r>
              <a:rPr lang="uk-UA" sz="1200" dirty="0"/>
              <a:t>Фінальний код уроку. На екрані весь низ файла цілком: дитині не треба тримати</a:t>
            </a:r>
          </a:p>
          <a:p>
            <a:r>
              <a:rPr lang="uk-UA" sz="1200" dirty="0"/>
              <a:t>в голові, куди вставляти рядок, вона звіряє свій файл з екраном згори вниз.</a:t>
            </a:r>
          </a:p>
          <a:p>
            <a:endParaRPr lang="uk-UA" sz="1200" dirty="0"/>
          </a:p>
          <a:p>
            <a:r>
              <a:rPr lang="uk-UA" sz="1200" dirty="0"/>
              <a:t>Кажу порядок. Верх файла — import requests, читання ключа, URL і headers —</a:t>
            </a:r>
          </a:p>
          <a:p>
            <a:r>
              <a:rPr lang="uk-UA" sz="1200" dirty="0"/>
              <a:t>лишається без жодної зміни. Усе, що нижче, тобто data, requests.post і всі</a:t>
            </a:r>
          </a:p>
          <a:p>
            <a:r>
              <a:rPr lang="uk-UA" sz="1200" dirty="0"/>
              <a:t>print, замінюємо на те, що на екрані. Старі рядки не коментуємо, а видаляємо:</a:t>
            </a:r>
          </a:p>
          <a:p>
            <a:r>
              <a:rPr lang="uk-UA" sz="1200" dirty="0"/>
              <a:t>менше плутанини.</a:t>
            </a:r>
          </a:p>
          <a:p>
            <a:endParaRPr lang="uk-UA" sz="1200" dirty="0"/>
          </a:p>
          <a:p>
            <a:r>
              <a:rPr lang="uk-UA" sz="1200" dirty="0"/>
              <a:t>Наголошую на відступах, бо їх тут три рівні: рядки def і while стоять зліва;</a:t>
            </a:r>
          </a:p>
          <a:p>
            <a:r>
              <a:rPr lang="uk-UA" sz="1200" dirty="0"/>
              <a:t>те, що всередині них, — чотири пробіли; те, що всередині if, — вісім. Показую</a:t>
            </a:r>
          </a:p>
          <a:p>
            <a:r>
              <a:rPr lang="uk-UA" sz="1200" dirty="0"/>
              <a:t>пальцем на екрані кожен рівень окремо.</a:t>
            </a:r>
          </a:p>
          <a:p>
            <a:endParaRPr lang="uk-UA" sz="1200" dirty="0"/>
          </a:p>
          <a:p>
            <a:r>
              <a:rPr lang="uk-UA" sz="1200" dirty="0"/>
              <a:t>Проговорюю два тонкі місця. Перше: у тілі запиту тепер стоїть question, а не</a:t>
            </a:r>
          </a:p>
          <a:p>
            <a:r>
              <a:rPr lang="uk-UA" sz="1200" dirty="0"/>
              <a:t>рядок у лапках, — це те, що прийшло у функцію. Друге: return виходить з</a:t>
            </a:r>
          </a:p>
          <a:p>
            <a:r>
              <a:rPr lang="uk-UA" sz="1200" dirty="0"/>
              <a:t>функції одразу, тому рядок з коридором виконається тільки тоді, коли код 200.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двокрапку після def, if або while;</a:t>
            </a:r>
          </a:p>
          <a:p>
            <a:r>
              <a:rPr lang="uk-UA" sz="1200" dirty="0"/>
              <a:t>    написали ask_ai(text) з великої літери або через дефіс;</a:t>
            </a:r>
          </a:p>
          <a:p>
            <a:r>
              <a:rPr lang="uk-UA" sz="1200" dirty="0"/>
              <a:t>    поставили print усередині функції замість return — тоді в циклі</a:t>
            </a:r>
          </a:p>
          <a:p>
            <a:r>
              <a:rPr lang="uk-UA" sz="1200" dirty="0"/>
              <a:t>    друкується None;</a:t>
            </a:r>
          </a:p>
          <a:p>
            <a:r>
              <a:rPr lang="uk-UA" sz="1200" dirty="0"/>
              <a:t>    лишили внизу старий requests.post із блоку 4 — запит іде двічі;</a:t>
            </a:r>
          </a:p>
          <a:p>
            <a:r>
              <a:rPr lang="uk-UA" sz="1200" dirty="0"/>
              <a:t>    у мока забули лапки й отримали NameError.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спитати щось просте, потім сказати своє ім'я, потім спитати</a:t>
            </a:r>
          </a:p>
          <a:p>
            <a:r>
              <a:rPr lang="uk-UA" sz="1200" dirty="0"/>
              <a:t>«як мене звати». Він не пам'ятає — і це не поломка, це рівно те, з чого</a:t>
            </a:r>
          </a:p>
          <a:p>
            <a:r>
              <a:rPr lang="uk-UA" sz="1200" dirty="0"/>
              <a:t>почнеться наступний урок. Кажу це вголос, поки ефект свіжий.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перед циклом рядок</a:t>
            </a:r>
          </a:p>
          <a:p>
            <a:endParaRPr lang="uk-UA" sz="1200" dirty="0"/>
          </a:p>
          <a:p>
            <a:r>
              <a:rPr lang="uk-UA" sz="1200" dirty="0"/>
              <a:t>    print("АІДА:", ask_ai("Привітайся і скажи, хто ти"))</a:t>
            </a:r>
          </a:p>
          <a:p>
            <a:endParaRPr lang="uk-UA" sz="1200" dirty="0"/>
          </a:p>
          <a:p>
            <a:r>
              <a:rPr lang="uk-UA" sz="1200" dirty="0"/>
              <a:t>Тоді помічник вітається сам, ще до першого питання.</a:t>
            </a:r>
          </a:p>
          <a:p>
            <a:endParaRPr lang="uk-UA" sz="1200" dirty="0"/>
          </a:p>
          <a:p>
            <a:r>
              <a:rPr lang="uk-UA" sz="1200" dirty="0"/>
              <a:t>Це кінець змістовної частини. Далі Kahoot.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Ти: Привіт! Хто ти?</a:t>
            </a:r>
          </a:p>
          <a:p>
            <a:r>
              <a:rPr lang="uk-UA" sz="1200" dirty="0"/>
              <a:t>АІДА: Я програма-помічник. Відповідаю на питання й допомагаю з ідеями.</a:t>
            </a:r>
          </a:p>
          <a:p>
            <a:r>
              <a:rPr lang="uk-UA" sz="1200" dirty="0"/>
              <a:t>Ти: Мене звати Марта</a:t>
            </a:r>
          </a:p>
          <a:p>
            <a:r>
              <a:rPr lang="uk-UA" sz="1200" dirty="0"/>
              <a:t>АІДА: Приємно познайомитись, Марто!</a:t>
            </a:r>
          </a:p>
          <a:p>
            <a:r>
              <a:rPr lang="uk-UA" sz="1200" dirty="0"/>
              <a:t>Ти: Як мене звати?</a:t>
            </a:r>
          </a:p>
          <a:p>
            <a:r>
              <a:rPr lang="uk-UA" sz="1200" dirty="0"/>
              <a:t>АІДА: Я не знаю твого імені — підкажи, будь ласка.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Останній рядок і є завданням наступного уроку: помічник не пам'ятає</a:t>
            </a:r>
          </a:p>
          <a:p>
            <a:r>
              <a:rPr lang="uk-UA" sz="1200" dirty="0"/>
              <a:t>навіть того, що йому сказали хвилину тому. Кожен запит для нього</a:t>
            </a:r>
          </a:p>
          <a:p>
            <a:r>
              <a:rPr lang="uk-UA" sz="1200" dirty="0"/>
              <a:t>перший, бо в messages щоразу лежить одне повідомлення.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читаємо вголос (72 + 15 хв)</a:t>
            </a:r>
          </a:p>
          <a:p>
            <a:endParaRPr lang="uk-UA" sz="1200" dirty="0"/>
          </a:p>
          <a:p>
            <a:r>
              <a:rPr lang="uk-UA" sz="1200" dirty="0"/>
              <a:t>Одна хвилина. Читаю три пункти вголос зі слайда й відпускаю групу — розбирати</a:t>
            </a:r>
          </a:p>
          <a:p>
            <a:r>
              <a:rPr lang="uk-UA" sz="1200" dirty="0"/>
              <a:t>тут нічого, усе, що потрібно, вже набрано на уроці. Єдине, що диктую, — гілка</a:t>
            </a:r>
          </a:p>
          <a:p>
            <a:r>
              <a:rPr lang="uk-UA" sz="1200" dirty="0"/>
              <a:t>з годинником у другому пункті: пишу її на дошці, поки група списує, і лишаю до</a:t>
            </a:r>
          </a:p>
          <a:p>
            <a:r>
              <a:rPr lang="uk-UA" sz="1200" dirty="0"/>
              <a:t>кінця перерви. Нового рядка там один, і той з уроку 2.</a:t>
            </a:r>
          </a:p>
          <a:p>
            <a:endParaRPr lang="uk-UA" sz="1200" dirty="0"/>
          </a:p>
          <a:p>
            <a:r>
              <a:rPr lang="uk-UA" sz="1200" dirty="0"/>
              <a:t>Що кажу дослівно, щоб уложитись у хвилину:</a:t>
            </a:r>
          </a:p>
          <a:p>
            <a:endParaRPr lang="uk-UA" sz="1200" dirty="0"/>
          </a:p>
          <a:p>
            <a:r>
              <a:rPr lang="uk-UA" sz="1200" dirty="0"/>
              <a:t>«Домашнє коротке, і все воно робиться правкою того, що ви вже набрали.</a:t>
            </a:r>
          </a:p>
          <a:p>
            <a:endParaRPr lang="uk-UA" sz="1200" dirty="0"/>
          </a:p>
          <a:p>
            <a:r>
              <a:rPr lang="uk-UA" sz="1200" dirty="0"/>
              <a:t>Перше: запустіть ai_chat.py і поставте три різні питання. Одне з них — про</a:t>
            </a:r>
          </a:p>
          <a:p>
            <a:r>
              <a:rPr lang="uk-UA" sz="1200" dirty="0"/>
              <a:t>подію цього тижня. Подивіться, чи не вигадає модель, і покажіть мені наступного</a:t>
            </a:r>
          </a:p>
          <a:p>
            <a:r>
              <a:rPr lang="uk-UA" sz="1200" dirty="0"/>
              <a:t>разу.</a:t>
            </a:r>
          </a:p>
          <a:p>
            <a:endParaRPr lang="uk-UA" sz="1200" dirty="0"/>
          </a:p>
          <a:p>
            <a:r>
              <a:rPr lang="uk-UA" sz="1200" dirty="0"/>
              <a:t>Друге: у циклі, під рядком про "стоп", додайте перевірку на слово "час", а</a:t>
            </a:r>
          </a:p>
          <a:p>
            <a:r>
              <a:rPr lang="uk-UA" sz="1200" dirty="0"/>
              <a:t>останній рядок сховайте в else. Має вийти рівно так:</a:t>
            </a:r>
          </a:p>
          <a:p>
            <a:endParaRPr lang="uk-UA" sz="1200" dirty="0"/>
          </a:p>
          <a:p>
            <a:r>
              <a:rPr lang="uk-UA" sz="1200" dirty="0"/>
              <a:t>    if text.lower() == "час":</a:t>
            </a:r>
          </a:p>
          <a:p>
            <a:r>
              <a:rPr lang="uk-UA" sz="1200" dirty="0"/>
              <a:t>        print("АІДА:", datetime.now().strftime("Зараз %H:%M"))</a:t>
            </a:r>
          </a:p>
          <a:p>
            <a:r>
              <a:rPr lang="uk-UA" sz="1200" dirty="0"/>
              <a:t>    else:</a:t>
            </a:r>
          </a:p>
          <a:p>
            <a:r>
              <a:rPr lang="uk-UA" sz="1200" dirty="0"/>
              <a:t>        print("АІДА:", ask_ai(text))</a:t>
            </a:r>
          </a:p>
          <a:p>
            <a:endParaRPr lang="uk-UA" sz="1200" dirty="0"/>
          </a:p>
          <a:p>
            <a:r>
              <a:rPr lang="uk-UA" sz="1200" dirty="0"/>
              <a:t>а найпершим рядком файла, над import requests, допишіть</a:t>
            </a:r>
          </a:p>
          <a:p>
            <a:endParaRPr lang="uk-UA" sz="1200" dirty="0"/>
          </a:p>
          <a:p>
            <a:r>
              <a:rPr lang="uk-UA" sz="1200" dirty="0"/>
              <a:t>    from datetime import datetime</a:t>
            </a:r>
          </a:p>
          <a:p>
            <a:endParaRPr lang="uk-UA" sz="1200" dirty="0"/>
          </a:p>
          <a:p>
            <a:r>
              <a:rPr lang="uk-UA" sz="1200" dirty="0"/>
              <a:t>Рядок з годинником той самий, що на уроці 2, else — те саме, що ви робили на</a:t>
            </a:r>
          </a:p>
          <a:p>
            <a:r>
              <a:rPr lang="uk-UA" sz="1200" dirty="0"/>
              <a:t>уроці 1. Тоді час помічник скаже сам, миттєво й безкоштовно, а в мережу піде</a:t>
            </a:r>
          </a:p>
          <a:p>
            <a:r>
              <a:rPr lang="uk-UA" sz="1200" dirty="0"/>
              <a:t>тільки по решту.</a:t>
            </a:r>
          </a:p>
          <a:p>
            <a:endParaRPr lang="uk-UA" sz="1200" dirty="0"/>
          </a:p>
          <a:p>
            <a:r>
              <a:rPr lang="uk-UA" sz="1200" dirty="0"/>
              <a:t>Третє: в останньому рядку замініть ask_ai на ask_ai_mock, запустіть,</a:t>
            </a:r>
          </a:p>
          <a:p>
            <a:r>
              <a:rPr lang="uk-UA" sz="1200" dirty="0"/>
              <a:t>переконайтесь, що відповідає підробка, і поверніть назад.</a:t>
            </a:r>
          </a:p>
          <a:p>
            <a:endParaRPr lang="uk-UA" sz="1200" dirty="0"/>
          </a:p>
          <a:p>
            <a:r>
              <a:rPr lang="uk-UA" sz="1200" dirty="0"/>
              <a:t>Ключ лишається в key.txt. У код його не переносимо навіть на хвилинку —</a:t>
            </a:r>
          </a:p>
          <a:p>
            <a:r>
              <a:rPr lang="uk-UA" sz="1200" dirty="0"/>
              <a:t>ні вдома, ні щоб показати другові.»</a:t>
            </a:r>
          </a:p>
          <a:p>
            <a:endParaRPr lang="uk-UA" sz="1200" dirty="0"/>
          </a:p>
          <a:p>
            <a:r>
              <a:rPr lang="uk-UA" sz="1200" dirty="0"/>
              <a:t>Для себе: перший пункт закріплює розмову про галюцинації; другий з'єднує урок</a:t>
            </a:r>
          </a:p>
          <a:p>
            <a:r>
              <a:rPr lang="uk-UA" sz="1200" dirty="0"/>
              <a:t>2 з уроком 4 і дає розподіл праці, який лишиться до фінального проєкту; третій</a:t>
            </a:r>
          </a:p>
          <a:p>
            <a:r>
              <a:rPr lang="uk-UA" sz="1200" dirty="0"/>
              <a:t>робить мок звичкою, а не аварійним варіантом. Нічого вигадувати не треба:</a:t>
            </a:r>
          </a:p>
          <a:p>
            <a:r>
              <a:rPr lang="uk-UA" sz="1200" dirty="0"/>
              <a:t>перший і третій пункти — правка вже набраного, а в другому і рядок з</a:t>
            </a:r>
          </a:p>
          <a:p>
            <a:r>
              <a:rPr lang="uk-UA" sz="1200" dirty="0"/>
              <a:t>годинником, і else продиктовані цілком і знайомі з уроків 1 і 2. Без else</a:t>
            </a:r>
          </a:p>
          <a:p>
            <a:r>
              <a:rPr lang="uk-UA" sz="1200" dirty="0"/>
              <a:t>помічник відповість двічі — і на це варто зважати, коли прийдуть із питанням.</a:t>
            </a:r>
          </a:p>
          <a:p>
            <a:endParaRPr lang="uk-UA" sz="1200" dirty="0"/>
          </a:p>
          <a:p>
            <a:r>
              <a:rPr lang="uk-UA" sz="1200" dirty="0"/>
              <a:t>Наприкінці нагадую: наступного разу вчимо помічника пам'ятати розмову, і для</a:t>
            </a:r>
          </a:p>
          <a:p>
            <a:r>
              <a:rPr lang="uk-UA" sz="1200" dirty="0"/>
              <a:t>цього знадобиться робочий ask_ai. Хто його не доробив — хай добере з</a:t>
            </a:r>
          </a:p>
          <a:p>
            <a:r>
              <a:rPr lang="uk-UA" sz="1200" dirty="0"/>
              <a:t>фотографії слайда до наступного уроку.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блок: іде тільки якщо лишився час. І це той бонус, який варто дати</a:t>
            </a:r>
          </a:p>
          <a:p>
            <a:r>
              <a:rPr lang="uk-UA" sz="1200" dirty="0"/>
              <a:t>першим, — з ним урок можна довести до кінця навіть без інтернету в аудиторії.</a:t>
            </a:r>
          </a:p>
          <a:p>
            <a:endParaRPr lang="uk-UA" sz="1200" dirty="0"/>
          </a:p>
          <a:p>
            <a:r>
              <a:rPr lang="uk-UA" sz="1200" dirty="0"/>
              <a:t>ІНТЕРНЕТ ВІДПАВ. Кажуть: чекати, перезапустити роутер. Кажу: програміст так не</a:t>
            </a:r>
          </a:p>
          <a:p>
            <a:r>
              <a:rPr lang="uk-UA" sz="1200" dirty="0"/>
              <a:t>чекає — він робить підробку й працює далі. Слово «мок» уже було на показі, і</a:t>
            </a:r>
          </a:p>
          <a:p>
            <a:r>
              <a:rPr lang="uk-UA" sz="1200" dirty="0"/>
              <a:t>тут воно повертається як відповідь на їхню ж проблему.</a:t>
            </a:r>
          </a:p>
          <a:p>
            <a:endParaRPr lang="uk-UA" sz="1200" dirty="0"/>
          </a:p>
          <a:p>
            <a:r>
              <a:rPr lang="uk-UA" sz="1200" dirty="0"/>
              <a:t>ЯК УВІМКНУТИ, НЕ ПЕРЕПИСУЮЧИ. Хтось скаже «поміняти рядок». Питаю: а якщо таких</a:t>
            </a:r>
          </a:p>
          <a:p>
            <a:r>
              <a:rPr lang="uk-UA" sz="1200" dirty="0"/>
              <a:t>рядків десять? Тоді доведеться згадати всі десять. Ось і потрібна одна змінна</a:t>
            </a:r>
          </a:p>
          <a:p>
            <a:r>
              <a:rPr lang="uk-UA" sz="1200" dirty="0"/>
              <a:t>нагорі, яку видно одразу.</a:t>
            </a:r>
          </a:p>
          <a:p>
            <a:endParaRPr lang="uk-UA" sz="1200" dirty="0"/>
          </a:p>
          <a:p>
            <a:r>
              <a:rPr lang="uk-UA" sz="1200" dirty="0"/>
              <a:t>СКІЛЬКИ МІСЦЬ МАЄ ЗНАТИ. Правильна відповідь: одне. Це доросла думка, і вона</a:t>
            </a:r>
          </a:p>
          <a:p>
            <a:r>
              <a:rPr lang="uk-UA" sz="1200" dirty="0"/>
              <a:t>проста: рішення ухвалюється в одному місці, а решта програми його не бачить.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Нове тут одне: змінна, яка тримає не текст і не</a:t>
            </a:r>
          </a:p>
          <a:p>
            <a:r>
              <a:rPr lang="uk-UA" sz="1200" dirty="0"/>
              <a:t>число, а «так» або «ні».</a:t>
            </a:r>
          </a:p>
          <a:p>
            <a:endParaRPr lang="uk-UA" sz="1200" dirty="0"/>
          </a:p>
          <a:p>
            <a:r>
              <a:rPr lang="uk-UA" sz="1200" dirty="0"/>
              <a:t>TRUE І FALSE. Кажу, що це два особливі значення Python — так і ні. Пишу їх на</a:t>
            </a:r>
          </a:p>
          <a:p>
            <a:r>
              <a:rPr lang="uk-UA" sz="1200" dirty="0"/>
              <a:t>телевізорі й наголошую: з великої літери й без лапок. Показую живцем, що</a:t>
            </a:r>
          </a:p>
          <a:p>
            <a:r>
              <a:rPr lang="uk-UA" sz="1200" dirty="0"/>
              <a:t>буває з лапками: "False" усередині if спрацьовує як «так», бо рядок</a:t>
            </a:r>
          </a:p>
          <a:p>
            <a:r>
              <a:rPr lang="uk-UA" sz="1200" dirty="0"/>
              <a:t>непорожній. Помилки немає, поведінка дивна — і це найгірший вид помилки.</a:t>
            </a:r>
          </a:p>
          <a:p>
            <a:endParaRPr lang="uk-UA" sz="1200" dirty="0"/>
          </a:p>
          <a:p>
            <a:r>
              <a:rPr lang="uk-UA" sz="1200" dirty="0"/>
              <a:t>IF БЕЗ ПОРІВНЯННЯ. Досі всі їхні if були з подвійним дорівнює. Кажу: якщо в</a:t>
            </a:r>
          </a:p>
          <a:p>
            <a:r>
              <a:rPr lang="uk-UA" sz="1200" dirty="0"/>
              <a:t>змінній уже лежить так або ні, порівнювати нема з чим — пишемо просто</a:t>
            </a:r>
          </a:p>
          <a:p>
            <a:r>
              <a:rPr lang="uk-UA" sz="1200" dirty="0"/>
              <a:t>if USE_MOCK. Показую обидва варіанти й кажу, що довший теж працює, просто його</a:t>
            </a:r>
          </a:p>
          <a:p>
            <a:r>
              <a:rPr lang="uk-UA" sz="1200" dirty="0"/>
              <a:t>не пишуть.</a:t>
            </a:r>
          </a:p>
          <a:p>
            <a:endParaRPr lang="uk-UA" sz="1200" dirty="0"/>
          </a:p>
          <a:p>
            <a:r>
              <a:rPr lang="uk-UA" sz="1200" dirty="0"/>
              <a:t>ДЕ СТАВИТИ. Показую пальцем: змінна — під import, на самому верху; if із</a:t>
            </a:r>
          </a:p>
          <a:p>
            <a:r>
              <a:rPr lang="uk-UA" sz="1200" dirty="0"/>
              <a:t>вибором — усередині циклу, на місці одного рядка з print.</a:t>
            </a:r>
          </a:p>
          <a:p>
            <a:endParaRPr lang="uk-UA" sz="1200" dirty="0"/>
          </a:p>
          <a:p>
            <a:r>
              <a:rPr lang="uk-UA" sz="1200" dirty="0"/>
              <a:t>НАВІЩО ЦЕ НАСПРАВДІ. Кажу вголос: так роблять у дорослих програмах. Перемикач</a:t>
            </a:r>
          </a:p>
          <a:p>
            <a:r>
              <a:rPr lang="uk-UA" sz="1200" dirty="0"/>
              <a:t>нагорі — це те, чим вимикають платні речі під час перевірки. Сьогодні ми</a:t>
            </a:r>
          </a:p>
          <a:p>
            <a:r>
              <a:rPr lang="uk-UA" sz="1200" dirty="0"/>
              <a:t>економимо запити, завтра — гроші.</a:t>
            </a:r>
          </a:p>
          <a:p>
            <a:endParaRPr lang="uk-UA" sz="1200" dirty="0"/>
          </a:p>
          <a:p>
            <a:r>
              <a:rPr lang="uk-UA" sz="1200" dirty="0"/>
              <a:t>Наступний слайд: два шматки.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Рядків мало, і головна робота тут — перевірити</a:t>
            </a:r>
          </a:p>
          <a:p>
            <a:r>
              <a:rPr lang="uk-UA" sz="1200" dirty="0"/>
              <a:t>обидва положення перемикача.</a:t>
            </a:r>
          </a:p>
          <a:p>
            <a:endParaRPr lang="uk-UA" sz="1200" dirty="0"/>
          </a:p>
          <a:p>
            <a:r>
              <a:rPr lang="uk-UA" sz="1200" dirty="0"/>
              <a:t>Кажу порядок: змінна USE_MOCK — під import, без відступу; п'ять рядків з if —</a:t>
            </a:r>
          </a:p>
          <a:p>
            <a:r>
              <a:rPr lang="uk-UA" sz="1200" dirty="0"/>
              <a:t>усередині циклу, замість одного наявного print.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написали true з малої літери — NameError: name 'true' is not defined;</a:t>
            </a:r>
          </a:p>
          <a:p>
            <a:r>
              <a:rPr lang="uk-UA" sz="1200" dirty="0"/>
              <a:t>    написали "True" у лапках — мок не вимикається ніколи;</a:t>
            </a:r>
          </a:p>
          <a:p>
            <a:r>
              <a:rPr lang="uk-UA" sz="1200" dirty="0"/>
              <a:t>    лишили старий print з ask_ai(text) поруч із новим — дві відповіді на одну</a:t>
            </a:r>
          </a:p>
          <a:p>
            <a:r>
              <a:rPr lang="uk-UA" sz="1200" dirty="0"/>
              <a:t>        фразу, одна з мока, одна справжня, і платна;</a:t>
            </a:r>
          </a:p>
          <a:p>
            <a:r>
              <a:rPr lang="uk-UA" sz="1200" dirty="0"/>
              <a:t>    зсунули if не на той рівень і винесли його з циклу.</a:t>
            </a:r>
          </a:p>
          <a:p>
            <a:endParaRPr lang="uk-UA" sz="1200" dirty="0"/>
          </a:p>
          <a:p>
            <a:r>
              <a:rPr lang="uk-UA" sz="1200" dirty="0"/>
              <a:t>Третя помилка коштує грошей, тому про неї кажу голосно: старий рядок треба</a:t>
            </a:r>
          </a:p>
          <a:p>
            <a:r>
              <a:rPr lang="uk-UA" sz="1200" dirty="0"/>
              <a:t>прибрати, а не лишити нижче.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запустити з True — відповідь однакова й миттєва. Потім</a:t>
            </a:r>
          </a:p>
          <a:p>
            <a:r>
              <a:rPr lang="uk-UA" sz="1200" dirty="0"/>
              <a:t>поміняти на False, запустити ще раз — відповідь інша й приходить із затримкою.</a:t>
            </a:r>
          </a:p>
          <a:p>
            <a:r>
              <a:rPr lang="uk-UA" sz="1200" dirty="0"/>
              <a:t>Прошу помітити саме затримку: це видно, як програма ходила в мережу.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допише в мок другий варіант відповіді через random.choice —</a:t>
            </a:r>
          </a:p>
          <a:p>
            <a:r>
              <a:rPr lang="uk-UA" sz="1200" dirty="0"/>
              <a:t>список із уроку 1. Тоді мок стане трохи схожим на живого, і перевіряти на ньому</a:t>
            </a:r>
          </a:p>
          <a:p>
            <a:r>
              <a:rPr lang="uk-UA" sz="1200" dirty="0"/>
              <a:t>цикл буде приємніше.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(USE_MOCK = True — у мережу не ходимо)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Ти: Привіт! Хто ти?</a:t>
            </a:r>
          </a:p>
          <a:p>
            <a:r>
              <a:rPr lang="uk-UA" sz="1200" dirty="0"/>
              <a:t>АІДА: Я зараз без мережі, але уяви, що я відповів.</a:t>
            </a:r>
          </a:p>
          <a:p>
            <a:r>
              <a:rPr lang="uk-UA" sz="1200" dirty="0"/>
              <a:t>Ти: Скільки буде два плюс два?</a:t>
            </a:r>
          </a:p>
          <a:p>
            <a:r>
              <a:rPr lang="uk-UA" sz="1200" dirty="0"/>
              <a:t>АІДА: Я зараз без мережі, але уяви, що я відповів.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(USE_MOCK = False — питаємо по-справжньому)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Ти: Привіт! Хто ти?</a:t>
            </a:r>
          </a:p>
          <a:p>
            <a:r>
              <a:rPr lang="uk-UA" sz="1200" dirty="0"/>
              <a:t>АІДА: Я мовна модель. Відповідаю на питання й допомагаю з текстами.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Головне: з моком відповідь однакова щоразу і приходить миттєво —</a:t>
            </a:r>
          </a:p>
          <a:p>
            <a:r>
              <a:rPr lang="uk-UA" sz="1200" dirty="0"/>
              <a:t>саме за цими двома ознаками мок і впізнають.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Тут повертається головна думка уроку 1 — модель</a:t>
            </a:r>
          </a:p>
          <a:p>
            <a:r>
              <a:rPr lang="uk-UA" sz="1200" dirty="0"/>
              <a:t>вибирає наступне слово трохи навмання, — і виявляється, що цим можна керувати.</a:t>
            </a:r>
          </a:p>
          <a:p>
            <a:endParaRPr lang="uk-UA" sz="1200" dirty="0"/>
          </a:p>
          <a:p>
            <a:r>
              <a:rPr lang="uk-UA" sz="1200" dirty="0"/>
              <a:t>ТОЧНІСТЬ ЧИ ВИГАДКА. Прошу навести приклади обох випадків. Точність: переклад,</a:t>
            </a:r>
          </a:p>
          <a:p>
            <a:r>
              <a:rPr lang="uk-UA" sz="1200" dirty="0"/>
              <a:t>задача, факт, код. Вигадка: назва команди, історія, вірш, ідея для проєкту.</a:t>
            </a:r>
          </a:p>
          <a:p>
            <a:r>
              <a:rPr lang="uk-UA" sz="1200" dirty="0"/>
              <a:t>Список складають швидко й самі.</a:t>
            </a:r>
          </a:p>
          <a:p>
            <a:endParaRPr lang="uk-UA" sz="1200" dirty="0"/>
          </a:p>
          <a:p>
            <a:r>
              <a:rPr lang="uk-UA" sz="1200" dirty="0"/>
              <a:t>МАТЕМАТИКА. Відповідь очевидна: та сама. Питаю чому. Бо правильна відповідь</a:t>
            </a:r>
          </a:p>
          <a:p>
            <a:r>
              <a:rPr lang="uk-UA" sz="1200" dirty="0"/>
              <a:t>одна, і кожен новий варіант — це нова можливість помилитись.</a:t>
            </a:r>
          </a:p>
          <a:p>
            <a:endParaRPr lang="uk-UA" sz="1200" dirty="0"/>
          </a:p>
          <a:p>
            <a:r>
              <a:rPr lang="uk-UA" sz="1200" dirty="0"/>
              <a:t>ВІРШ І НАЗВА. Тут навпаки: однакова відповідь нікому не потрібна. Кажу, що це</a:t>
            </a:r>
          </a:p>
          <a:p>
            <a:r>
              <a:rPr lang="uk-UA" sz="1200" dirty="0"/>
              <a:t>рівно те, що ми бачили на уроці 1, коли тричі просили назву для команди.</a:t>
            </a:r>
          </a:p>
          <a:p>
            <a:endParaRPr lang="uk-UA" sz="1200" dirty="0"/>
          </a:p>
          <a:p>
            <a:r>
              <a:rPr lang="uk-UA" sz="1200" dirty="0"/>
              <a:t>Кажу заздалегідь: числом це керує один рядок у запиті, і сьогодні ми його</a:t>
            </a:r>
          </a:p>
          <a:p>
            <a:r>
              <a:rPr lang="uk-UA" sz="1200" dirty="0"/>
              <a:t>додамо. Число не магічне — воно просто каже, наскільки сміливо модель бере</a:t>
            </a:r>
          </a:p>
          <a:p>
            <a:r>
              <a:rPr lang="uk-UA" sz="1200" dirty="0"/>
              <a:t>менш очевидне слово.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коду тут один рядок, а розмови — на всі</a:t>
            </a:r>
          </a:p>
          <a:p>
            <a:r>
              <a:rPr lang="uk-UA" sz="1200" dirty="0"/>
              <a:t>чотири, і вона того варта.</a:t>
            </a:r>
          </a:p>
          <a:p>
            <a:endParaRPr lang="uk-UA" sz="1200" dirty="0"/>
          </a:p>
          <a:p>
            <a:r>
              <a:rPr lang="uk-UA" sz="1200" dirty="0"/>
              <a:t>ЩЕ ОДНЕ ПОЛЕ. Показую на телевізорі словник data й додаю до нього третій рядок.</a:t>
            </a:r>
          </a:p>
          <a:p>
            <a:r>
              <a:rPr lang="uk-UA" sz="1200" dirty="0"/>
              <a:t>Кажу: це той самий словник, у який ми клали model і messages. Сервер читає</a:t>
            </a:r>
          </a:p>
          <a:p>
            <a:r>
              <a:rPr lang="uk-UA" sz="1200" dirty="0"/>
              <a:t>всі поля, які знає, а решту ігнорує.</a:t>
            </a:r>
          </a:p>
          <a:p>
            <a:endParaRPr lang="uk-UA" sz="1200" dirty="0"/>
          </a:p>
          <a:p>
            <a:r>
              <a:rPr lang="uk-UA" sz="1200" dirty="0"/>
              <a:t>ЩО ОЗНАЧАЄ ЧИСЛО. Повертаюсь до уроку 1: модель щоразу вибирає наступне слово з</a:t>
            </a:r>
          </a:p>
          <a:p>
            <a:r>
              <a:rPr lang="uk-UA" sz="1200" dirty="0"/>
              <a:t>кількох підхожих. Число каже, наскільки охоче вона бере не найочевидніше.</a:t>
            </a:r>
          </a:p>
          <a:p>
            <a:r>
              <a:rPr lang="uk-UA" sz="1200" dirty="0"/>
              <a:t>Нуль — майже завжди найочевидніше. Одиниця — як зазвичай. Півтори — сміливо.</a:t>
            </a:r>
          </a:p>
          <a:p>
            <a:endParaRPr lang="uk-UA" sz="1200" dirty="0"/>
          </a:p>
          <a:p>
            <a:r>
              <a:rPr lang="uk-UA" sz="1200" dirty="0"/>
              <a:t>ПОКАЗУЮ ЖИВЦЕМ. Прошу однакове питання двічі з 0.2 і двічі з 1.2. На 0.2</a:t>
            </a:r>
          </a:p>
          <a:p>
            <a:r>
              <a:rPr lang="uk-UA" sz="1200" dirty="0"/>
              <a:t>відповіді майже збігаються, на 1.2 — помітно різні. Це видно навіть на</a:t>
            </a:r>
          </a:p>
          <a:p>
            <a:r>
              <a:rPr lang="uk-UA" sz="1200" dirty="0"/>
              <a:t>маленькому екрані, і це найкраща демонстрація уроку 1 із можливих.</a:t>
            </a:r>
          </a:p>
          <a:p>
            <a:endParaRPr lang="uk-UA" sz="1200" dirty="0"/>
          </a:p>
          <a:p>
            <a:r>
              <a:rPr lang="uk-UA" sz="1200" dirty="0"/>
              <a:t>БЕЗ ЛАПОК. Кажу окремо: число в JSON пишеться без лапок — так само, як «runs»</a:t>
            </a:r>
          </a:p>
          <a:p>
            <a:r>
              <a:rPr lang="uk-UA" sz="1200" dirty="0"/>
              <a:t>на уроці 3.</a:t>
            </a:r>
          </a:p>
          <a:p>
            <a:endParaRPr lang="uk-UA" sz="1200" dirty="0"/>
          </a:p>
          <a:p>
            <a:r>
              <a:rPr lang="uk-UA" sz="1200" dirty="0"/>
              <a:t>ЧОГО НЕ ОБІЦЯТИ. Наголошую: температура не робить модель розумнішою. На великих</a:t>
            </a:r>
          </a:p>
          <a:p>
            <a:r>
              <a:rPr lang="uk-UA" sz="1200" dirty="0"/>
              <a:t>числах вона частіше вигадує факти — тобто галюцинує, і це рівно те слово з</a:t>
            </a:r>
          </a:p>
          <a:p>
            <a:r>
              <a:rPr lang="uk-UA" sz="1200" dirty="0"/>
              <a:t>уроку 1.</a:t>
            </a:r>
          </a:p>
          <a:p>
            <a:endParaRPr lang="uk-UA" sz="1200" dirty="0"/>
          </a:p>
          <a:p>
            <a:r>
              <a:rPr lang="uk-UA" sz="1200" dirty="0"/>
              <a:t>Наступний слайд: один рядок і дві перевірки.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Рядок один, і майже весь час іде на порівняння</a:t>
            </a:r>
          </a:p>
          <a:p>
            <a:r>
              <a:rPr lang="uk-UA" sz="1200" dirty="0"/>
              <a:t>двох значень.</a:t>
            </a:r>
          </a:p>
          <a:p>
            <a:endParaRPr lang="uk-UA" sz="1200" dirty="0"/>
          </a:p>
          <a:p>
            <a:r>
              <a:rPr lang="uk-UA" sz="1200" dirty="0"/>
              <a:t>Кажу порядок: знайти в ai_chat.py функцію ask_ai, у ній словник data, і додати</a:t>
            </a:r>
          </a:p>
          <a:p>
            <a:r>
              <a:rPr lang="uk-UA" sz="1200" dirty="0"/>
              <a:t>до нього пару "temperature": 0.2 з комою.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кому після 0.2 — SyntaxError на наступному рядку;</a:t>
            </a:r>
          </a:p>
          <a:p>
            <a:r>
              <a:rPr lang="uk-UA" sz="1200" dirty="0"/>
              <a:t>    написали "0.2" у лапках — сервер відповість 400, а не 200;</a:t>
            </a:r>
          </a:p>
          <a:p>
            <a:r>
              <a:rPr lang="uk-UA" sz="1200" dirty="0"/>
              <a:t>    поставили temperature поза словником, окремим рядком — NameError;</a:t>
            </a:r>
          </a:p>
          <a:p>
            <a:r>
              <a:rPr lang="uk-UA" sz="1200" dirty="0"/>
              <a:t>    поставили число більше за 2 — сервер теж скаже 400, у нього є межа.</a:t>
            </a:r>
          </a:p>
          <a:p>
            <a:endParaRPr lang="uk-UA" sz="1200" dirty="0"/>
          </a:p>
          <a:p>
            <a:r>
              <a:rPr lang="uk-UA" sz="1200" dirty="0"/>
              <a:t>Про останнє кажу заздалегідь: у цього поля є дозволений діапазон, і два — це</a:t>
            </a:r>
          </a:p>
          <a:p>
            <a:r>
              <a:rPr lang="uk-UA" sz="1200" dirty="0"/>
              <a:t>стеля. Це гарна нагода нагадати, що бланк заповнюють за формою, інакше його не</a:t>
            </a:r>
          </a:p>
          <a:p>
            <a:r>
              <a:rPr lang="uk-UA" sz="1200" dirty="0"/>
              <a:t>приймуть.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питання про назву команди двічі на 0.2, потім двічі на 1.2.</a:t>
            </a:r>
          </a:p>
          <a:p>
            <a:r>
              <a:rPr lang="uk-UA" sz="1200" dirty="0"/>
              <a:t>Прошу двох дітей зачитати обидві пари вголос. Різниця чути одразу.</a:t>
            </a:r>
          </a:p>
          <a:p>
            <a:endParaRPr lang="uk-UA" sz="1200" dirty="0"/>
          </a:p>
          <a:p>
            <a:r>
              <a:rPr lang="uk-UA" sz="1200" dirty="0"/>
              <a:t>Питаю групу, яке число вони поставили б своєму помічнику назавжди. Відповіді</a:t>
            </a:r>
          </a:p>
          <a:p>
            <a:r>
              <a:rPr lang="uk-UA" sz="1200" dirty="0"/>
              <a:t>різні, і це добре: правильної тут немає, є вибір під задачу.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поставить 0 і спитає те саме тричі. Відповіді будуть майже</a:t>
            </a:r>
          </a:p>
          <a:p>
            <a:r>
              <a:rPr lang="uk-UA" sz="1200" dirty="0"/>
              <a:t>однакові — це найближче, що модель уміє до «завжди те саме».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(temperature 0.2 — двічі те саме питання)</a:t>
            </a:r>
          </a:p>
          <a:p>
            <a:r>
              <a:rPr lang="uk-UA" sz="1200" dirty="0"/>
              <a:t>Ти: Придумай назву для команди з трьох програмістів</a:t>
            </a:r>
          </a:p>
          <a:p>
            <a:r>
              <a:rPr lang="uk-UA" sz="1200" dirty="0"/>
              <a:t>АІДА: «Три крапки»</a:t>
            </a:r>
          </a:p>
          <a:p>
            <a:r>
              <a:rPr lang="uk-UA" sz="1200" dirty="0"/>
              <a:t>Ти: Придумай назву для команди з трьох програмістів</a:t>
            </a:r>
          </a:p>
          <a:p>
            <a:r>
              <a:rPr lang="uk-UA" sz="1200" dirty="0"/>
              <a:t>АІДА: «Три крапки»</a:t>
            </a:r>
          </a:p>
          <a:p>
            <a:endParaRPr lang="uk-UA" sz="1200" dirty="0"/>
          </a:p>
          <a:p>
            <a:r>
              <a:rPr lang="uk-UA" sz="1200" dirty="0"/>
              <a:t>(temperature 1.2 — те саме питання)</a:t>
            </a:r>
          </a:p>
          <a:p>
            <a:r>
              <a:rPr lang="uk-UA" sz="1200" dirty="0"/>
              <a:t>Ти: Придумай назву для команди з трьох програмістів</a:t>
            </a:r>
          </a:p>
          <a:p>
            <a:r>
              <a:rPr lang="uk-UA" sz="1200" dirty="0"/>
              <a:t>АІДА: «Кодова трійця»</a:t>
            </a:r>
          </a:p>
          <a:p>
            <a:r>
              <a:rPr lang="uk-UA" sz="1200" dirty="0"/>
              <a:t>Ти: Придумай назву для команди з трьох програмістів</a:t>
            </a:r>
          </a:p>
          <a:p>
            <a:r>
              <a:rPr lang="uk-UA" sz="1200" dirty="0"/>
              <a:t>АІДА: «Байтові брати»</a:t>
            </a:r>
          </a:p>
          <a:p>
            <a:endParaRPr lang="uk-UA" sz="1200" dirty="0"/>
          </a:p>
          <a:p>
            <a:r>
              <a:rPr lang="uk-UA" sz="1200" dirty="0"/>
              <a:t>Головне видно очима: на маленькому числі відповіді майже</a:t>
            </a:r>
          </a:p>
          <a:p>
            <a:r>
              <a:rPr lang="uk-UA" sz="1200" dirty="0"/>
              <a:t>однакові, на великому — різні щоразу.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Це продовження розмови про ключ і гроші з блоку 3,</a:t>
            </a:r>
          </a:p>
          <a:p>
            <a:r>
              <a:rPr lang="uk-UA" sz="1200" dirty="0"/>
              <a:t>тільки тепер із цифрою на екрані.</a:t>
            </a:r>
          </a:p>
          <a:p>
            <a:endParaRPr lang="uk-UA" sz="1200" dirty="0"/>
          </a:p>
          <a:p>
            <a:r>
              <a:rPr lang="uk-UA" sz="1200" dirty="0"/>
              <a:t>ЧИМ ВИМІРЯТИ. Кажуть: буквами, словами. Кажу: майже — шматками слів, і</a:t>
            </a:r>
          </a:p>
          <a:p>
            <a:r>
              <a:rPr lang="uk-UA" sz="1200" dirty="0"/>
              <a:t>називаються вони токенами. Одне українське слово це зазвичай два-три токени.</a:t>
            </a:r>
          </a:p>
          <a:p>
            <a:endParaRPr lang="uk-UA" sz="1200" dirty="0"/>
          </a:p>
          <a:p>
            <a:r>
              <a:rPr lang="uk-UA" sz="1200" dirty="0"/>
              <a:t>ЩО ДОРОЖЧЕ. Питання без пастки: рахується і питання, і відповідь. Кажу вголос</a:t>
            </a:r>
          </a:p>
          <a:p>
            <a:r>
              <a:rPr lang="uk-UA" sz="1200" dirty="0"/>
              <a:t>наслідок, який дітям цікавий: довга розмова коштує дорожче за коротку, і на</a:t>
            </a:r>
          </a:p>
          <a:p>
            <a:r>
              <a:rPr lang="uk-UA" sz="1200" dirty="0"/>
              <a:t>уроці 5 це стане важливим, коли вся розмова почне їхати в кожному запиті.</a:t>
            </a:r>
          </a:p>
          <a:p>
            <a:endParaRPr lang="uk-UA" sz="1200" dirty="0"/>
          </a:p>
          <a:p>
            <a:r>
              <a:rPr lang="uk-UA" sz="1200" dirty="0"/>
              <a:t>ДЕ СЕРВЕР МІГ БИ СКАЗАТИ. Прошу подумати. Правильна відповідь: у тій самій</a:t>
            </a:r>
          </a:p>
          <a:p>
            <a:r>
              <a:rPr lang="uk-UA" sz="1200" dirty="0"/>
              <a:t>відповіді, яку ми вже отримали. Кажу, що ми з неї взяли один рядок із багатьох,</a:t>
            </a:r>
          </a:p>
          <a:p>
            <a:r>
              <a:rPr lang="uk-UA" sz="1200" dirty="0"/>
              <a:t>а решта так і лежить — і зараз ми туди зазирнемо.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коду майже немає — є нове місце в уже</a:t>
            </a:r>
          </a:p>
          <a:p>
            <a:r>
              <a:rPr lang="uk-UA" sz="1200" dirty="0"/>
              <a:t>знайомій відповіді.</a:t>
            </a:r>
          </a:p>
          <a:p>
            <a:endParaRPr lang="uk-UA" sz="1200" dirty="0"/>
          </a:p>
          <a:p>
            <a:r>
              <a:rPr lang="uk-UA" sz="1200" dirty="0"/>
              <a:t>ЩЕ ОДИН КЛЮЧ. Показую на телевізорі всю відповідь цілком, друком через print.</a:t>
            </a:r>
          </a:p>
          <a:p>
            <a:r>
              <a:rPr lang="uk-UA" sz="1200" dirty="0"/>
              <a:t>Виглядає страшно, і це нормально. Кажу: подивіться, у ній не один ключ, а</a:t>
            </a:r>
          </a:p>
          <a:p>
            <a:r>
              <a:rPr lang="uk-UA" sz="1200" dirty="0"/>
              <a:t>кілька, і choices — лише один із них. Веду пальцем до usage.</a:t>
            </a:r>
          </a:p>
          <a:p>
            <a:endParaRPr lang="uk-UA" sz="1200" dirty="0"/>
          </a:p>
          <a:p>
            <a:r>
              <a:rPr lang="uk-UA" sz="1200" dirty="0"/>
              <a:t>ТРИ ЧИСЛА. Читаю вголос кожне й перекладаю: перше — за питання, друге — за</a:t>
            </a:r>
          </a:p>
          <a:p>
            <a:r>
              <a:rPr lang="uk-UA" sz="1200" dirty="0"/>
              <a:t>відповідь, третє — разом. Кажу, що третє завжди дорівнює сумі перших двох, і</a:t>
            </a:r>
          </a:p>
          <a:p>
            <a:r>
              <a:rPr lang="uk-UA" sz="1200" dirty="0"/>
              <a:t>прошу перевірити це очима після запуску.</a:t>
            </a:r>
          </a:p>
          <a:p>
            <a:endParaRPr lang="uk-UA" sz="1200" dirty="0"/>
          </a:p>
          <a:p>
            <a:r>
              <a:rPr lang="uk-UA" sz="1200" dirty="0"/>
              <a:t>ЩО ТАКЕ ТОКЕН. Найцікавіше місце. Кажу: не буква, не слово, а шматок слова.</a:t>
            </a:r>
          </a:p>
          <a:p>
            <a:r>
              <a:rPr lang="uk-UA" sz="1200" dirty="0"/>
              <a:t>Показую живцем: коротке англійське слово — один токен, довге українське — два</a:t>
            </a:r>
          </a:p>
          <a:p>
            <a:r>
              <a:rPr lang="uk-UA" sz="1200" dirty="0"/>
              <a:t>чи три. Питаю, яка мова тоді дешевша. Відповідь дітям не подобається, але вона</a:t>
            </a:r>
          </a:p>
          <a:p>
            <a:r>
              <a:rPr lang="uk-UA" sz="1200" dirty="0"/>
              <a:t>чесна.</a:t>
            </a:r>
          </a:p>
          <a:p>
            <a:endParaRPr lang="uk-UA" sz="1200" dirty="0"/>
          </a:p>
          <a:p>
            <a:r>
              <a:rPr lang="uk-UA" sz="1200" dirty="0"/>
              <a:t>НАВІЩО ЦЕ ЗНАТИ. Кажу вголос: щоб розуміти, чому довга розмова дорожча за</a:t>
            </a:r>
          </a:p>
          <a:p>
            <a:r>
              <a:rPr lang="uk-UA" sz="1200" dirty="0"/>
              <a:t>коротку. Це знадобиться на уроці 5, коли ми почнемо возити всю розмову в</a:t>
            </a:r>
          </a:p>
          <a:p>
            <a:r>
              <a:rPr lang="uk-UA" sz="1200" dirty="0"/>
              <a:t>кожному запиті.</a:t>
            </a:r>
          </a:p>
          <a:p>
            <a:endParaRPr lang="uk-UA" sz="1200" dirty="0"/>
          </a:p>
          <a:p>
            <a:r>
              <a:rPr lang="uk-UA" sz="1200" dirty="0"/>
              <a:t>Наступний слайд: два рядки в кінець функції.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Рядків три, і один із них у файлі вже є — його</a:t>
            </a:r>
          </a:p>
          <a:p>
            <a:r>
              <a:rPr lang="uk-UA" sz="1200" dirty="0"/>
              <a:t>треба не додати, а посунути.</a:t>
            </a:r>
          </a:p>
          <a:p>
            <a:endParaRPr lang="uk-UA" sz="1200" dirty="0"/>
          </a:p>
          <a:p>
            <a:r>
              <a:rPr lang="uk-UA" sz="1200" dirty="0"/>
              <a:t>Кажу порядок: знайти в ask_ai останній рядок із return, поставити над ним три</a:t>
            </a:r>
          </a:p>
          <a:p>
            <a:r>
              <a:rPr lang="uk-UA" sz="1200" dirty="0"/>
              <a:t>нові й переписати сам return коротше — тепер він бере поле з уже готової</a:t>
            </a:r>
          </a:p>
          <a:p>
            <a:r>
              <a:rPr lang="uk-UA" sz="1200" dirty="0"/>
              <a:t>змінної answer.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лишили старий довгий return і додали новий — працює перший, друкується</a:t>
            </a:r>
          </a:p>
          <a:p>
            <a:r>
              <a:rPr lang="uk-UA" sz="1200" dirty="0"/>
              <a:t>        все правильно, і зрозуміти, що не так, важко;</a:t>
            </a:r>
          </a:p>
          <a:p>
            <a:r>
              <a:rPr lang="uk-UA" sz="1200" dirty="0"/>
              <a:t>    написали r.json() двічі — це два різні читання однієї відповіді, друге</a:t>
            </a:r>
          </a:p>
          <a:p>
            <a:r>
              <a:rPr lang="uk-UA" sz="1200" dirty="0"/>
              <a:t>        інколи падає;</a:t>
            </a:r>
          </a:p>
          <a:p>
            <a:r>
              <a:rPr lang="uk-UA" sz="1200" dirty="0"/>
              <a:t>    поставили рядки вище за перевірку status_code — при відмові KeyError;</a:t>
            </a:r>
          </a:p>
          <a:p>
            <a:r>
              <a:rPr lang="uk-UA" sz="1200" dirty="0"/>
              <a:t>    написали total_token без s.</a:t>
            </a:r>
          </a:p>
          <a:p>
            <a:endParaRPr lang="uk-UA" sz="1200" dirty="0"/>
          </a:p>
          <a:p>
            <a:r>
              <a:rPr lang="uk-UA" sz="1200" dirty="0"/>
              <a:t>Друге варто пояснити вголос: r.json() читає тіло відповіді, і краще прочитати</a:t>
            </a:r>
          </a:p>
          <a:p>
            <a:r>
              <a:rPr lang="uk-UA" sz="1200" dirty="0"/>
              <a:t>його один раз у змінну, ніж двічі поспіль.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спитати коротко, потім довго. Число має помітно вирости.</a:t>
            </a:r>
          </a:p>
          <a:p>
            <a:r>
              <a:rPr lang="uk-UA" sz="1200" dirty="0"/>
              <a:t>Прошу порахувати вголос, у скільки разів.</a:t>
            </a:r>
          </a:p>
          <a:p>
            <a:endParaRPr lang="uk-UA" sz="1200" dirty="0"/>
          </a:p>
          <a:p>
            <a:r>
              <a:rPr lang="uk-UA" sz="1200" dirty="0"/>
              <a:t>Питаю групу: якщо одна відповідь коштує двісті токенів, скільки коштуватиме</a:t>
            </a:r>
          </a:p>
          <a:p>
            <a:r>
              <a:rPr lang="uk-UA" sz="1200" dirty="0"/>
              <a:t>урок із тридцяти питань? Рахуємо приблизно вголос. Це та арифметика, яка</a:t>
            </a:r>
          </a:p>
          <a:p>
            <a:r>
              <a:rPr lang="uk-UA" sz="1200" dirty="0"/>
              <a:t>робить розмову про гроші справжньою.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надрукує всі три числа замість одного й перевірить, що третє</a:t>
            </a:r>
          </a:p>
          <a:p>
            <a:r>
              <a:rPr lang="uk-UA" sz="1200" dirty="0"/>
              <a:t>дорівнює сумі перших двох.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Ти: Привіт</a:t>
            </a:r>
          </a:p>
          <a:p>
            <a:r>
              <a:rPr lang="uk-UA" sz="1200" dirty="0"/>
              <a:t>(токенів: 19 )</a:t>
            </a:r>
          </a:p>
          <a:p>
            <a:r>
              <a:rPr lang="uk-UA" sz="1200" dirty="0"/>
              <a:t>АІДА: Привіт! Чим можу допомогти?</a:t>
            </a:r>
          </a:p>
          <a:p>
            <a:r>
              <a:rPr lang="uk-UA" sz="1200" dirty="0"/>
              <a:t>Ти: Розкажи докладно, як влаштована веселка і чому вона кольорова</a:t>
            </a:r>
          </a:p>
          <a:p>
            <a:r>
              <a:rPr lang="uk-UA" sz="1200" dirty="0"/>
              <a:t>(токенів: 214 )</a:t>
            </a:r>
          </a:p>
          <a:p>
            <a:r>
              <a:rPr lang="uk-UA" sz="1200" dirty="0"/>
              <a:t>АІДА: Веселка з'являється, коли сонячне світло проходить крізь</a:t>
            </a:r>
          </a:p>
          <a:p>
            <a:r>
              <a:rPr lang="uk-UA" sz="1200" dirty="0"/>
              <a:t>краплі води...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Головне: на короткому питанні число маленьке, на довгому —</a:t>
            </a:r>
          </a:p>
          <a:p>
            <a:r>
              <a:rPr lang="uk-UA" sz="1200" dirty="0"/>
              <a:t>у кілька разів більше. Точні числа щоразу свої.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блок уроку, дві хвилини. Він про те, що стається найчастіше, —</a:t>
            </a:r>
          </a:p>
          <a:p>
            <a:r>
              <a:rPr lang="uk-UA" sz="1200" dirty="0"/>
              <a:t>про відмову, — і тому корисний більше за решту.</a:t>
            </a:r>
          </a:p>
          <a:p>
            <a:endParaRPr lang="uk-UA" sz="1200" dirty="0"/>
          </a:p>
          <a:p>
            <a:r>
              <a:rPr lang="uk-UA" sz="1200" dirty="0"/>
              <a:t>ЧИ ДОСТАТНЬО ЧИСЛА. Кажуть: ні, незрозуміло. Правильно. 401 нічого не каже про</a:t>
            </a:r>
          </a:p>
          <a:p>
            <a:r>
              <a:rPr lang="uk-UA" sz="1200" dirty="0"/>
              <a:t>те, що саме не так із ключем: чи він старий, чи в ньому пробіл, чи його</a:t>
            </a:r>
          </a:p>
          <a:p>
            <a:r>
              <a:rPr lang="uk-UA" sz="1200" dirty="0"/>
              <a:t>взагалі немає.</a:t>
            </a:r>
          </a:p>
          <a:p>
            <a:endParaRPr lang="uk-UA" sz="1200" dirty="0"/>
          </a:p>
          <a:p>
            <a:r>
              <a:rPr lang="uk-UA" sz="1200" dirty="0"/>
              <a:t>ДЕ СЕРВЕР ПОЯСНЮЄ. Прошу здогадатись. Правильна відповідь та сама, що в</a:t>
            </a:r>
          </a:p>
          <a:p>
            <a:r>
              <a:rPr lang="uk-UA" sz="1200" dirty="0"/>
              <a:t>попередньому блоці: у тілі відповіді. Тільки тепер там не choices, а error, і</a:t>
            </a:r>
          </a:p>
          <a:p>
            <a:r>
              <a:rPr lang="uk-UA" sz="1200" dirty="0"/>
              <a:t>всередині нього — речення англійською.</a:t>
            </a:r>
          </a:p>
          <a:p>
            <a:endParaRPr lang="uk-UA" sz="1200" dirty="0"/>
          </a:p>
          <a:p>
            <a:r>
              <a:rPr lang="uk-UA" sz="1200" dirty="0"/>
              <a:t>ЧИСЛО ЧИ РЕЧЕННЯ. Кажу вголос дорослу річ: програма, яка каже «помилка 401»,</a:t>
            </a:r>
          </a:p>
          <a:p>
            <a:r>
              <a:rPr lang="uk-UA" sz="1200" dirty="0"/>
              <a:t>змушує людину гуглити. Програма, яка каже «ключ не прийнято», лікує проблему за</a:t>
            </a:r>
          </a:p>
          <a:p>
            <a:r>
              <a:rPr lang="uk-UA" sz="1200" dirty="0"/>
              <a:t>секунду. Це різниця між поганим і хорошим повідомленням про помилку.</a:t>
            </a:r>
          </a:p>
          <a:p>
            <a:endParaRPr lang="uk-UA" sz="1200" dirty="0"/>
          </a:p>
          <a:p>
            <a:r>
              <a:rPr lang="uk-UA" sz="1200" dirty="0"/>
              <a:t>Кажу заздалегідь: перевірити це можна навмисне — зіпсувати ключ у key.txt і</a:t>
            </a:r>
          </a:p>
          <a:p>
            <a:r>
              <a:rPr lang="uk-UA" sz="1200" dirty="0"/>
              <a:t>подивитись, що приїде. Так ми й зробимо.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показ уроку. Чотири хвилини, і найкраще тут — показати</a:t>
            </a:r>
          </a:p>
          <a:p>
            <a:r>
              <a:rPr lang="uk-UA" sz="1200" dirty="0"/>
              <a:t>помилку живцем, а не розповісти про неї.</a:t>
            </a:r>
          </a:p>
          <a:p>
            <a:endParaRPr lang="uk-UA" sz="1200" dirty="0"/>
          </a:p>
          <a:p>
            <a:r>
              <a:rPr lang="uk-UA" sz="1200" dirty="0"/>
              <a:t>ЛАМАЮ КЛЮЧ НАВМИСНЕ. Відкриваю key.txt на телевізорі, дописую в кінець одну</a:t>
            </a:r>
          </a:p>
          <a:p>
            <a:r>
              <a:rPr lang="uk-UA" sz="1200" dirty="0"/>
              <a:t>зайву букву, зберігаю й запускаю. Приїжджає 401. Кажу: а тепер подивимось, що</a:t>
            </a:r>
          </a:p>
          <a:p>
            <a:r>
              <a:rPr lang="uk-UA" sz="1200" dirty="0"/>
              <a:t>сервер написав про це словами.</a:t>
            </a:r>
          </a:p>
          <a:p>
            <a:endParaRPr lang="uk-UA" sz="1200" dirty="0"/>
          </a:p>
          <a:p>
            <a:r>
              <a:rPr lang="uk-UA" sz="1200" dirty="0"/>
              <a:t>ДРУКУЮ ВСЮ ВІДПОВІДЬ. Показую r.json() цілком. Усередині — ключ error, а в</a:t>
            </a:r>
          </a:p>
          <a:p>
            <a:r>
              <a:rPr lang="uk-UA" sz="1200" dirty="0"/>
              <a:t>ньому message з довгим англійським реченням. Читаю вголос і перекладаю: ключ</a:t>
            </a:r>
          </a:p>
          <a:p>
            <a:r>
              <a:rPr lang="uk-UA" sz="1200" dirty="0"/>
              <a:t>неправильний, ось де взяти новий.</a:t>
            </a:r>
          </a:p>
          <a:p>
            <a:endParaRPr lang="uk-UA" sz="1200" dirty="0"/>
          </a:p>
          <a:p>
            <a:r>
              <a:rPr lang="uk-UA" sz="1200" dirty="0"/>
              <a:t>ТОЙ САМИЙ КОРИДОР. Кажу: це та сама навігація по словнику, що й з choices.</a:t>
            </a:r>
          </a:p>
          <a:p>
            <a:r>
              <a:rPr lang="uk-UA" sz="1200" dirty="0"/>
              <a:t>Двері інші, хід той самий. Прошу когось із групи прочитати шлях уголос.</a:t>
            </a:r>
          </a:p>
          <a:p>
            <a:endParaRPr lang="uk-UA" sz="1200" dirty="0"/>
          </a:p>
          <a:p>
            <a:r>
              <a:rPr lang="uk-UA" sz="1200" dirty="0"/>
              <a:t>ЧОМУ ТІЛЬКИ ПІСЛЯ ПЕРЕВІРКИ. Наголошую: при коді 200 ключа error у відповіді</a:t>
            </a:r>
          </a:p>
          <a:p>
            <a:r>
              <a:rPr lang="uk-UA" sz="1200" dirty="0"/>
              <a:t>немає, і взяти його — це KeyError. Тому рядок стоїть усередині того самого if,</a:t>
            </a:r>
          </a:p>
          <a:p>
            <a:r>
              <a:rPr lang="uk-UA" sz="1200" dirty="0"/>
              <a:t>який ми написали на парі.</a:t>
            </a:r>
          </a:p>
          <a:p>
            <a:endParaRPr lang="uk-UA" sz="1200" dirty="0"/>
          </a:p>
          <a:p>
            <a:r>
              <a:rPr lang="uk-UA" sz="1200" dirty="0"/>
              <a:t>АНГЛІЙСЬКА. Кажу спокійно: так, повідомлення англійською. Це нормально й для</a:t>
            </a:r>
          </a:p>
          <a:p>
            <a:r>
              <a:rPr lang="uk-UA" sz="1200" dirty="0"/>
              <a:t>дорослих програмістів; його читають або перекладають, а не лякаються.</a:t>
            </a:r>
          </a:p>
          <a:p>
            <a:endParaRPr lang="uk-UA" sz="1200" dirty="0"/>
          </a:p>
          <a:p>
            <a:r>
              <a:rPr lang="uk-UA" sz="1200" dirty="0"/>
              <a:t>Наступний слайд: три рядки замість одного.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Остання практика запасу, п'ять хвилин. Три рядки, і половина часу — на те, щоб</a:t>
            </a:r>
          </a:p>
          <a:p>
            <a:r>
              <a:rPr lang="uk-UA" sz="1200" dirty="0"/>
              <a:t>навмисне зламати ключ і полагодити його назад.</a:t>
            </a:r>
          </a:p>
          <a:p>
            <a:endParaRPr lang="uk-UA" sz="1200" dirty="0"/>
          </a:p>
          <a:p>
            <a:r>
              <a:rPr lang="uk-UA" sz="1200" dirty="0"/>
              <a:t>Кажу порядок: знайти всередині ask_ai рядок про код відповіді, стерти старий</a:t>
            </a:r>
          </a:p>
          <a:p>
            <a:r>
              <a:rPr lang="uk-UA" sz="1200" dirty="0"/>
              <a:t>return зі str і набрати три нові рядки замість нього.</a:t>
            </a:r>
          </a:p>
          <a:p>
            <a:endParaRPr lang="uk-UA" sz="1200" dirty="0"/>
          </a:p>
          <a:p>
            <a:r>
              <a:rPr lang="uk-UA" sz="1200" dirty="0"/>
              <a:t>Наголошую окремо: ключ ламаємо навмисне й повертаємо назад одразу. Прошу перед</a:t>
            </a:r>
          </a:p>
          <a:p>
            <a:r>
              <a:rPr lang="uk-UA" sz="1200" dirty="0"/>
              <a:t>цим скопіювати вміст key.txt у безпечне місце або просто запам'ятати, яку</a:t>
            </a:r>
          </a:p>
          <a:p>
            <a:r>
              <a:rPr lang="uk-UA" sz="1200" dirty="0"/>
              <a:t>букву додали, — щоб потім стерти саме її.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прибрати старий return — новий код не виконується ніколи;</a:t>
            </a:r>
          </a:p>
          <a:p>
            <a:r>
              <a:rPr lang="uk-UA" sz="1200" dirty="0"/>
              <a:t>    поставили рядки поза if — при успішній відповіді KeyError: 'error';</a:t>
            </a:r>
          </a:p>
          <a:p>
            <a:r>
              <a:rPr lang="uk-UA" sz="1200" dirty="0"/>
              <a:t>    написали problem["message"] без error — теж KeyError;</a:t>
            </a:r>
          </a:p>
          <a:p>
            <a:r>
              <a:rPr lang="uk-UA" sz="1200" dirty="0"/>
              <a:t>    зіпсували key.txt і забули полагодити; наприкінці блоку прошу всіх</a:t>
            </a:r>
          </a:p>
          <a:p>
            <a:r>
              <a:rPr lang="uk-UA" sz="1200" dirty="0"/>
              <a:t>        перевірити, що звичайний запит знову працює.</a:t>
            </a:r>
          </a:p>
          <a:p>
            <a:endParaRPr lang="uk-UA" sz="1200" dirty="0"/>
          </a:p>
          <a:p>
            <a:r>
              <a:rPr lang="uk-UA" sz="1200" dirty="0"/>
              <a:t>Останнє кажу двічі. Урок закінчиться, а зіпсований ключ лишиться, і на уроці 5</a:t>
            </a:r>
          </a:p>
          <a:p>
            <a:r>
              <a:rPr lang="uk-UA" sz="1200" dirty="0"/>
              <a:t>дитина витратить десять хвилин на пошук причини.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зіпсований ключ дає речення англійською, а не число; після</a:t>
            </a:r>
          </a:p>
          <a:p>
            <a:r>
              <a:rPr lang="uk-UA" sz="1200" dirty="0"/>
              <a:t>повернення ключа помічник відповідає як завжди.</a:t>
            </a:r>
          </a:p>
          <a:p>
            <a:endParaRPr lang="uk-UA" sz="1200" dirty="0"/>
          </a:p>
          <a:p>
            <a:r>
              <a:rPr lang="uk-UA" sz="1200" dirty="0"/>
              <a:t>Питаю групу наприкінці: чиє повідомлення зрозуміліше — наше чи «Код: 401»? І</a:t>
            </a:r>
          </a:p>
          <a:p>
            <a:r>
              <a:rPr lang="uk-UA" sz="1200" dirty="0"/>
              <a:t>чи бачили вони в іграх повідомлення, з яких нічого не ясно. Бачили всі, і це</a:t>
            </a:r>
          </a:p>
          <a:p>
            <a:r>
              <a:rPr lang="uk-UA" sz="1200" dirty="0"/>
              <a:t>гарна нота, на якій закінчити запас.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(у key.txt навмисне зіпсовано ключ)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Ти: Привіт</a:t>
            </a:r>
          </a:p>
          <a:p>
            <a:r>
              <a:rPr lang="uk-UA" sz="1200" dirty="0"/>
              <a:t>АІДА: Сервер відмовив. Incorrect API key provided: sk-proj-***.</a:t>
            </a:r>
          </a:p>
          <a:p>
            <a:r>
              <a:rPr lang="uk-UA" sz="1200" dirty="0"/>
              <a:t>You can find your API key at https://platform.openai.com/account/api-keys.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(ключ повернули на місце)</a:t>
            </a:r>
          </a:p>
          <a:p>
            <a:r>
              <a:rPr lang="uk-UA" sz="1200" dirty="0"/>
              <a:t>$ python ai_chat.py</a:t>
            </a:r>
          </a:p>
          <a:p>
            <a:r>
              <a:rPr lang="uk-UA" sz="1200" dirty="0"/>
              <a:t>Ти: Привіт</a:t>
            </a:r>
          </a:p>
          <a:p>
            <a:r>
              <a:rPr lang="uk-UA" sz="1200" dirty="0"/>
              <a:t>АІДА: Привіт! Чим можу допомогти?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Головне: замість числа 401 програма сказала словами, що саме не</a:t>
            </a:r>
          </a:p>
          <a:p>
            <a:r>
              <a:rPr lang="uk-UA" sz="1200" dirty="0"/>
              <a:t>так із ключем — і полагодити це можна не гуглячи.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рожні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262933"/>
          </a:xfrm>
          <a:prstGeom prst="roundRect">
            <a:avLst>
              <a:gd name="adj" fmla="val 655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Підключаємо справжній розум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Три уроки помічник знав рівно те, що ми написали. Сьогодні він почне відповідати сам.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37698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таке API і навіщо воно взагалі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 чого складається запит: адреса, заголовки, дані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API-ключ — і чому його не пишуть у коді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Перший запит до ChatGPT із Python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дістати з відповіді саме текст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90722"/>
          </a:xfrm>
          <a:prstGeom prst="roundRect">
            <a:avLst>
              <a:gd name="adj" fmla="val 800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Що таке API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Сьогодні помічник почне відповідати сам.</a:t>
            </a:r>
            <a:r>
              <a:rPr lang="en-US" sz="1500" b="0" dirty="0">
                <a:solidFill>
                  <a:srgbClr val="6C6860"/>
                </a:solidFill>
                <a:latin typeface="Onest"/>
                <a:cs typeface="Onest"/>
              </a:rPr>
              <a:t> 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Як він це зробить?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програма може взяти те, чого сама не знає?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можна просто зайти в чужу програму й узяти відповідь?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у житті замовляють щось у місці, куди не пускають?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станеться, якщо заповнити бланк неправильно?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Що таке API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Наш помічник має спитати чужу програму. Робиться це не як завгодно, а за домовленістю.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API — домовленість, як одна програма питає іншу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Ми не заходимо всередину: подаємо записку у віконце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Записка має бути за формою, інакше її не приймуть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Назад приходить відповідь — теж за формою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Образ на весь урок: віконце видачі. На кухню не пускають,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але якщо правильно заповнити бланк — принесуть саме те,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що замовляли. API — це і є бланк плюс віконце.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4799228"/>
          </a:xfrm>
          <a:prstGeom prst="roundRect">
            <a:avLst>
              <a:gd name="adj" fmla="val 582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перший стук у віконце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8584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Спершу в терміналі: pip install requests. Далі створи файл api_test.py і набери ці рядки.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2306345"/>
          </a:xfrm>
          <a:prstGeom prst="roundRect">
            <a:avLst>
              <a:gd name="adj" fmla="val 5507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r = requests.get("https://api.github.com/zen")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print("Код:", r.status_code)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print("Відповідь:", r.text)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125773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276649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Адреса довга — звір її посимвольно, разом із https і слешами.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200 і англійська фраза — віконце відповіло. Інше число — скажи яке.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З чого складається запит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Віконце вже відповіло. Питаю, що має бути в записці, щоб її прийняли.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обов'язково пишуть на конверті, крім самого листа?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сервер дізнається, хто саме до нього прийшов?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Якою мовою програми домовляються між собою?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587316"/>
          </a:xfrm>
          <a:prstGeom prst="roundRect">
            <a:avLst>
              <a:gd name="adj" fmla="val 609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З чого складається запит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Три частини, і кожна відповідає на своє питання: куди, від кого, що.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endpoint — адреса віконця, куди подаємо записку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headers — заголовки: тут їде ключ, тобто «хто я»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тіло запиту — саме питання, у форматі JSON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У відповідь приходить теж JSON — його розберемо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945032"/>
          </a:xfrm>
          <a:prstGeom prst="roundRect">
            <a:avLst>
              <a:gd name="adj" fmla="val 1343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61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JSON тут не новий: це той самий формат, у якому на уроці 3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ми зберігали user.json. Фігурні дужки, «ключ»: значення.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5124298"/>
          </a:xfrm>
          <a:prstGeom prst="roundRect">
            <a:avLst>
              <a:gd name="adj" fmla="val 545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адреса й тіло запиту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ai_chat.py — сьогодні він ростиме до кінця уроку. Не видаляй його.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56760"/>
            <a:ext cx="10485120" cy="2631415"/>
          </a:xfrm>
          <a:prstGeom prst="roundRect">
            <a:avLst>
              <a:gd name="adj" fmla="val 482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data = {"model": "</a:t>
            </a:r>
            <a:r>
              <a:rPr lang="uk-UA" sz="16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600" b="0" dirty="0">
                <a:solidFill>
                  <a:srgbClr val="26241F"/>
                </a:solidFill>
                <a:latin typeface="Courier New"/>
                <a:cs typeface="Courier New"/>
              </a:rPr>
              <a:t>6</a:t>
            </a: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6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",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    "messages": [{"role": "user", "content": "Привіт! Хто ти?"}]}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print(data["model"])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print(data["messages"][0]["content"])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50842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601718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Другий рядок словника починається під першим — так видно, що це пари.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Нічого нікуди ще не летить: ми склали записку й прочитали її очима.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90722"/>
          </a:xfrm>
          <a:prstGeom prst="roundRect">
            <a:avLst>
              <a:gd name="adj" fmla="val 800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API-ключ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Записка складена. Чому до неї треба ще й підпис?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Навіщо сервісу знати, хто саме до нього звернувся?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Хто платить за відповідь, яку ми зараз попросимо?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станеться, якщо ключ побачить хтось чужий?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тоді ключ має лежати, якщо не в коді?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API-ключ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Ключ каже сервісу, хто прийшов. Він у кожного свій — і в коді йому не місце.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Ключ — довгий рядок, який сервіс видає особисто тобі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За кожен запит за цим ключем платить його власник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Показав ключ — по суті віддав свій гаманець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Тому ключ лежить у файлі key.txt, а не в коді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ПРАВИЛО КУРСУ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Те саме правило, що на уроці 3: у файлі лежить те, що в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кожного своє. Кодом можна обмінятись, показати, викласти 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і нічого чужого не витече.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5085207"/>
          </a:xfrm>
          <a:prstGeom prst="roundRect">
            <a:avLst>
              <a:gd name="adj" fmla="val 549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key.txt і заголовки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поруч файл key.txt і встав у нього ключ одним рядком. Ці рядки допиши в самий кінець ai_chat.py, під наявні print.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954530"/>
            <a:ext cx="10485120" cy="2306345"/>
          </a:xfrm>
          <a:prstGeom prst="roundRect">
            <a:avLst>
              <a:gd name="adj" fmla="val 5507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print("Довжина ключа:", len(KEY))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11751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562627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У key.txt рівно один рядок: сам ключ, без лапок і без пробілів.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На екрані має бути число, а не ключ. Нуль — файл порожній або не той.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291154"/>
          </a:xfrm>
          <a:prstGeom prst="roundRect">
            <a:avLst>
              <a:gd name="adj" fmla="val 848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Перший запит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Конверт готовий. </a:t>
            </a:r>
            <a:r>
              <a:rPr lang="uk-UA" sz="1500" dirty="0">
                <a:solidFill>
                  <a:srgbClr val="6C6860"/>
                </a:solidFill>
                <a:latin typeface="Onest"/>
                <a:cs typeface="Onest"/>
              </a:rPr>
              <a:t>Щ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 ми маємо перевірити першим, коли надішлемо?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ми взагалі дізнаємось, що запит дійшов?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краще подивитись першим: текст відповіді чи число?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Про що може сказати число, якого ми не чекали?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49"/>
            <a:ext cx="11338560" cy="6056355"/>
          </a:xfrm>
          <a:prstGeom prst="roundRect">
            <a:avLst>
              <a:gd name="adj" fmla="val 497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Перший запит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Записка складена, конверт підписаний. Надсилаємо — і дивимось на число, яким відповів сервер.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124026"/>
            <a:ext cx="10485120" cy="161574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67640" indent="-167640" algn="l">
              <a:lnSpc>
                <a:spcPts val="217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requests.post(URL, headers=headers, json=data) — надсилає запит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json=data сам перетворює словник на JSON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r.status_code — число, яким відповів сервер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200 — добре; 401 — ключ; 429 — ліміт; 404 — адреса</a:t>
            </a:r>
          </a:p>
        </p:txBody>
      </p:sp>
      <p:sp>
        <p:nvSpPr>
          <p:cNvPr id="8" name="code 8"/>
          <p:cNvSpPr txBox="1"/>
          <p:nvPr/>
        </p:nvSpPr>
        <p:spPr>
          <a:xfrm>
            <a:off x="766367" y="3007439"/>
            <a:ext cx="10485119" cy="3097554"/>
          </a:xfrm>
          <a:prstGeom prst="roundRect">
            <a:avLst>
              <a:gd name="adj" fmla="val 4624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560"/>
              </a:lnSpc>
              <a:buNone/>
            </a:pPr>
            <a:endParaRPr lang="uk-UA" sz="1400" dirty="0"/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1560"/>
              </a:lnSpc>
              <a:buNone/>
            </a:pPr>
            <a:endParaRPr lang="uk-UA" sz="1400" dirty="0"/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data = {"model": "gpt-6-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",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"messages": [{"role": "user", "content": "Привіт! Хто ти?"}]}</a:t>
            </a:r>
          </a:p>
          <a:p>
            <a:pPr algn="l">
              <a:lnSpc>
                <a:spcPts val="1560"/>
              </a:lnSpc>
              <a:buNone/>
            </a:pPr>
            <a:endParaRPr lang="uk-UA" sz="1400" dirty="0"/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r = requests.post(URL, headers=headers, json=data)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print("Код:", r.status_code)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105950" y="980546"/>
            <a:ext cx="3328416" cy="1799539"/>
          </a:xfrm>
          <a:prstGeom prst="roundRect">
            <a:avLst>
              <a:gd name="adj" fmla="val 7057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10" name="text 10"/>
          <p:cNvSpPr txBox="1"/>
          <p:nvPr/>
        </p:nvSpPr>
        <p:spPr>
          <a:xfrm>
            <a:off x="8288830" y="1076558"/>
            <a:ext cx="2962656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ЗАПАМ'ЯТАТИ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88830" y="1296014"/>
            <a:ext cx="2962656" cy="141549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Спершу друкуємо число, і тільки потім ліземо у відповідь. Коли код не 200, тексту в ній немає взагалі — і програма впаде в незрозумілому місці.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240780"/>
          </a:xfrm>
          <a:prstGeom prst="roundRect">
            <a:avLst>
              <a:gd name="adj" fmla="val 447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перший запит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весь ai_chat.py цілком. Звір свій файл з екраном згори вниз — старі print прибери.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3769157"/>
          </a:xfrm>
          <a:prstGeom prst="roundRect">
            <a:avLst>
              <a:gd name="adj" fmla="val 3369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85000" lnSpcReduction="10000"/>
          </a:bodyPr>
          <a:lstStyle/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2240"/>
              </a:lnSpc>
              <a:buNone/>
            </a:pPr>
            <a:endParaRPr lang="uk-UA" sz="1600" dirty="0"/>
          </a:p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2240"/>
              </a:lnSpc>
              <a:buNone/>
            </a:pPr>
            <a:endParaRPr lang="uk-UA" sz="1600" dirty="0"/>
          </a:p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data = {"model": "gpt-6-</a:t>
            </a:r>
            <a:r>
              <a:rPr lang="en-US" sz="16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",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    "messages": [{"role": "user", "content": "Привіт! Хто ти?"}]}</a:t>
            </a:r>
          </a:p>
          <a:p>
            <a:pPr algn="l">
              <a:lnSpc>
                <a:spcPts val="2240"/>
              </a:lnSpc>
              <a:buNone/>
            </a:pPr>
            <a:endParaRPr lang="uk-UA" sz="1600" dirty="0"/>
          </a:p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r = requests.post(URL, headers=headers, json=data)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print("Код:", r.status_code)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589270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740146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Три тимчасові print з минулих блоків прибери — лишається один.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json=data, а не data=data. І пробіл після Bearer усередині лапок.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Як дістати текст із відповіді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Сервер відповів великим словником.</a:t>
            </a:r>
            <a:r>
              <a:rPr lang="en-US" sz="1500" b="0" dirty="0">
                <a:solidFill>
                  <a:srgbClr val="6C6860"/>
                </a:solidFill>
                <a:latin typeface="Onest"/>
                <a:cs typeface="Onest"/>
              </a:rPr>
              <a:t> 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Як дійти в ньому до потрібного рядка?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в відповіді не один рядок, а цілий словник?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дістають значення зі словника — пам'ятаєте з уроку 2?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робити, коли всередині словника лежить ще один словник?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211291"/>
          </a:xfrm>
          <a:prstGeom prst="roundRect">
            <a:avLst>
              <a:gd name="adj" fmla="val 449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Як дістати текст із відповіді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Сервер прислав великий словник. Нам потрібен із нього один рядок.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124026"/>
            <a:ext cx="10485120" cy="161574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67640" indent="-167640" algn="l">
              <a:lnSpc>
                <a:spcPts val="217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r.json() перетворює відповідь на звичайний словник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«choices» — список варіантів відповіді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[0] — беремо перший варіант зі списку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«message», а в ньому «content» — і ось він, текст</a:t>
            </a:r>
          </a:p>
        </p:txBody>
      </p:sp>
      <p:sp>
        <p:nvSpPr>
          <p:cNvPr id="8" name="code 8"/>
          <p:cNvSpPr txBox="1"/>
          <p:nvPr/>
        </p:nvSpPr>
        <p:spPr>
          <a:xfrm>
            <a:off x="853440" y="2863215"/>
            <a:ext cx="9699230" cy="3341218"/>
          </a:xfrm>
          <a:prstGeom prst="roundRect">
            <a:avLst>
              <a:gd name="adj" fmla="val 3801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560"/>
              </a:lnSpc>
              <a:buNone/>
            </a:pPr>
            <a:endParaRPr lang="uk-UA" sz="1400" dirty="0"/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1560"/>
              </a:lnSpc>
              <a:buNone/>
            </a:pPr>
            <a:endParaRPr lang="uk-UA" sz="1400" dirty="0"/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data = {"model": "</a:t>
            </a: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6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",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"messages": [{"role": "user", "content": "Привіт! Хто ти?"}]}</a:t>
            </a:r>
          </a:p>
          <a:p>
            <a:pPr algn="l">
              <a:lnSpc>
                <a:spcPts val="1560"/>
              </a:lnSpc>
              <a:buNone/>
            </a:pPr>
            <a:endParaRPr lang="uk-UA" sz="1400" dirty="0"/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r = requests.post(URL, headers=headers, json=data)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print("Код:", r.status_code)</a:t>
            </a:r>
          </a:p>
          <a:p>
            <a:pPr algn="l">
              <a:lnSpc>
                <a:spcPts val="1560"/>
              </a:lnSpc>
              <a:buNone/>
            </a:pPr>
            <a:endParaRPr lang="uk-UA" sz="1400" dirty="0"/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answer = r.json()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print(answer["choices"][0]["message"]["content"])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010144" y="673456"/>
            <a:ext cx="3328416" cy="2066315"/>
          </a:xfrm>
          <a:prstGeom prst="roundRect">
            <a:avLst>
              <a:gd name="adj" fmla="val 6146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10" name="text 10"/>
          <p:cNvSpPr txBox="1"/>
          <p:nvPr/>
        </p:nvSpPr>
        <p:spPr>
          <a:xfrm>
            <a:off x="8193024" y="769468"/>
            <a:ext cx="2962656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93024" y="988924"/>
            <a:ext cx="2962656" cy="168226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r.json() — це той самий json.load з уроку 3, тільки читає не з файла, а з відповіді. Далі перед нами звичайний словник, з якого беруть поле за іменем.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49"/>
            <a:ext cx="11338560" cy="6476485"/>
          </a:xfrm>
          <a:prstGeom prst="roundRect">
            <a:avLst>
              <a:gd name="adj" fmla="val 444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текст відповіді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ai_chat.py цілком. Нове — сім рядків унизу, під print із кодом.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39" y="1137742"/>
            <a:ext cx="7882787" cy="5246370"/>
          </a:xfrm>
          <a:prstGeom prst="roundRect">
            <a:avLst>
              <a:gd name="adj" fmla="val 2421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92500"/>
          </a:bodyPr>
          <a:lstStyle/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920"/>
              </a:lnSpc>
              <a:buNone/>
            </a:pPr>
            <a:endParaRPr lang="uk-UA" sz="1400" dirty="0"/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1920"/>
              </a:lnSpc>
              <a:buNone/>
            </a:pPr>
            <a:endParaRPr lang="uk-UA" sz="1400" dirty="0"/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data = {"model": "</a:t>
            </a: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6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",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"messages": [{"role": "user", "content": "Привіт! Хто ти?"}]}</a:t>
            </a:r>
          </a:p>
          <a:p>
            <a:pPr algn="l">
              <a:lnSpc>
                <a:spcPts val="1920"/>
              </a:lnSpc>
              <a:buNone/>
            </a:pPr>
            <a:endParaRPr lang="uk-UA" sz="1400" dirty="0"/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r = requests.post(URL, headers=headers, json=data)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print("Код:", r.status_code)</a:t>
            </a:r>
          </a:p>
          <a:p>
            <a:pPr algn="l">
              <a:lnSpc>
                <a:spcPts val="1920"/>
              </a:lnSpc>
              <a:buNone/>
            </a:pPr>
            <a:endParaRPr lang="uk-UA" sz="1400" dirty="0"/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answer = r.json()</a:t>
            </a:r>
          </a:p>
          <a:p>
            <a:pPr algn="l">
              <a:lnSpc>
                <a:spcPts val="1920"/>
              </a:lnSpc>
              <a:buNone/>
            </a:pPr>
            <a:endParaRPr lang="uk-UA" sz="1400" dirty="0"/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choices = answer["choices"]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first = choices[0]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text = first["message"]["content"]</a:t>
            </a:r>
          </a:p>
          <a:p>
            <a:pPr algn="l">
              <a:lnSpc>
                <a:spcPts val="1920"/>
              </a:lnSpc>
              <a:buNone/>
            </a:pPr>
            <a:endParaRPr lang="uk-UA" sz="1400" dirty="0"/>
          </a:p>
          <a:p>
            <a:pPr algn="l">
              <a:lnSpc>
                <a:spcPts val="192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print("АІДА:", text)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010144" y="1137742"/>
            <a:ext cx="3328416" cy="1540307"/>
          </a:xfrm>
          <a:prstGeom prst="roundRect">
            <a:avLst>
              <a:gd name="adj" fmla="val 824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193024" y="1288618"/>
            <a:ext cx="2962656" cy="13208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Порядок дверей той самий: choices, потім [0], потім message і content. KeyError: 'choices' означає, що код був не 200 — дивись на число вище.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Одна функція на весь запит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dirty="0">
                <a:solidFill>
                  <a:srgbClr val="6C6860"/>
                </a:solidFill>
                <a:latin typeface="Onest"/>
                <a:cs typeface="Onest"/>
              </a:rPr>
              <a:t>Щ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 робити, коли той самий код потрібен багато разів?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разів за розмову доведеться повторити ці сім рядків?</a:t>
            </a:r>
          </a:p>
          <a:p>
            <a:pPr marL="189992" indent="-189992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перевіряти програму, коли </a:t>
            </a:r>
            <a:r>
              <a:rPr lang="uk-UA" sz="1700" dirty="0">
                <a:solidFill>
                  <a:srgbClr val="2B2823"/>
                </a:solidFill>
                <a:cs typeface="Onest"/>
              </a:rPr>
              <a:t>немає інтернету?</a:t>
            </a:r>
            <a:endParaRPr lang="uk-UA" sz="1700" b="0" dirty="0">
              <a:solidFill>
                <a:srgbClr val="2B2823"/>
              </a:solidFill>
              <a:latin typeface="Onest"/>
              <a:cs typeface="Onest"/>
            </a:endParaRP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має відповісти функція, якщо сервер відмовив?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5220995"/>
          </a:xfrm>
          <a:prstGeom prst="roundRect">
            <a:avLst>
              <a:gd name="adj" fmla="val 535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Одна функція на весь запит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Запит згортається у функцію, а цикл просто питає її. І поруч стає та сама функція без мережі.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124026"/>
            <a:ext cx="10485120" cy="161574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67640" indent="-167640" algn="l">
              <a:lnSpc>
                <a:spcPts val="217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def ask_ai(question) — увесь запит усередині функції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if r.status_code != 200 — не лізти у «choices» дарма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while True — питання за питанням, «стоп» виходить</a:t>
            </a:r>
          </a:p>
          <a:p>
            <a:pPr marL="167640" indent="-167640" algn="l">
              <a:lnSpc>
                <a:spcPts val="2175"/>
              </a:lnSpc>
              <a:spcBef>
                <a:spcPts val="112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ask_ai_mock — така сама функція, тільки без мережі</a:t>
            </a:r>
          </a:p>
        </p:txBody>
      </p:sp>
      <p:sp>
        <p:nvSpPr>
          <p:cNvPr id="8" name="code 8"/>
          <p:cNvSpPr txBox="1"/>
          <p:nvPr/>
        </p:nvSpPr>
        <p:spPr>
          <a:xfrm>
            <a:off x="853440" y="2863215"/>
            <a:ext cx="7070141" cy="2363693"/>
          </a:xfrm>
          <a:prstGeom prst="roundRect">
            <a:avLst>
              <a:gd name="adj" fmla="val 5404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def ask_ai_mock(question):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return "Я зараз без мережі, але уяви, що я відповів."</a:t>
            </a:r>
          </a:p>
          <a:p>
            <a:pPr algn="l">
              <a:lnSpc>
                <a:spcPts val="1950"/>
              </a:lnSpc>
              <a:buNone/>
            </a:pPr>
            <a:endParaRPr lang="uk-UA" sz="1200" dirty="0"/>
          </a:p>
          <a:p>
            <a:pPr algn="l">
              <a:lnSpc>
                <a:spcPts val="195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ask_ai_mock(text))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16189" y="2863215"/>
            <a:ext cx="3122371" cy="2066315"/>
          </a:xfrm>
          <a:prstGeom prst="roundRect">
            <a:avLst>
              <a:gd name="adj" fmla="val 6146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10" name="text 10"/>
          <p:cNvSpPr txBox="1"/>
          <p:nvPr/>
        </p:nvSpPr>
        <p:spPr>
          <a:xfrm>
            <a:off x="8399069" y="2959227"/>
            <a:ext cx="2756611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399069" y="3178683"/>
            <a:ext cx="2756611" cy="168226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Мок — підробна відповідь замість справжньої. Решта програми працює як була, тож логіку можна писати й перевіряти без мережі, без черг і без грошей на ключі.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помічник у циклі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ai_chat.py цілком: верх — import, ключ, URL і headers — той самий, низ новий.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10485120" cy="5489829"/>
          </a:xfrm>
          <a:prstGeom prst="roundRect">
            <a:avLst>
              <a:gd name="adj" fmla="val 2313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680"/>
              </a:lnSpc>
              <a:buNone/>
            </a:pPr>
            <a:endParaRPr lang="uk-UA" sz="1400" dirty="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1680"/>
              </a:lnSpc>
              <a:buNone/>
            </a:pPr>
            <a:endParaRPr lang="uk-UA" sz="1400" dirty="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1680"/>
              </a:lnSpc>
              <a:buNone/>
            </a:pPr>
            <a:endParaRPr lang="uk-UA" sz="1400" dirty="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def ask_ai(question):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</a:t>
            </a: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6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",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    "messages": [{"role": "user", "content": question}]}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headers=headers, json=data)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"Не вийшло спитати. Код: " + str(r.status_code)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return r.json()["choices"][0]["message"]["content"]</a:t>
            </a:r>
          </a:p>
          <a:p>
            <a:pPr algn="l">
              <a:lnSpc>
                <a:spcPts val="1680"/>
              </a:lnSpc>
              <a:buNone/>
            </a:pPr>
            <a:endParaRPr lang="uk-UA" sz="1400" dirty="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def ask_ai_mock(question):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return "Я зараз без мережі, але уяви, що я відповів."</a:t>
            </a:r>
          </a:p>
          <a:p>
            <a:pPr algn="l">
              <a:lnSpc>
                <a:spcPts val="1680"/>
              </a:lnSpc>
              <a:buNone/>
            </a:pPr>
            <a:endParaRPr lang="uk-UA" sz="1400" dirty="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ask_ai(text))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2"/>
          <a:srcRect l="1001" r="1000"/>
          <a:stretch>
            <a:fillRect/>
          </a:stretch>
        </p:blipFill>
        <p:spPr>
          <a:xfrm>
            <a:off x="-190529" y="-236292"/>
            <a:ext cx="12502692" cy="7176332"/>
          </a:xfrm>
          <a:prstGeom prst="roundRect">
            <a:avLst>
              <a:gd name="adj" fmla="val 1770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2567635"/>
          </a:xfrm>
          <a:prstGeom prst="roundRect">
            <a:avLst>
              <a:gd name="adj" fmla="val 1088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Домашнє завдання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53440" y="1246099"/>
            <a:ext cx="6949440" cy="1390117"/>
          </a:xfrm>
          <a:prstGeom prst="roundRect">
            <a:avLst>
              <a:gd name="adj" fmla="val 9136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1036320" y="1405531"/>
            <a:ext cx="6583680" cy="12255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1. Напиши функцію def ask_ai(question), яка буде слати запит до серверу ChatGPT та повертати (виводити) відповідь. Без ключа працювати не буде - це нормально.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Працюємо без мережі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Мок ми вже написали, але не вмикали. Питаю, як перемикатись між ним і справжнім запитом.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робити, якщо інтернет відпав посеред роботи?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увімкнути мок, не переписуючи програму щоразу?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місць у коді має знати про це перемикання?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Перемикач нагорі файла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Одна змінна True або False — і програма або йде в мережу, або вигадує сама.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USE_MOCK = True — змінна з двома можливими значеннями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True і False пишуться з великої літери й без лапок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if USE_MOCK: — умова без порівняння, бо змінна вже так/ні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Перемикач стоїть нагорі: його має бути видно, не шукаючи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 лапками це вже не так і ні, а звичайний рядок — і "False"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усередині if вважається за «так», бо рядок непорожній.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Помилки не буде, буде програма, що завжди йде в мок.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перемикач мока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ai_chat.py цілком. Нове — змінна USE_MOCK нагорі й вибір усередині циклу.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10485120" cy="5398618"/>
          </a:xfrm>
          <a:prstGeom prst="roundRect">
            <a:avLst>
              <a:gd name="adj" fmla="val 2352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320"/>
              </a:lnSpc>
              <a:buNone/>
            </a:pPr>
            <a:endParaRPr lang="uk-UA" sz="1100"/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USE_MOCK = True</a:t>
            </a:r>
          </a:p>
          <a:p>
            <a:pPr algn="l">
              <a:lnSpc>
                <a:spcPts val="1320"/>
              </a:lnSpc>
              <a:buNone/>
            </a:pPr>
            <a:endParaRPr lang="uk-UA" sz="1100"/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1320"/>
              </a:lnSpc>
              <a:buNone/>
            </a:pPr>
            <a:endParaRPr lang="uk-UA" sz="1100"/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1320"/>
              </a:lnSpc>
              <a:buNone/>
            </a:pPr>
            <a:endParaRPr lang="uk-UA" sz="1100"/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def ask_ai(question):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"gpt-4o-mini",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    "messages": [{"role": "user", "content": question}]}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headers=headers, json=data)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"Не вийшло спитати. Код: " + str(r.status_code)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return r.json()["choices"][0]["message"]["content"]</a:t>
            </a:r>
          </a:p>
          <a:p>
            <a:pPr algn="l">
              <a:lnSpc>
                <a:spcPts val="1320"/>
              </a:lnSpc>
              <a:buNone/>
            </a:pPr>
            <a:endParaRPr lang="uk-UA" sz="1100"/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def ask_ai_mock(question):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return "Я зараз без мережі, але уяви, що я відповів."</a:t>
            </a:r>
          </a:p>
          <a:p>
            <a:pPr algn="l">
              <a:lnSpc>
                <a:spcPts val="1320"/>
              </a:lnSpc>
              <a:buNone/>
            </a:pPr>
            <a:endParaRPr lang="uk-UA" sz="1100"/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USE_MOCK: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answer = ask_ai_mock(text)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else: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answer = ask_ai(text)</a:t>
            </a:r>
          </a:p>
          <a:p>
            <a:pPr algn="l">
              <a:lnSpc>
                <a:spcPts val="132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answer)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86302"/>
          </a:xfrm>
          <a:prstGeom prst="roundRect">
            <a:avLst>
              <a:gd name="adj" fmla="val 737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Наскільки йому можна вигадувати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Модель щоразу відповідає трохи інакше. Питаю, чи можна цим керувати.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7289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Коли від помічника хочеться точності, а коли — вигадки?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краще для задачі з математики: та сама відповідь чи різні?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А для назви команди або вірша?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temperature у запиті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Одне число в тілі запиту каже моделі, наскільки сміливо вибирати слова.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temperature — ще одне поле словника data, поруч із model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0 — майже завжди те саме; 1 — як за замовчуванням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Більше за 1 — модель бере дедалі менш очевидні слова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Число пишеться без лапок: 0.2, а не "0.2"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Це не «розумніше» і не «дурніше». Це вибір між обережним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і сміливим: на 0.2 помічник переказує відоме, на 1.2 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вигадує, і тим частіше помиляється у фактах.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64224"/>
          </a:xfrm>
          <a:prstGeom prst="roundRect">
            <a:avLst>
              <a:gd name="adj" fmla="val 4390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temperature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ai_chat.py цілком. Нове — один рядок "temperature": 0.2 у словнику data.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6894576" cy="5322494"/>
          </a:xfrm>
          <a:prstGeom prst="roundRect">
            <a:avLst>
              <a:gd name="adj" fmla="val 238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ask_ai(question):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"gpt-4o-mini",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    "temperature": 0.2,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    "messages": [{"role": "user", "content": question}]}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headers=headers, json=data)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"Не вийшло спитати. Код: " + str(r.status_code)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r.json()["choices"][0]["message"]["content"]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ask_ai_mock(question):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"Я зараз без мережі, але уяви, що я відповів."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ask_ai(text))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040624" y="1137742"/>
            <a:ext cx="3297936" cy="1292047"/>
          </a:xfrm>
          <a:prstGeom prst="roundRect">
            <a:avLst>
              <a:gd name="adj" fmla="val 982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223504" y="1288618"/>
            <a:ext cx="2932176" cy="107259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Кома після 0.2 обов'язкова: це середня пара в словнику. Спитай двічі те саме, потім заміни 0.2 на 1.2 і спитай ще двічі.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Скільки коштувало питання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За кожен запит хтось платить. Питаю, чи можна побачити, скільки саме.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можна виміряти довжину питання й відповіді?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дорожче: довге питання чи довга відповідь?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сервер міг би сказати нам цю цифру?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Поле usage у відповіді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У тій самій відповіді, з якої ми брали текст, лежить і рахунок за неї.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usage — ще один ключ у відповіді, поруч із choices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prompt_tokens — скільки коштувало питання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completion_tokens — скільки коштувала відповідь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total_tokens — сума, за яку платить власник ключа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Токен — не буква і не слово, а шматок слова. Українською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одне слово це зазвичай два-три токени, англійською 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часто одне. Тому та сама думка англійською дешевша.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37731"/>
          </a:xfrm>
          <a:prstGeom prst="roundRect">
            <a:avLst>
              <a:gd name="adj" fmla="val 427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рахунок за відповідь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ai_chat.py цілком. Нове — три рядки в ask_ai між перевіркою коду й return.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6894576" cy="5496001"/>
          </a:xfrm>
          <a:prstGeom prst="roundRect">
            <a:avLst>
              <a:gd name="adj" fmla="val 2311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ask_ai(question):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"gpt-4o-mini",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    "messages": [{"role": "user", "content": question}]}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headers=headers, json=data)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"Не вийшло спитати. Код: " + str(r.status_code)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used = answer["usage"]["total_tokens"]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print("(токенів:", used, ")")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answer["choices"][0]["message"]["content"]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ask_ai_mock(question):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"Я зараз без мережі, але уяви, що я відповів."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ask_ai(text))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040624" y="1137742"/>
            <a:ext cx="3297936" cy="1292047"/>
          </a:xfrm>
          <a:prstGeom prst="roundRect">
            <a:avLst>
              <a:gd name="adj" fmla="val 982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223504" y="1288618"/>
            <a:ext cx="2932176" cy="107259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Останній рядок уже є у функції — новий тільки той, що з answer. Число має рости, коли питання довше. Перевір коротким і довгим.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Коли сервер відмовив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Останній запасний блок. Питаю, що робити з числом, яке не 200.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достатньо знати саме число, щоб зрозуміти помилку?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сервер міг би пояснити, що йому не сподобалось?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краще показати людині: число чи речення?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596814"/>
          </a:xfrm>
          <a:prstGeom prst="roundRect">
            <a:avLst>
              <a:gd name="adj" fmla="val 499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Текст помилки від сервера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Сервер не просто відмовляє — він пише, що саме не так. Треба лише прочитати.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При відмові у відповіді немає choices — там ключ error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answer["error"]["message"] — саме речення про причину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Це той самий коридор із дверей, тільки двері інші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Речення англійською — це нормально, його можна перекласти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53585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549597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769053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Ліземо в error тільки після перевірки коду. Якщо код 200,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ключа error у відповіді немає зовсім — і спроба взяти його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дасть KeyError замість корисного повідомлення.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47765"/>
          </a:xfrm>
          <a:prstGeom prst="roundRect">
            <a:avLst>
              <a:gd name="adj" fmla="val 440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чому саме відмовили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ai_chat.py цілком. Нове — три рядки в ask_ai замість одного return при відмові.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6894576" cy="5306035"/>
          </a:xfrm>
          <a:prstGeom prst="roundRect">
            <a:avLst>
              <a:gd name="adj" fmla="val 2394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with open("key.txt", encoding="utf-8") as f: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KEY = f.read().strip()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headers = {"Authorization": "Bearer " + KEY}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ask_ai(question):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"gpt-4o-mini",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    "messages": [{"role": "user", "content": question}]}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headers=headers, json=data)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problem = r.json()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why = problem["error"]["message"]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"Сервер відмовив. " + why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r.json()["choices"][0]["message"]["content"]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ask_ai_mock(question):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"Я зараз без мережі, але уяви, що я відповів."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ask_ai(text))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040624" y="1137742"/>
            <a:ext cx="3297936" cy="1292047"/>
          </a:xfrm>
          <a:prstGeom prst="roundRect">
            <a:avLst>
              <a:gd name="adj" fmla="val 982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223504" y="1288618"/>
            <a:ext cx="2932176" cy="107259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Старий рядок з str(r.status_code) прибери — замість нього ці три. Перевір навмисне: додай у key.txt зайву букву й запусти.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роки">
  <a:themeElements>
    <a:clrScheme name="Уроки">
      <a:dk1>
        <a:srgbClr val="1B1A17"/>
      </a:dk1>
      <a:lt1>
        <a:srgbClr val="FFFFFF"/>
      </a:lt1>
      <a:dk2>
        <a:srgbClr val="2B2823"/>
      </a:dk2>
      <a:lt2>
        <a:srgbClr val="F1EFE8"/>
      </a:lt2>
      <a:accent1>
        <a:srgbClr val="14513C"/>
      </a:accent1>
      <a:accent2>
        <a:srgbClr val="B9862F"/>
      </a:accent2>
      <a:accent3>
        <a:srgbClr val="9E4A3A"/>
      </a:accent3>
      <a:accent4>
        <a:srgbClr val="6C6860"/>
      </a:accent4>
      <a:accent5>
        <a:srgbClr val="E9EFE9"/>
      </a:accent5>
      <a:accent6>
        <a:srgbClr val="FFF6E3"/>
      </a:accent6>
      <a:hlink>
        <a:srgbClr val="14513C"/>
      </a:hlink>
      <a:folHlink>
        <a:srgbClr val="6C6860"/>
      </a:folHlink>
    </a:clrScheme>
    <a:fontScheme name="Уроки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Урок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13260</Words>
  <Application>Microsoft Macintosh PowerPoint</Application>
  <PresentationFormat>Widescreen</PresentationFormat>
  <Paragraphs>1434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Courier New</vt:lpstr>
      <vt:lpstr>Onest</vt:lpstr>
      <vt:lpstr>Уроки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Дмитро Штефан</cp:lastModifiedBy>
  <cp:revision>3</cp:revision>
  <dcterms:modified xsi:type="dcterms:W3CDTF">2026-10-21T19:08:22Z</dcterms:modified>
</cp:coreProperties>
</file>

<file path=docProps/core0.xml><?xml version="1.0" encoding="utf-8"?>
<cp:coreProperties xmlns:cp="http://schemas.openxmlformats.org/package/2006/metadata/core-properties" xmlns:dc="http://purl.org/dc/elements/1.1/" xmlns:xsi="http://www.w3.org/2001/XMLSchema-instance">
  <dc:title>Інтеграція з ChatGPT API. Частина 1: знайомство з API</dc:title>
  <dc:subject>Справжній розум: ChatGPT API · AI Assistant: створення помічника</dc:subject>
</cp:coreProperties>
</file>