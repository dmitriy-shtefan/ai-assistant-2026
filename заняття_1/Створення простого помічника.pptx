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EF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86"/>
    <p:restoredTop sz="74294"/>
  </p:normalViewPr>
  <p:slideViewPr>
    <p:cSldViewPr snapToGrid="0">
      <p:cViewPr varScale="1">
        <p:scale>
          <a:sx n="109" d="100"/>
          <a:sy n="109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питань перед тим, як я почну розповідати. Читаю чотири рядки зі</a:t>
            </a:r>
          </a:p>
          <a:p>
            <a:r>
              <a:rPr lang="uk-UA" sz="1200" dirty="0"/>
              <a:t>слайда вголос по одному й чекаю. Мовчання перші п'ять секунд — це нормально,</a:t>
            </a:r>
          </a:p>
          <a:p>
            <a:r>
              <a:rPr lang="uk-UA" sz="1200" dirty="0"/>
              <a:t>не заповнюю його собою: хтось у групі точно щось чув про ChatGPT удома або на</a:t>
            </a:r>
          </a:p>
          <a:p>
            <a:r>
              <a:rPr lang="uk-UA" sz="1200" dirty="0"/>
              <a:t>ютубі, і краще, щоб це прозвучало з дитячого рота, а не з мого.</a:t>
            </a:r>
          </a:p>
          <a:p>
            <a:endParaRPr lang="uk-UA" sz="1200" dirty="0"/>
          </a:p>
          <a:p>
            <a:r>
              <a:rPr lang="uk-UA" sz="1200" dirty="0"/>
              <a:t>Що зазвичай кажуть і що з цим робити.</a:t>
            </a:r>
          </a:p>
          <a:p>
            <a:endParaRPr lang="uk-UA" sz="1200" dirty="0"/>
          </a:p>
          <a:p>
            <a:r>
              <a:rPr lang="uk-UA" sz="1200" dirty="0"/>
              <a:t>ПРО GOOGLE. Найчастіша відповідь: «помічник відповідає своїми словами, а</a:t>
            </a:r>
          </a:p>
          <a:p>
            <a:r>
              <a:rPr lang="uk-UA" sz="1200" dirty="0"/>
              <a:t>Google дає посилання». Це майже точно, хвалю. Якщо кажуть «помічник шукає в</a:t>
            </a:r>
          </a:p>
          <a:p>
            <a:r>
              <a:rPr lang="uk-UA" sz="1200" dirty="0"/>
              <a:t>інтернеті» — не виправляю зараз, а кажу: «запам'ятайте цю думку, за десять</a:t>
            </a:r>
          </a:p>
          <a:p>
            <a:r>
              <a:rPr lang="uk-UA" sz="1200" dirty="0"/>
              <a:t>хвилин перевіримо». Блок 2 відповість на це краще за мене.</a:t>
            </a:r>
          </a:p>
          <a:p>
            <a:endParaRPr lang="uk-UA" sz="1200" dirty="0"/>
          </a:p>
          <a:p>
            <a:r>
              <a:rPr lang="uk-UA" sz="1200" dirty="0"/>
              <a:t>ЧИ БАЧИТЬ. Діти щиро вважають, що бачить: «він же в телефоні, а там камера».</a:t>
            </a:r>
          </a:p>
          <a:p>
            <a:r>
              <a:rPr lang="uk-UA" sz="1200" dirty="0"/>
              <a:t>Не сперечаюсь — кажу, що зараз самі перевіримо руками.</a:t>
            </a:r>
          </a:p>
          <a:p>
            <a:endParaRPr lang="uk-UA" sz="1200" dirty="0"/>
          </a:p>
          <a:p>
            <a:r>
              <a:rPr lang="uk-UA" sz="1200" dirty="0"/>
              <a:t>ЩО ПАМ'ЯТАЄ. Тут думки розділяться, і це добре: половина скаже «все», половина</a:t>
            </a:r>
          </a:p>
          <a:p>
            <a:r>
              <a:rPr lang="uk-UA" sz="1200" dirty="0"/>
              <a:t>«нічого». Кажу, що обидві відповіді сьогодні перевіримо.</a:t>
            </a:r>
          </a:p>
          <a:p>
            <a:endParaRPr lang="uk-UA" sz="1200" dirty="0"/>
          </a:p>
          <a:p>
            <a:r>
              <a:rPr lang="uk-UA" sz="1200" dirty="0"/>
              <a:t>ДЕ ЗУСТРІЧАЛИ. Siri, Google Assistant, Аліса, підказки в пошуку, чат підтримки</a:t>
            </a:r>
          </a:p>
          <a:p>
            <a:r>
              <a:rPr lang="uk-UA" sz="1200" dirty="0"/>
              <a:t>в застосунку банку, помічник у грі. Хай назвуть п'ять — цим списком я потім</a:t>
            </a:r>
          </a:p>
          <a:p>
            <a:r>
              <a:rPr lang="uk-UA" sz="1200" dirty="0"/>
              <a:t>скористаюсь у показі.</a:t>
            </a:r>
          </a:p>
          <a:p>
            <a:endParaRPr lang="uk-UA" sz="1200" dirty="0"/>
          </a:p>
          <a:p>
            <a:r>
              <a:rPr lang="uk-UA" sz="1200" dirty="0"/>
              <a:t>Нічого не виправляю остаточно. Моя мета — щоб група почала думати про механізм</a:t>
            </a:r>
          </a:p>
          <a:p>
            <a:r>
              <a:rPr lang="uk-UA" sz="1200" dirty="0"/>
              <a:t>раніше, ніж почує відповідь. Далі показ.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Головний блок для розуміння всього курсу. Розповідаю сам, група слухає й нічого</a:t>
            </a:r>
          </a:p>
          <a:p>
            <a:r>
              <a:rPr lang="uk-UA" sz="1200" dirty="0"/>
              <a:t>не набирає — про це попереджаю окремо, інакше половина вже полізе в клавіатуру.</a:t>
            </a:r>
          </a:p>
          <a:p>
            <a:endParaRPr lang="uk-UA" sz="1200" dirty="0"/>
          </a:p>
          <a:p>
            <a:r>
              <a:rPr lang="uk-UA" sz="1200" dirty="0"/>
              <a:t>Починаю з найпростішого означення: AI-помічник — це програма, яка приймає</a:t>
            </a:r>
          </a:p>
          <a:p>
            <a:r>
              <a:rPr lang="uk-UA" sz="1200" dirty="0"/>
              <a:t>текст і віддає текст. Усе. Ніякої магії всередині немає.</a:t>
            </a:r>
          </a:p>
          <a:p>
            <a:endParaRPr lang="uk-UA" sz="1200" dirty="0"/>
          </a:p>
          <a:p>
            <a:r>
              <a:rPr lang="uk-UA" sz="1200" dirty="0"/>
              <a:t>Далі по пунктах зі слайда.</a:t>
            </a:r>
          </a:p>
          <a:p>
            <a:endParaRPr lang="uk-UA" sz="1200" dirty="0"/>
          </a:p>
          <a:p>
            <a:r>
              <a:rPr lang="uk-UA" sz="1200" dirty="0"/>
              <a:t>НЕ БАЧИТЬ І НЕ ЧУЄ. Помічник не має ні очей, ні вух. Він знає рівно ті слова,</a:t>
            </a:r>
          </a:p>
          <a:p>
            <a:r>
              <a:rPr lang="uk-UA" sz="1200" dirty="0"/>
              <a:t>які йому написали. Це варто сказати повільно, бо діти щиро вважають, що</a:t>
            </a:r>
          </a:p>
          <a:p>
            <a:r>
              <a:rPr lang="uk-UA" sz="1200" dirty="0"/>
              <a:t>програма «десь там дивиться».</a:t>
            </a:r>
          </a:p>
          <a:p>
            <a:endParaRPr lang="uk-UA" sz="1200" dirty="0"/>
          </a:p>
          <a:p>
            <a:r>
              <a:rPr lang="uk-UA" sz="1200" dirty="0"/>
              <a:t>НЕ ПАМ'ЯТАЄ. Закрив вікно — і все, наступного разу він тебе не знає. Те, що</a:t>
            </a:r>
          </a:p>
          <a:p>
            <a:r>
              <a:rPr lang="uk-UA" sz="1200" dirty="0"/>
              <a:t>в ChatGPT відповідь ніби продовжує розмову, — окремий механізм, і ми зробимо</a:t>
            </a:r>
          </a:p>
          <a:p>
            <a:r>
              <a:rPr lang="uk-UA" sz="1200" dirty="0"/>
              <a:t>його самі на уроці 5.</a:t>
            </a:r>
          </a:p>
          <a:p>
            <a:endParaRPr lang="uk-UA" sz="1200" dirty="0"/>
          </a:p>
          <a:p>
            <a:r>
              <a:rPr lang="uk-UA" sz="1200" dirty="0"/>
              <a:t>ЯКІ БУВАЮТЬ. Текстові (ChatGPT), голосові (Siri, Аліса), вбудовані в</a:t>
            </a:r>
          </a:p>
          <a:p>
            <a:r>
              <a:rPr lang="uk-UA" sz="1200" dirty="0"/>
              <a:t>програму (підказки у пошуку), вузькі (помічник у банку відповідає тільки про</a:t>
            </a:r>
          </a:p>
          <a:p>
            <a:r>
              <a:rPr lang="uk-UA" sz="1200" dirty="0"/>
              <a:t>гроші). Кажу, що наш за курс побуває текстовим, голосовим і з обличчям.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 відкритий ChatGPT і ставлю одне питання вголос — просто</a:t>
            </a:r>
          </a:p>
          <a:p>
            <a:r>
              <a:rPr lang="uk-UA" sz="1200" dirty="0"/>
              <a:t>щоб усі побачили, що це звичайне вікно з текстом, а не космічний корабель.</a:t>
            </a:r>
          </a:p>
          <a:p>
            <a:endParaRPr lang="uk-UA" sz="1200" dirty="0"/>
          </a:p>
          <a:p>
            <a:r>
              <a:rPr lang="uk-UA" sz="1200" dirty="0"/>
              <a:t>Питання, яке лунає завжди: а він розумний? Відповідаю чесно: він дуже добре</a:t>
            </a:r>
          </a:p>
          <a:p>
            <a:r>
              <a:rPr lang="uk-UA" sz="1200" dirty="0"/>
              <a:t>складає слова, і цього вистачає, щоб бути корисним. Чи це «розум» — питання не</a:t>
            </a:r>
          </a:p>
          <a:p>
            <a:r>
              <a:rPr lang="uk-UA" sz="1200" dirty="0"/>
              <a:t>до нас; далі буде видно, звідки беруться відповіді.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три фрази й дивимось, що вийде.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Перше, що група робить руками. Завдання дуже просте навмисно: сьогодні перший</a:t>
            </a:r>
          </a:p>
          <a:p>
            <a:r>
              <a:rPr lang="uk-UA" sz="1200" dirty="0"/>
              <a:t>урок, і половина дітей ще не знає, де в браузері рядок введення.</a:t>
            </a:r>
          </a:p>
          <a:p>
            <a:endParaRPr lang="uk-UA" sz="1200" dirty="0"/>
          </a:p>
          <a:p>
            <a:r>
              <a:rPr lang="uk-UA" sz="1200" dirty="0"/>
              <a:t>Кажу порядок: відкрити chat.openai.com (або те, чим користуємось у школі),</a:t>
            </a:r>
          </a:p>
          <a:p>
            <a:r>
              <a:rPr lang="uk-UA" sz="1200" dirty="0"/>
              <a:t>надіслати першу фразу, дочекатись відповіді, надіслати другу, потім третю.</a:t>
            </a:r>
          </a:p>
          <a:p>
            <a:r>
              <a:rPr lang="uk-UA" sz="1200" dirty="0"/>
              <a:t>По одній, а не все разом одним повідомленням — інакше третя відповідь</a:t>
            </a:r>
          </a:p>
          <a:p>
            <a:r>
              <a:rPr lang="uk-UA" sz="1200" dirty="0"/>
              <a:t>приїде разом із другою й ефект зникне.</a:t>
            </a:r>
          </a:p>
          <a:p>
            <a:endParaRPr lang="uk-UA" sz="1200" dirty="0"/>
          </a:p>
          <a:p>
            <a:r>
              <a:rPr lang="uk-UA" sz="1200" dirty="0"/>
              <a:t>Фрази набирати саме ці, зі слайда. Хто вже вміє — однаково набирає ці, а</a:t>
            </a:r>
          </a:p>
          <a:p>
            <a:r>
              <a:rPr lang="uk-UA" sz="1200" dirty="0"/>
              <a:t>свої питатиме після третьої.</a:t>
            </a:r>
          </a:p>
          <a:p>
            <a:endParaRPr lang="uk-UA" sz="1200" dirty="0"/>
          </a:p>
          <a:p>
            <a:r>
              <a:rPr lang="uk-UA" sz="1200" dirty="0"/>
              <a:t>Ходжу по класу. Найчастіші проблеми: не відкривається сайт (даю запасний</a:t>
            </a:r>
          </a:p>
          <a:p>
            <a:r>
              <a:rPr lang="uk-UA" sz="1200" dirty="0"/>
              <a:t>доступ або саджу до сусіда); дитина набрала все одним повідомленням (прошу</a:t>
            </a:r>
          </a:p>
          <a:p>
            <a:r>
              <a:rPr lang="uk-UA" sz="1200" dirty="0"/>
              <a:t>переслати останню фразу окремо).</a:t>
            </a:r>
          </a:p>
          <a:p>
            <a:endParaRPr lang="uk-UA" sz="1200" dirty="0"/>
          </a:p>
          <a:p>
            <a:r>
              <a:rPr lang="uk-UA" sz="1200" dirty="0"/>
              <a:t>Що обговорюємо після. Перша відповідь — помічник розповідає про себе.</a:t>
            </a:r>
          </a:p>
          <a:p>
            <a:r>
              <a:rPr lang="uk-UA" sz="1200" dirty="0"/>
              <a:t>Друга — рахує правильно. Третя — і ось тут головне: він НЕ бачить. Прошу</a:t>
            </a:r>
          </a:p>
          <a:p>
            <a:r>
              <a:rPr lang="uk-UA" sz="1200" dirty="0"/>
              <a:t>підняти руку тих, кому він чесно сказав «не бачу», і тих, кому він щось</a:t>
            </a:r>
          </a:p>
          <a:p>
            <a:r>
              <a:rPr lang="uk-UA" sz="1200" dirty="0"/>
              <a:t>вигадав. Зазвичай будуть і ті, і ті — і це ідеальний місток у наступний блок.</a:t>
            </a:r>
          </a:p>
          <a:p>
            <a:endParaRPr lang="uk-UA" sz="1200" dirty="0"/>
          </a:p>
          <a:p>
            <a:r>
              <a:rPr lang="uk-UA" sz="1200" dirty="0"/>
              <a:t>Хто вже впорався: прошу надіслати четверту фразу — «Який зараз час у моєму</a:t>
            </a:r>
          </a:p>
          <a:p>
            <a:r>
              <a:rPr lang="uk-UA" sz="1200" dirty="0"/>
              <a:t>місті?» Відповідь теж буде або чесним «не знаю», або вигаданою.</a:t>
            </a:r>
          </a:p>
          <a:p>
            <a:endParaRPr lang="uk-UA" sz="1200" dirty="0"/>
          </a:p>
          <a:p>
            <a:r>
              <a:rPr lang="uk-UA" sz="1200" dirty="0"/>
              <a:t>Наступний блок пояснює, чому вигадує.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Привіт! Хто ти?</a:t>
            </a:r>
          </a:p>
          <a:p>
            <a:r>
              <a:rPr lang="uk-UA" sz="1200" dirty="0"/>
              <a:t>    -&gt; Привіт! Я ChatGPT, мовна модель. Можу відповідати на питання,</a:t>
            </a:r>
          </a:p>
          <a:p>
            <a:r>
              <a:rPr lang="uk-UA" sz="1200" dirty="0"/>
              <a:t>       пояснювати й допомагати з текстами.</a:t>
            </a:r>
          </a:p>
          <a:p>
            <a:endParaRPr lang="uk-UA" sz="1200" dirty="0"/>
          </a:p>
          <a:p>
            <a:r>
              <a:rPr lang="uk-UA" sz="1200" dirty="0"/>
              <a:t>Скільки буде 17 помножити на 24?</a:t>
            </a:r>
          </a:p>
          <a:p>
            <a:r>
              <a:rPr lang="uk-UA" sz="1200" dirty="0"/>
              <a:t>    -&gt; 408</a:t>
            </a:r>
          </a:p>
          <a:p>
            <a:endParaRPr lang="uk-UA" sz="1200" dirty="0"/>
          </a:p>
          <a:p>
            <a:r>
              <a:rPr lang="uk-UA" sz="1200" dirty="0"/>
              <a:t>Що я зараз тримаю в руках?</a:t>
            </a:r>
          </a:p>
          <a:p>
            <a:r>
              <a:rPr lang="uk-UA" sz="1200" dirty="0"/>
              <a:t>    -&gt; Я не можу цього побачити — я не маю доступу до камери.</a:t>
            </a:r>
          </a:p>
          <a:p>
            <a:r>
              <a:rPr lang="uk-UA" sz="1200" dirty="0"/>
              <a:t>       Розкажи, і я допоможу.</a:t>
            </a:r>
          </a:p>
          <a:p>
            <a:endParaRPr lang="uk-UA" sz="1200" dirty="0"/>
          </a:p>
          <a:p>
            <a:r>
              <a:rPr lang="uk-UA" sz="1200" dirty="0"/>
              <a:t>Головне: на третє питання чесна відповідь — «не знаю». Якщо помічник</a:t>
            </a:r>
          </a:p>
          <a:p>
            <a:r>
              <a:rPr lang="uk-UA" sz="1200" dirty="0"/>
              <a:t>назвав предмет, він його вигадав.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найважливішим блоком уроку. Питання тут не для перевірки, а</a:t>
            </a:r>
          </a:p>
          <a:p>
            <a:r>
              <a:rPr lang="uk-UA" sz="1200" dirty="0"/>
              <a:t>щоб діти самі спробували пояснити те, що щойно бачили на екрані: помічник</a:t>
            </a:r>
          </a:p>
          <a:p>
            <a:r>
              <a:rPr lang="uk-UA" sz="1200" dirty="0"/>
              <a:t>назвав предмет, якого не бачить.</a:t>
            </a:r>
          </a:p>
          <a:p>
            <a:endParaRPr lang="uk-UA" sz="1200" dirty="0"/>
          </a:p>
          <a:p>
            <a:r>
              <a:rPr lang="uk-UA" sz="1200" dirty="0"/>
              <a:t>Що чую й що з цим роблю.</a:t>
            </a:r>
          </a:p>
          <a:p>
            <a:endParaRPr lang="uk-UA" sz="1200" dirty="0"/>
          </a:p>
          <a:p>
            <a:r>
              <a:rPr lang="uk-UA" sz="1200" dirty="0"/>
              <a:t>ШУКАЄ ЧИ СКЛАДАЄ. Більшість скаже «шукає в інтернеті» — це найпоширеніша</a:t>
            </a:r>
          </a:p>
          <a:p>
            <a:r>
              <a:rPr lang="uk-UA" sz="1200" dirty="0"/>
              <a:t>хибна думка про моделі взагалі, і вона доживає до дорослого віку. Не</a:t>
            </a:r>
          </a:p>
          <a:p>
            <a:r>
              <a:rPr lang="uk-UA" sz="1200" dirty="0"/>
              <a:t>виправляю одразу: кажу «зараз побачимо», і показ відповість.</a:t>
            </a:r>
          </a:p>
          <a:p>
            <a:endParaRPr lang="uk-UA" sz="1200" dirty="0"/>
          </a:p>
          <a:p>
            <a:r>
              <a:rPr lang="uk-UA" sz="1200" dirty="0"/>
              <a:t>ЧОМУ РІЗНІ ВІДПОВІДІ. Кажуть «бо різні люди питали», «бо він вчиться». Друга</a:t>
            </a:r>
          </a:p>
          <a:p>
            <a:r>
              <a:rPr lang="uk-UA" sz="1200" dirty="0"/>
              <a:t>відповідь близька, але не про це: модель не вчиться від вашого повідомлення.</a:t>
            </a:r>
          </a:p>
          <a:p>
            <a:r>
              <a:rPr lang="uk-UA" sz="1200" dirty="0"/>
              <a:t>Правильний бік — вибір наступного слова трохи випадковий.</a:t>
            </a:r>
          </a:p>
          <a:p>
            <a:endParaRPr lang="uk-UA" sz="1200" dirty="0"/>
          </a:p>
          <a:p>
            <a:r>
              <a:rPr lang="uk-UA" sz="1200" dirty="0"/>
              <a:t>ЧИ МОЖЕ БРЕХАТИ. Тут майже завжди хтось згадує власний випадок: «він мені</a:t>
            </a:r>
          </a:p>
          <a:p>
            <a:r>
              <a:rPr lang="uk-UA" sz="1200" dirty="0"/>
              <a:t>неправильно розв'язав задачу». Дуже прошу такого розповісти — це найкращий</a:t>
            </a:r>
          </a:p>
          <a:p>
            <a:r>
              <a:rPr lang="uk-UA" sz="1200" dirty="0"/>
              <a:t>вступ до слова «галюцинація», який тільки може бути.</a:t>
            </a:r>
          </a:p>
          <a:p>
            <a:endParaRPr lang="uk-UA" sz="1200" dirty="0"/>
          </a:p>
          <a:p>
            <a:r>
              <a:rPr lang="uk-UA" sz="1200" dirty="0"/>
              <a:t>КОМУ ВІРИТИ. Відповідь, яку хочу почути наприкінці показу: підручнику — на</a:t>
            </a:r>
          </a:p>
          <a:p>
            <a:r>
              <a:rPr lang="uk-UA" sz="1200" dirty="0"/>
              <a:t>факти, помічнику — на пояснення. Якщо хтось скаже це вже зараз, хвалю вголос</a:t>
            </a:r>
          </a:p>
          <a:p>
            <a:r>
              <a:rPr lang="uk-UA" sz="1200" dirty="0"/>
              <a:t>і кажу, що це головна думка сьогоднішнього уроку.</a:t>
            </a:r>
          </a:p>
          <a:p>
            <a:endParaRPr lang="uk-UA" sz="1200" dirty="0"/>
          </a:p>
          <a:p>
            <a:r>
              <a:rPr lang="uk-UA" sz="1200" dirty="0"/>
              <a:t>Дві хвилини — і не більше: далі показ, у якому все це складеться.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Найважливіший блок першого уроку. Після нього діти перестають вірити помічнику</a:t>
            </a:r>
          </a:p>
          <a:p>
            <a:r>
              <a:rPr lang="uk-UA" sz="1200" dirty="0"/>
              <a:t>на слово — а це головне, що варто винести з курсу.</a:t>
            </a:r>
          </a:p>
          <a:p>
            <a:endParaRPr lang="uk-UA" sz="1200" dirty="0"/>
          </a:p>
          <a:p>
            <a:r>
              <a:rPr lang="uk-UA" sz="1200" dirty="0"/>
              <a:t>Пояснюю механізм на грі, яку всі знають. Кажу початок фрази: «У лісі росла</a:t>
            </a:r>
          </a:p>
          <a:p>
            <a:r>
              <a:rPr lang="uk-UA" sz="1200" dirty="0"/>
              <a:t>маленька...» — група хором каже «ялинка». Питаю: звідки ви знали? Бо чули цю</a:t>
            </a:r>
          </a:p>
          <a:p>
            <a:r>
              <a:rPr lang="uk-UA" sz="1200" dirty="0"/>
              <a:t>пісню багато разів. Ось і модель так само: вона прочитала море текстів і</a:t>
            </a:r>
          </a:p>
          <a:p>
            <a:r>
              <a:rPr lang="uk-UA" sz="1200" dirty="0"/>
              <a:t>навчилася вгадувати, яке слово буває далі.</a:t>
            </a:r>
          </a:p>
          <a:p>
            <a:endParaRPr lang="uk-UA" sz="1200" dirty="0"/>
          </a:p>
          <a:p>
            <a:r>
              <a:rPr lang="uk-UA" sz="1200" dirty="0"/>
              <a:t>Наголошую: вона не шукає в книжці й не пам'ятає сторінку. Вона щоразу</a:t>
            </a:r>
          </a:p>
          <a:p>
            <a:r>
              <a:rPr lang="uk-UA" sz="1200" dirty="0"/>
              <a:t>складає відповідь наново, слово за словом.</a:t>
            </a:r>
          </a:p>
          <a:p>
            <a:endParaRPr lang="uk-UA" sz="1200" dirty="0"/>
          </a:p>
          <a:p>
            <a:r>
              <a:rPr lang="uk-UA" sz="1200" dirty="0"/>
              <a:t>Далі перший наслідок: вибір трохи випадковий. Тому та сама фраза дає щоразу</a:t>
            </a:r>
          </a:p>
          <a:p>
            <a:r>
              <a:rPr lang="uk-UA" sz="1200" dirty="0"/>
              <a:t>іншу відповідь — це не поломка, це так задумано. Інакше помічник був би</a:t>
            </a:r>
          </a:p>
          <a:p>
            <a:r>
              <a:rPr lang="uk-UA" sz="1200" dirty="0"/>
              <a:t>нудним і завжди повторював одне.</a:t>
            </a:r>
          </a:p>
          <a:p>
            <a:endParaRPr lang="uk-UA" sz="1200" dirty="0"/>
          </a:p>
          <a:p>
            <a:r>
              <a:rPr lang="uk-UA" sz="1200" dirty="0"/>
              <a:t>Другий наслідок, і він серйозний: якщо правильного продовження модель не</a:t>
            </a:r>
          </a:p>
          <a:p>
            <a:r>
              <a:rPr lang="uk-UA" sz="1200" dirty="0"/>
              <a:t>знає, вона однаково складе якесь. Вийде впевнена, гладенька, красива</a:t>
            </a:r>
          </a:p>
          <a:p>
            <a:r>
              <a:rPr lang="uk-UA" sz="1200" dirty="0"/>
              <a:t>неправда. Це називається «галюцинація». Прошу запам'ятати слово.</a:t>
            </a:r>
          </a:p>
          <a:p>
            <a:endParaRPr lang="uk-UA" sz="1200" dirty="0"/>
          </a:p>
          <a:p>
            <a:r>
              <a:rPr lang="uk-UA" sz="1200" dirty="0"/>
              <a:t>Кажу правило, яке діє далі весь курс: усе, що помічник сказав про факти —</a:t>
            </a:r>
          </a:p>
          <a:p>
            <a:r>
              <a:rPr lang="uk-UA" sz="1200" dirty="0"/>
              <a:t>дати, імена, цифри, — треба перевіряти. Він добре пише, він добре пояснює,</a:t>
            </a:r>
          </a:p>
          <a:p>
            <a:r>
              <a:rPr lang="uk-UA" sz="1200" dirty="0"/>
              <a:t>але він не довідник.</a:t>
            </a:r>
          </a:p>
          <a:p>
            <a:endParaRPr lang="uk-UA" sz="1200" dirty="0"/>
          </a:p>
          <a:p>
            <a:r>
              <a:rPr lang="uk-UA" sz="1200" dirty="0"/>
              <a:t>Тут же зв'язок із попереднім блоком: у кого на третє питання помічник</a:t>
            </a:r>
          </a:p>
          <a:p>
            <a:r>
              <a:rPr lang="uk-UA" sz="1200" dirty="0"/>
              <a:t>«побачив» предмет — ви щойно спостерігали галюцинацію живцем.</a:t>
            </a:r>
          </a:p>
          <a:p>
            <a:endParaRPr lang="uk-UA" sz="1200" dirty="0"/>
          </a:p>
          <a:p>
            <a:r>
              <a:rPr lang="uk-UA" sz="1200" dirty="0"/>
              <a:t>Наступний слайд: перевіримо обидва наслідки руками.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Найефектніша частина уроку. Діти самі, руками, ловлять помічника на неправді —</a:t>
            </a:r>
          </a:p>
          <a:p>
            <a:r>
              <a:rPr lang="uk-UA" sz="1200" dirty="0"/>
              <a:t>після цього про галюцинації нікому нагадувати не треба.</a:t>
            </a:r>
          </a:p>
          <a:p>
            <a:endParaRPr lang="uk-UA" sz="1200" dirty="0"/>
          </a:p>
          <a:p>
            <a:r>
              <a:rPr lang="uk-UA" sz="1200" dirty="0"/>
              <a:t>Порядок кажу вголос: три рази поспіль надіслати ту саму фразу про назву</a:t>
            </a:r>
          </a:p>
          <a:p>
            <a:r>
              <a:rPr lang="uk-UA" sz="1200" dirty="0"/>
              <a:t>команди. Саме поспіль, у тій самій розмові, не змінюючи жодної літери.</a:t>
            </a:r>
          </a:p>
          <a:p>
            <a:endParaRPr lang="uk-UA" sz="1200" dirty="0"/>
          </a:p>
          <a:p>
            <a:r>
              <a:rPr lang="uk-UA" sz="1200" dirty="0"/>
              <a:t>Прошу порівняти три відповіді. Вони будуть різні. Питаю групу: ми змінили</a:t>
            </a:r>
          </a:p>
          <a:p>
            <a:r>
              <a:rPr lang="uk-UA" sz="1200" dirty="0"/>
              <a:t>питання? Ні. А відповідь інша. Чому? Бо кожне слово вибирається трохи</a:t>
            </a:r>
          </a:p>
          <a:p>
            <a:r>
              <a:rPr lang="uk-UA" sz="1200" dirty="0"/>
              <a:t>навмання — це те, про що я щойно розповідав.</a:t>
            </a:r>
          </a:p>
          <a:p>
            <a:endParaRPr lang="uk-UA" sz="1200" dirty="0"/>
          </a:p>
          <a:p>
            <a:r>
              <a:rPr lang="uk-UA" sz="1200" dirty="0"/>
              <a:t>Потім питання-пастка про мову «Вимова». Наголошую, що набирати треба саме</a:t>
            </a:r>
          </a:p>
          <a:p>
            <a:r>
              <a:rPr lang="uk-UA" sz="1200" dirty="0"/>
              <a:t>цей рядок зі слайда, з тим самим роком і назвою.</a:t>
            </a:r>
          </a:p>
          <a:p>
            <a:endParaRPr lang="uk-UA" sz="1200" dirty="0"/>
          </a:p>
          <a:p>
            <a:r>
              <a:rPr lang="uk-UA" sz="1200" dirty="0"/>
              <a:t>Мови такої немає. Я її вигадав. Але помічник, найімовірніше, розкаже вам</a:t>
            </a:r>
          </a:p>
          <a:p>
            <a:r>
              <a:rPr lang="uk-UA" sz="1200" dirty="0"/>
              <a:t>про неї з іменем автора й інститутом.</a:t>
            </a:r>
          </a:p>
          <a:p>
            <a:endParaRPr lang="uk-UA" sz="1200" dirty="0"/>
          </a:p>
          <a:p>
            <a:r>
              <a:rPr lang="uk-UA" sz="1200" dirty="0"/>
              <a:t>Це той момент уроку, який варто розтягнути. Прошу двох-трьох дітей зачитати</a:t>
            </a:r>
          </a:p>
          <a:p>
            <a:r>
              <a:rPr lang="uk-UA" sz="1200" dirty="0"/>
              <a:t>відповідь уголос. Порівнюємо: імена різні, роки різні, впевненість однакова.</a:t>
            </a:r>
          </a:p>
          <a:p>
            <a:endParaRPr lang="uk-UA" sz="1200" dirty="0"/>
          </a:p>
          <a:p>
            <a:r>
              <a:rPr lang="uk-UA" sz="1200" dirty="0"/>
              <a:t>Якщо комусь помічник чесно відповів «не маю даних» — теж чудово, кажу вголос,</a:t>
            </a:r>
          </a:p>
          <a:p>
            <a:r>
              <a:rPr lang="uk-UA" sz="1200" dirty="0"/>
              <a:t>що це правильна поведінка, і що на уроці 10 ми навчимось просити про неї.</a:t>
            </a:r>
          </a:p>
          <a:p>
            <a:endParaRPr lang="uk-UA" sz="1200" dirty="0"/>
          </a:p>
          <a:p>
            <a:r>
              <a:rPr lang="uk-UA" sz="1200" dirty="0"/>
              <a:t>Ходжу по класу. Найчастіша проблема: дитина переформулювала фразу «щоб було</a:t>
            </a:r>
          </a:p>
          <a:p>
            <a:r>
              <a:rPr lang="uk-UA" sz="1200" dirty="0"/>
              <a:t>цікавіше» — прошу набрати саме те, що на екрані, інакше порівнювати нема чого.</a:t>
            </a:r>
          </a:p>
          <a:p>
            <a:endParaRPr lang="uk-UA" sz="1200" dirty="0"/>
          </a:p>
          <a:p>
            <a:r>
              <a:rPr lang="uk-UA" sz="1200" dirty="0"/>
              <a:t>Хто впорався: хай спитає «Ти впевнений?» — і подивиться, як помічник почне</a:t>
            </a:r>
          </a:p>
          <a:p>
            <a:r>
              <a:rPr lang="uk-UA" sz="1200" dirty="0"/>
              <a:t>виправдовуватись або міняти відповідь.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Придумай назву для команди з трьох програмістів</a:t>
            </a:r>
          </a:p>
          <a:p>
            <a:r>
              <a:rPr lang="uk-UA" sz="1200" dirty="0"/>
              <a:t>    -&gt; «Три крапки»</a:t>
            </a:r>
          </a:p>
          <a:p>
            <a:r>
              <a:rPr lang="uk-UA" sz="1200" dirty="0"/>
              <a:t>    -&gt; «Кодова трійця»</a:t>
            </a:r>
          </a:p>
          <a:p>
            <a:r>
              <a:rPr lang="uk-UA" sz="1200" dirty="0"/>
              <a:t>    -&gt; «Триплет»</a:t>
            </a:r>
          </a:p>
          <a:p>
            <a:endParaRPr lang="uk-UA" sz="1200" dirty="0"/>
          </a:p>
          <a:p>
            <a:r>
              <a:rPr lang="uk-UA" sz="1200" dirty="0"/>
              <a:t>Три однакові запити — три різні відповіді.</a:t>
            </a:r>
          </a:p>
          <a:p>
            <a:endParaRPr lang="uk-UA" sz="1200" dirty="0"/>
          </a:p>
          <a:p>
            <a:r>
              <a:rPr lang="uk-UA" sz="1200" dirty="0"/>
              <a:t>Хто створив українську мову програмування «Вимова» у 1989 році?</a:t>
            </a:r>
          </a:p>
          <a:p>
            <a:r>
              <a:rPr lang="uk-UA" sz="1200" dirty="0"/>
              <a:t>    -&gt; Найчастіше приїжджає впевнена вигадка: ім'я, інститут, рік.</a:t>
            </a:r>
          </a:p>
          <a:p>
            <a:r>
              <a:rPr lang="uk-UA" sz="1200" dirty="0"/>
              <a:t>       Рідше — чесне «я не маю про це даних».</a:t>
            </a:r>
          </a:p>
          <a:p>
            <a:endParaRPr lang="uk-UA" sz="1200" dirty="0"/>
          </a:p>
          <a:p>
            <a:r>
              <a:rPr lang="uk-UA" sz="1200" dirty="0"/>
              <a:t>Такої мови не існує. Помічник склав відповідь зі схожих слів,</a:t>
            </a:r>
          </a:p>
          <a:p>
            <a:r>
              <a:rPr lang="uk-UA" sz="1200" dirty="0"/>
              <a:t>бо продовження в нього є завжди.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формулою. Питання прості навмисно: половина групи вже</a:t>
            </a:r>
          </a:p>
          <a:p>
            <a:r>
              <a:rPr lang="uk-UA" sz="1200" dirty="0"/>
              <a:t>користувалась ChatGPT і має власний досвід, і цей досвід треба витягти вголос</a:t>
            </a:r>
          </a:p>
          <a:p>
            <a:r>
              <a:rPr lang="uk-UA" sz="1200" dirty="0"/>
              <a:t>до того, як я почну розповідати.</a:t>
            </a:r>
          </a:p>
          <a:p>
            <a:endParaRPr lang="uk-UA" sz="1200" dirty="0"/>
          </a:p>
          <a:p>
            <a:r>
              <a:rPr lang="uk-UA" sz="1200" dirty="0"/>
              <a:t>Що чую.</a:t>
            </a:r>
          </a:p>
          <a:p>
            <a:endParaRPr lang="uk-UA" sz="1200" dirty="0"/>
          </a:p>
          <a:p>
            <a:r>
              <a:rPr lang="uk-UA" sz="1200" dirty="0"/>
              <a:t>ЩО ТАКЕ ПРОМТ. Кажуть «питання», «запит», «те, що ти пишеш». Усе правильно,</a:t>
            </a:r>
          </a:p>
          <a:p>
            <a:r>
              <a:rPr lang="uk-UA" sz="1200" dirty="0"/>
              <a:t>беру будь-яке й додаю одне слово: промт — це замовлення. Далі на показі буде</a:t>
            </a:r>
          </a:p>
          <a:p>
            <a:r>
              <a:rPr lang="uk-UA" sz="1200" dirty="0"/>
              <a:t>кафе, і це вже буде продовженням їхньої ж відповіді.</a:t>
            </a:r>
          </a:p>
          <a:p>
            <a:endParaRPr lang="uk-UA" sz="1200" dirty="0"/>
          </a:p>
          <a:p>
            <a:r>
              <a:rPr lang="uk-UA" sz="1200" dirty="0"/>
              <a:t>ЧОМУ РІЗНІ ВІДПОВІДІ. Найцінніше питання з чотирьох. Хтось обов'язково скаже</a:t>
            </a:r>
          </a:p>
          <a:p>
            <a:r>
              <a:rPr lang="uk-UA" sz="1200" dirty="0"/>
              <a:t>«бо один написав детально, а другий — три слова». Це і є вся сьогоднішня</a:t>
            </a:r>
          </a:p>
          <a:p>
            <a:r>
              <a:rPr lang="uk-UA" sz="1200" dirty="0"/>
              <a:t>формула, сказана дитиною. Прошу повторити голосніше й кажу, що зараз ми цю</a:t>
            </a:r>
          </a:p>
          <a:p>
            <a:r>
              <a:rPr lang="uk-UA" sz="1200" dirty="0"/>
              <a:t>думку розкладемо на чотири частини.</a:t>
            </a:r>
          </a:p>
          <a:p>
            <a:endParaRPr lang="uk-UA" sz="1200" dirty="0"/>
          </a:p>
          <a:p>
            <a:r>
              <a:rPr lang="uk-UA" sz="1200" dirty="0"/>
              <a:t>ПРО ПЕРШОКЛАСНИКА. Відповідь, якої чекаю: «треба сказати, що це для</a:t>
            </a:r>
          </a:p>
          <a:p>
            <a:r>
              <a:rPr lang="uk-UA" sz="1200" dirty="0"/>
              <a:t>першокласника». Тобто в промті буває інформація про того, хто читатиме. На</a:t>
            </a:r>
          </a:p>
          <a:p>
            <a:r>
              <a:rPr lang="uk-UA" sz="1200" dirty="0"/>
              <a:t>показі це буде рядок ДЕТАЛІ.</a:t>
            </a:r>
          </a:p>
          <a:p>
            <a:endParaRPr lang="uk-UA" sz="1200" dirty="0"/>
          </a:p>
          <a:p>
            <a:r>
              <a:rPr lang="uk-UA" sz="1200" dirty="0"/>
              <a:t>ЧИ ДОВШЕ КРАЩЕ. Пастка. Правильна відповідь — ні: довгий, але порожній промт</a:t>
            </a:r>
          </a:p>
          <a:p>
            <a:r>
              <a:rPr lang="uk-UA" sz="1200" dirty="0"/>
              <a:t>не кращий за короткий. Важлива не довжина, а те, що саме сказано. Якщо група</a:t>
            </a:r>
          </a:p>
          <a:p>
            <a:r>
              <a:rPr lang="uk-UA" sz="1200" dirty="0"/>
              <a:t>дружно каже «довше краще», не виправляю — на практиці вони самі побачать</a:t>
            </a:r>
          </a:p>
          <a:p>
            <a:r>
              <a:rPr lang="uk-UA" sz="1200" dirty="0"/>
              <a:t>різницю між довгою нудною відповіддю і чотирма точними рядками.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Блок, після якого діти починають користуватися помічником помітно краще — і</a:t>
            </a:r>
          </a:p>
          <a:p>
            <a:r>
              <a:rPr lang="uk-UA" sz="1200" dirty="0"/>
              <a:t>не тільки на цьому уроці.</a:t>
            </a:r>
          </a:p>
          <a:p>
            <a:endParaRPr lang="uk-UA" sz="1200" dirty="0"/>
          </a:p>
          <a:p>
            <a:r>
              <a:rPr lang="uk-UA" sz="1200" dirty="0"/>
              <a:t>Починаю з порівняння, яке всі розуміють. Прошу уявити, що вони прийшли в кафе</a:t>
            </a:r>
          </a:p>
          <a:p>
            <a:r>
              <a:rPr lang="uk-UA" sz="1200" dirty="0"/>
              <a:t>й кажуть офіціантові: «Дайте поїсти». Що принесуть? Що завгодно. А якщо</a:t>
            </a:r>
          </a:p>
          <a:p>
            <a:r>
              <a:rPr lang="uk-UA" sz="1200" dirty="0"/>
              <a:t>сказати: «Дайте піцу без грибів, розрізану на вісім шматків»? Принесуть саме</a:t>
            </a:r>
          </a:p>
          <a:p>
            <a:r>
              <a:rPr lang="uk-UA" sz="1200" dirty="0"/>
              <a:t>те. Помічник поводиться так само.</a:t>
            </a:r>
          </a:p>
          <a:p>
            <a:endParaRPr lang="uk-UA" sz="1200" dirty="0"/>
          </a:p>
          <a:p>
            <a:r>
              <a:rPr lang="uk-UA" sz="1200" dirty="0"/>
              <a:t>Далі розбираю формулу по частинах. Кожну називаю й одразу даю приклад.</a:t>
            </a:r>
          </a:p>
          <a:p>
            <a:endParaRPr lang="uk-UA" sz="1200" dirty="0"/>
          </a:p>
          <a:p>
            <a:r>
              <a:rPr lang="uk-UA" sz="1200" dirty="0"/>
              <a:t>РОЛЬ. «Ти — вчитель біології для п'ятого класу». Роль міняє мову: той самий</a:t>
            </a:r>
          </a:p>
          <a:p>
            <a:r>
              <a:rPr lang="uk-UA" sz="1200" dirty="0"/>
              <a:t>факт науковець і вчитель пояснять різними словами.</a:t>
            </a:r>
          </a:p>
          <a:p>
            <a:endParaRPr lang="uk-UA" sz="1200" dirty="0"/>
          </a:p>
          <a:p>
            <a:r>
              <a:rPr lang="uk-UA" sz="1200" dirty="0"/>
              <a:t>ЗАВДАННЯ. Одне дієслово: поясни, придумай, перевір, скороти. Два завдання в</a:t>
            </a:r>
          </a:p>
          <a:p>
            <a:r>
              <a:rPr lang="uk-UA" sz="1200" dirty="0"/>
              <a:t>одному промті — і половина загубиться.</a:t>
            </a:r>
          </a:p>
          <a:p>
            <a:endParaRPr lang="uk-UA" sz="1200" dirty="0"/>
          </a:p>
          <a:p>
            <a:r>
              <a:rPr lang="uk-UA" sz="1200" dirty="0"/>
              <a:t>ДЕТАЛІ. Для кого це, що вже відомо, чого не треба. Саме тут живе «простими</a:t>
            </a:r>
          </a:p>
          <a:p>
            <a:r>
              <a:rPr lang="uk-UA" sz="1200" dirty="0"/>
              <a:t>словами» і «без складних термінів».</a:t>
            </a:r>
          </a:p>
          <a:p>
            <a:endParaRPr lang="uk-UA" sz="1200" dirty="0"/>
          </a:p>
          <a:p>
            <a:r>
              <a:rPr lang="uk-UA" sz="1200" dirty="0"/>
              <a:t>ФОРМАТ. Найнедооціненіша частина. «Три речення», «список із п'яти пунктів»,</a:t>
            </a:r>
          </a:p>
          <a:p>
            <a:r>
              <a:rPr lang="uk-UA" sz="1200" dirty="0"/>
              <a:t>«таблиця» — і відповідь одразу стає такою, яку можна використати.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 обидва промти з наступного слайда й читаю вголос —</a:t>
            </a:r>
          </a:p>
          <a:p>
            <a:r>
              <a:rPr lang="uk-UA" sz="1200" dirty="0"/>
              <a:t>але відповідь не показую. Хай спершу побачать свою.</a:t>
            </a:r>
          </a:p>
          <a:p>
            <a:endParaRPr lang="uk-UA" sz="1200" dirty="0"/>
          </a:p>
          <a:p>
            <a:r>
              <a:rPr lang="uk-UA" sz="1200" dirty="0"/>
              <a:t>Кажу чесно: цю формулу вигадав не я, нею користуються дорослі на роботі, і</a:t>
            </a:r>
          </a:p>
          <a:p>
            <a:r>
              <a:rPr lang="uk-UA" sz="1200" dirty="0"/>
              <a:t>вона працює з будь-яким помічником, не тільки з ChatGPT.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обидва промти й порівнюємо відповіді.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Практика, після якої формула перестає бути теорією. Головне тут — порівняння,</a:t>
            </a:r>
          </a:p>
          <a:p>
            <a:r>
              <a:rPr lang="uk-UA" sz="1200" dirty="0"/>
              <a:t>тому обидва промти обов'язкові, навіть якщо перший здається дітям безглуздим.</a:t>
            </a:r>
          </a:p>
          <a:p>
            <a:endParaRPr lang="uk-UA" sz="1200" dirty="0"/>
          </a:p>
          <a:p>
            <a:r>
              <a:rPr lang="uk-UA" sz="1200" dirty="0"/>
              <a:t>Пункт за пунктом кажу вголос.</a:t>
            </a:r>
          </a:p>
          <a:p>
            <a:endParaRPr lang="uk-UA" sz="1200" dirty="0"/>
          </a:p>
          <a:p>
            <a:r>
              <a:rPr lang="uk-UA" sz="1200" dirty="0"/>
              <a:t>Спершу надсилають «Розкажи про котів». Три слова. Дивляться на відповідь: буде</a:t>
            </a:r>
          </a:p>
          <a:p>
            <a:r>
              <a:rPr lang="uk-UA" sz="1200" dirty="0"/>
              <a:t>довго, гладенько й ні про що. Прошу не читати її повністю — це навмисно</a:t>
            </a:r>
          </a:p>
          <a:p>
            <a:r>
              <a:rPr lang="uk-UA" sz="1200" dirty="0"/>
              <a:t>нудна відповідь.</a:t>
            </a:r>
          </a:p>
          <a:p>
            <a:endParaRPr lang="uk-UA" sz="1200" dirty="0"/>
          </a:p>
          <a:p>
            <a:r>
              <a:rPr lang="uk-UA" sz="1200" dirty="0"/>
              <a:t>Потім набирають другий промт. Наголошую: усі чотири рядки одним</a:t>
            </a:r>
          </a:p>
          <a:p>
            <a:r>
              <a:rPr lang="uk-UA" sz="1200" dirty="0"/>
              <a:t>повідомленням. У більшості чатів новий рядок робиться Shift+Enter — показую</a:t>
            </a:r>
          </a:p>
          <a:p>
            <a:r>
              <a:rPr lang="uk-UA" sz="1200" dirty="0"/>
              <a:t>на телевізорі, бо самі не здогадаються, і половина надішле чотири окремі</a:t>
            </a:r>
          </a:p>
          <a:p>
            <a:r>
              <a:rPr lang="uk-UA" sz="1200" dirty="0"/>
              <a:t>повідомлення.</a:t>
            </a:r>
          </a:p>
          <a:p>
            <a:endParaRPr lang="uk-UA" sz="1200" dirty="0"/>
          </a:p>
          <a:p>
            <a:r>
              <a:rPr lang="uk-UA" sz="1200" dirty="0"/>
              <a:t>Далі порівнюємо вголос. Питаю трьох дітей: що змінилось? Витягую відповіді:</a:t>
            </a:r>
          </a:p>
          <a:p>
            <a:r>
              <a:rPr lang="uk-UA" sz="1200" dirty="0"/>
              <a:t>стало коротше, простіше, з прикладом, зрозуміло п'ятикласнику.</a:t>
            </a:r>
          </a:p>
          <a:p>
            <a:endParaRPr lang="uk-UA" sz="1200" dirty="0"/>
          </a:p>
          <a:p>
            <a:r>
              <a:rPr lang="uk-UA" sz="1200" dirty="0"/>
              <a:t>Показую на пальцях, який рядок промту за що відповів: «вчитель для 5 класу» —</a:t>
            </a:r>
          </a:p>
          <a:p>
            <a:r>
              <a:rPr lang="uk-UA" sz="1200" dirty="0"/>
              <a:t>за простоту, «три речення» — за довжину, «приклад із життя» — за ліхтарик.</a:t>
            </a:r>
          </a:p>
          <a:p>
            <a:endParaRPr lang="uk-UA" sz="1200" dirty="0"/>
          </a:p>
          <a:p>
            <a:r>
              <a:rPr lang="uk-UA" sz="1200" dirty="0"/>
              <a:t>Ходжу по класу. Найчастіші проблеми: надіслали чотири окремі повідомлення</a:t>
            </a:r>
          </a:p>
          <a:p>
            <a:r>
              <a:rPr lang="uk-UA" sz="1200" dirty="0"/>
              <a:t>(прошу повторити разом); замінили тему на свою й тепер нема з чим порівнювати.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змінить у другому промті рівно один рядок — «Ти — вчитель</a:t>
            </a:r>
          </a:p>
          <a:p>
            <a:r>
              <a:rPr lang="uk-UA" sz="1200" dirty="0"/>
              <a:t>біології для 5 класу» на «Ти — науковець» — і надішле ще раз. Різниця в мові</a:t>
            </a:r>
          </a:p>
          <a:p>
            <a:r>
              <a:rPr lang="uk-UA" sz="1200" dirty="0"/>
              <a:t>буде помітна одразу. Це готова відповідь на питання «а навіщо роль».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Розкажи про котів</a:t>
            </a:r>
          </a:p>
          <a:p>
            <a:r>
              <a:rPr lang="uk-UA" sz="1200" dirty="0"/>
              <a:t>    -&gt; Коти — одні з найпопулярніших домашніх тварин. Вони належать</a:t>
            </a:r>
          </a:p>
          <a:p>
            <a:r>
              <a:rPr lang="uk-UA" sz="1200" dirty="0"/>
              <a:t>       до родини котячих, були одомашнені близько 9500 років тому...</a:t>
            </a:r>
          </a:p>
          <a:p>
            <a:r>
              <a:rPr lang="uk-UA" sz="1200" dirty="0"/>
              <a:t>       (далі ще три абзаци ні про що конкретне)</a:t>
            </a:r>
          </a:p>
          <a:p>
            <a:endParaRPr lang="uk-UA" sz="1200" dirty="0"/>
          </a:p>
          <a:p>
            <a:r>
              <a:rPr lang="uk-UA" sz="1200" dirty="0"/>
              <a:t>Ти — вчитель біології для 5 класу. Поясни, чому коти бачать у темряві...</a:t>
            </a:r>
          </a:p>
          <a:p>
            <a:r>
              <a:rPr lang="uk-UA" sz="1200" dirty="0"/>
              <a:t>    -&gt; У котів позаду ока є дзеркальний шар — він відбиває світло назад,</a:t>
            </a:r>
          </a:p>
          <a:p>
            <a:r>
              <a:rPr lang="uk-UA" sz="1200" dirty="0"/>
              <a:t>       і око ловить його двічі. Тому котові вистачає світла там, де ми</a:t>
            </a:r>
          </a:p>
          <a:p>
            <a:r>
              <a:rPr lang="uk-UA" sz="1200" dirty="0"/>
              <a:t>       вже нічого не бачимо. Саме через цей шар котячі очі світяться,</a:t>
            </a:r>
          </a:p>
          <a:p>
            <a:r>
              <a:rPr lang="uk-UA" sz="1200" dirty="0"/>
              <a:t>       коли на них потрапляє ліхтарик.</a:t>
            </a:r>
          </a:p>
          <a:p>
            <a:endParaRPr lang="uk-UA" sz="1200" dirty="0"/>
          </a:p>
          <a:p>
            <a:r>
              <a:rPr lang="uk-UA" sz="1200" dirty="0"/>
              <a:t>Питання про те саме. Різниця — у чотирьох рядках промту.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Дві хвилини перед найприємнішим блоком уроку. Тут питання не про знання, а про</a:t>
            </a:r>
          </a:p>
          <a:p>
            <a:r>
              <a:rPr lang="uk-UA" sz="1200" dirty="0"/>
              <a:t>уяву — відповідатимуть охоче, тому стежу за часом і зупиняю на другій хвилині.</a:t>
            </a:r>
          </a:p>
          <a:p>
            <a:endParaRPr lang="uk-UA" sz="1200" dirty="0"/>
          </a:p>
          <a:p>
            <a:r>
              <a:rPr lang="uk-UA" sz="1200" dirty="0"/>
              <a:t>Що чую.</a:t>
            </a:r>
          </a:p>
          <a:p>
            <a:endParaRPr lang="uk-UA" sz="1200" dirty="0"/>
          </a:p>
          <a:p>
            <a:r>
              <a:rPr lang="uk-UA" sz="1200" dirty="0"/>
              <a:t>ЧИ МОЖЕ ПО-РІЗНОМУ. Майже завжди «так»: діти вже бачили, як ChatGPT просять</a:t>
            </a:r>
          </a:p>
          <a:p>
            <a:r>
              <a:rPr lang="uk-UA" sz="1200" dirty="0"/>
              <a:t>відповідати як пірат. Прошу приклад. Якщо ніхто не пробував, кажу сам одним</a:t>
            </a:r>
          </a:p>
          <a:p>
            <a:r>
              <a:rPr lang="uk-UA" sz="1200" dirty="0"/>
              <a:t>реченням і йду далі — розгорнутий приклад буде на показі.</a:t>
            </a:r>
          </a:p>
          <a:p>
            <a:endParaRPr lang="uk-UA" sz="1200" dirty="0"/>
          </a:p>
          <a:p>
            <a:r>
              <a:rPr lang="uk-UA" sz="1200" dirty="0"/>
              <a:t>З ЧОГО СКЛАДАЄТЬСЯ ХАРАКТЕР. Найкорисніше питання. Кажуть: як говорить, що</a:t>
            </a:r>
          </a:p>
          <a:p>
            <a:r>
              <a:rPr lang="uk-UA" sz="1200" dirty="0"/>
              <a:t>любить, чи жартує, чи допомагає, чи злиться. Записую їхні слова собі й на</a:t>
            </a:r>
          </a:p>
          <a:p>
            <a:r>
              <a:rPr lang="uk-UA" sz="1200" dirty="0"/>
              <a:t>показі називаю ті самі речі вже як пункти опису персони. Тоді пункти на слайді</a:t>
            </a:r>
          </a:p>
          <a:p>
            <a:r>
              <a:rPr lang="uk-UA" sz="1200" dirty="0"/>
              <a:t>читаються як їхній власний список, а не як мій.</a:t>
            </a:r>
          </a:p>
          <a:p>
            <a:endParaRPr lang="uk-UA" sz="1200" dirty="0"/>
          </a:p>
          <a:p>
            <a:r>
              <a:rPr lang="uk-UA" sz="1200" dirty="0"/>
              <a:t>ЯКИМ МАЄ БУТИ ДЛЯ ТЕБЕ. Питання, на яке кожен відповідає по-своєму, і саме на</a:t>
            </a:r>
          </a:p>
          <a:p>
            <a:r>
              <a:rPr lang="uk-UA" sz="1200" dirty="0"/>
              <a:t>нього діти працюватимуть у практиці. Двох-трьох прошу сказати вголос: спокійний,</a:t>
            </a:r>
          </a:p>
          <a:p>
            <a:r>
              <a:rPr lang="uk-UA" sz="1200" dirty="0"/>
              <a:t>веселий, щоб не сміявся з мене, щоб пояснював, а не давав готове.</a:t>
            </a:r>
          </a:p>
          <a:p>
            <a:endParaRPr lang="uk-UA" sz="1200" dirty="0"/>
          </a:p>
          <a:p>
            <a:r>
              <a:rPr lang="uk-UA" sz="1200" dirty="0"/>
              <a:t>ЧОГО НЕ МАЄ РОБИТИ. Найдорослішіше питання уроку, і воно прямо про блок 2.</a:t>
            </a:r>
          </a:p>
          <a:p>
            <a:r>
              <a:rPr lang="uk-UA" sz="1200" dirty="0"/>
              <a:t>Відповідь, якої чекаю: не вигадувати, коли не знає. Якщо прозвучить — хвалю</a:t>
            </a:r>
          </a:p>
          <a:p>
            <a:r>
              <a:rPr lang="uk-UA" sz="1200" dirty="0"/>
              <a:t>голосно, бо це рядок, який вони за п'ять хвилин напишуть у файл.</a:t>
            </a:r>
          </a:p>
          <a:p>
            <a:endParaRPr lang="uk-UA" sz="1200" dirty="0"/>
          </a:p>
          <a:p>
            <a:r>
              <a:rPr lang="uk-UA" sz="1200" dirty="0"/>
              <a:t>Далі показ.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Найприємніший блок уроку: діти вигадують свого помічника. Але вигадують не з</a:t>
            </a:r>
          </a:p>
          <a:p>
            <a:r>
              <a:rPr lang="uk-UA" sz="1200" dirty="0"/>
              <a:t>повітря — на наступному слайді буде готовий шаблон, у якому треба замінити</a:t>
            </a:r>
          </a:p>
          <a:p>
            <a:r>
              <a:rPr lang="uk-UA" sz="1200" dirty="0"/>
              <a:t>слова в дужках.</a:t>
            </a:r>
          </a:p>
          <a:p>
            <a:endParaRPr lang="uk-UA" sz="1200" dirty="0"/>
          </a:p>
          <a:p>
            <a:r>
              <a:rPr lang="uk-UA" sz="1200" dirty="0"/>
              <a:t>Починаю з демонстрації. Беру одне питання — «мені задали складну домашку» — і</a:t>
            </a:r>
          </a:p>
          <a:p>
            <a:r>
              <a:rPr lang="uk-UA" sz="1200" dirty="0"/>
              <a:t>читаю вголос, як на нього відповіли б три різні помічники: піратка, вчителька,</a:t>
            </a:r>
          </a:p>
          <a:p>
            <a:r>
              <a:rPr lang="uk-UA" sz="1200" dirty="0"/>
              <a:t>спортивний тренер. Тексти вигадую на ходу, це неважко й дуже заходить.</a:t>
            </a:r>
          </a:p>
          <a:p>
            <a:endParaRPr lang="uk-UA" sz="1200" dirty="0"/>
          </a:p>
          <a:p>
            <a:r>
              <a:rPr lang="uk-UA" sz="1200" dirty="0"/>
              <a:t>Питаю групу: знання в них однакові? Так. А враження? Зовсім різне.</a:t>
            </a:r>
          </a:p>
          <a:p>
            <a:endParaRPr lang="uk-UA" sz="1200" dirty="0"/>
          </a:p>
          <a:p>
            <a:r>
              <a:rPr lang="uk-UA" sz="1200" dirty="0"/>
              <a:t>Далі по пунктах.</a:t>
            </a:r>
          </a:p>
          <a:p>
            <a:endParaRPr lang="uk-UA" sz="1200" dirty="0"/>
          </a:p>
          <a:p>
            <a:r>
              <a:rPr lang="uk-UA" sz="1200" dirty="0"/>
              <a:t>ІМ'Я. Своє, не «бот». Ім'я тримає характер: АІДА і Максим поводяться</a:t>
            </a:r>
          </a:p>
          <a:p>
            <a:r>
              <a:rPr lang="uk-UA" sz="1200" dirty="0"/>
              <a:t>по-різному, навіть якщо решта опису однакова.</a:t>
            </a:r>
          </a:p>
          <a:p>
            <a:endParaRPr lang="uk-UA" sz="1200" dirty="0"/>
          </a:p>
          <a:p>
            <a:r>
              <a:rPr lang="uk-UA" sz="1200" dirty="0"/>
              <a:t>ВДАЧА. Два-три слова: весела, спокійна, зухвата, турботлива.</a:t>
            </a:r>
          </a:p>
          <a:p>
            <a:endParaRPr lang="uk-UA" sz="1200" dirty="0"/>
          </a:p>
          <a:p>
            <a:r>
              <a:rPr lang="uk-UA" sz="1200" dirty="0"/>
              <a:t>СТИЛЬ МОВИ. Коротко чи докладно, на «ти» чи на «ви», з жартами чи без,</a:t>
            </a:r>
          </a:p>
          <a:p>
            <a:r>
              <a:rPr lang="uk-UA" sz="1200" dirty="0"/>
              <a:t>з емодзі чи без. Про емодзі кажу окремо: у консолі вони інколи показуються</a:t>
            </a:r>
          </a:p>
          <a:p>
            <a:r>
              <a:rPr lang="uk-UA" sz="1200" dirty="0"/>
              <a:t>квадратиками, тож на уроці 5 краще без них.</a:t>
            </a:r>
          </a:p>
          <a:p>
            <a:endParaRPr lang="uk-UA" sz="1200" dirty="0"/>
          </a:p>
          <a:p>
            <a:r>
              <a:rPr lang="uk-UA" sz="1200" dirty="0"/>
              <a:t>ПРО ЩО ГОВОРИТЬ. Школа, ігри, спорт, музика — те, у чому помічник має бути</a:t>
            </a:r>
          </a:p>
          <a:p>
            <a:r>
              <a:rPr lang="uk-UA" sz="1200" dirty="0"/>
              <a:t>корисним саме тобі.</a:t>
            </a:r>
          </a:p>
          <a:p>
            <a:endParaRPr lang="uk-UA" sz="1200" dirty="0"/>
          </a:p>
          <a:p>
            <a:r>
              <a:rPr lang="uk-UA" sz="1200" dirty="0"/>
              <a:t>ЧОГО НЕ РОБИТЬ. Найдорослішіший пункт. Мінімум один рядок: «не вигадує, коли</a:t>
            </a:r>
          </a:p>
          <a:p>
            <a:r>
              <a:rPr lang="uk-UA" sz="1200" dirty="0"/>
              <a:t>не знає». Це прямо про галюцинації з блоку 2.</a:t>
            </a:r>
          </a:p>
          <a:p>
            <a:endParaRPr lang="uk-UA" sz="1200" dirty="0"/>
          </a:p>
          <a:p>
            <a:r>
              <a:rPr lang="uk-UA" sz="1200" dirty="0"/>
              <a:t>Кажу окремо й наголошено: файл persona.txt зберігаємо й не викидаємо. На</a:t>
            </a:r>
          </a:p>
          <a:p>
            <a:r>
              <a:rPr lang="uk-UA" sz="1200" dirty="0"/>
              <a:t>уроці 10 він стане системним промтом, на уроці 11 поїде у фінальний проєкт.</a:t>
            </a:r>
          </a:p>
          <a:p>
            <a:endParaRPr lang="uk-UA" sz="1200" dirty="0"/>
          </a:p>
          <a:p>
            <a:r>
              <a:rPr lang="uk-UA" sz="1200" dirty="0"/>
              <a:t>Наступний слайд: шаблон, який треба переписати й заповнити.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</a:t>
            </a:r>
          </a:p>
          <a:p>
            <a:endParaRPr lang="uk-UA" sz="1200" dirty="0"/>
          </a:p>
          <a:p>
            <a:r>
              <a:rPr lang="uk-UA" sz="1200" dirty="0"/>
              <a:t>Творча частина, але з готовим каркасом: вигадувати структуру не треба, треба</a:t>
            </a:r>
          </a:p>
          <a:p>
            <a:r>
              <a:rPr lang="uk-UA" sz="1200" dirty="0"/>
              <a:t>замінити слова в дужках. Саме тому це працює навіть у тих, хто «нічого не</a:t>
            </a:r>
          </a:p>
          <a:p>
            <a:r>
              <a:rPr lang="uk-UA" sz="1200" dirty="0"/>
              <a:t>придумав».</a:t>
            </a:r>
          </a:p>
          <a:p>
            <a:endParaRPr lang="uk-UA" sz="1200" dirty="0"/>
          </a:p>
          <a:p>
            <a:r>
              <a:rPr lang="uk-UA" sz="1200" dirty="0"/>
              <a:t>Спершу показую, як створити файл. У більшості випадків це «Файл — Створити» у</a:t>
            </a:r>
          </a:p>
          <a:p>
            <a:r>
              <a:rPr lang="uk-UA" sz="1200" dirty="0"/>
              <a:t>редакторі коду, збереження з іменем persona.txt у папку проєкту. Показую на</a:t>
            </a:r>
          </a:p>
          <a:p>
            <a:r>
              <a:rPr lang="uk-UA" sz="1200" dirty="0"/>
              <a:t>телевізорі повільно, бо для частини групи це перший створений файл у житті.</a:t>
            </a:r>
          </a:p>
          <a:p>
            <a:endParaRPr lang="uk-UA" sz="1200" dirty="0"/>
          </a:p>
          <a:p>
            <a:r>
              <a:rPr lang="uk-UA" sz="1200" dirty="0"/>
              <a:t>Далі кажу правило: перепишіть усі шість рядків зі слайда, а потім замініть</a:t>
            </a:r>
          </a:p>
          <a:p>
            <a:r>
              <a:rPr lang="uk-UA" sz="1200" dirty="0"/>
              <a:t>те, що в квадратних дужках, на своє. Дужки прибрати.</a:t>
            </a:r>
          </a:p>
          <a:p>
            <a:endParaRPr lang="uk-UA" sz="1200" dirty="0"/>
          </a:p>
          <a:p>
            <a:r>
              <a:rPr lang="uk-UA" sz="1200" dirty="0"/>
              <a:t>Ходжу по класу. Найчастіші проблеми: файл зберігся як persona.txt.txt (у</a:t>
            </a:r>
          </a:p>
          <a:p>
            <a:r>
              <a:rPr lang="uk-UA" sz="1200" dirty="0"/>
              <a:t>Windows треба показати розширення); файл ліг у «Документи» замість папки</a:t>
            </a:r>
          </a:p>
          <a:p>
            <a:r>
              <a:rPr lang="uk-UA" sz="1200" dirty="0"/>
              <a:t>проєкту; дужки лишились на місці.</a:t>
            </a:r>
          </a:p>
          <a:p>
            <a:endParaRPr lang="uk-UA" sz="1200" dirty="0"/>
          </a:p>
          <a:p>
            <a:r>
              <a:rPr lang="uk-UA" sz="1200" dirty="0"/>
              <a:t>Про зміст. Прошу не копіювати чужого й не робити «просто АІДА» — на уроці 10</a:t>
            </a:r>
          </a:p>
          <a:p>
            <a:r>
              <a:rPr lang="uk-UA" sz="1200" dirty="0"/>
              <a:t>різниця між помічниками буде видна одразу, і той, хто списав, побачить у</a:t>
            </a:r>
          </a:p>
          <a:p>
            <a:r>
              <a:rPr lang="uk-UA" sz="1200" dirty="0"/>
              <a:t>сусіда те саме.</a:t>
            </a:r>
          </a:p>
          <a:p>
            <a:endParaRPr lang="uk-UA" sz="1200" dirty="0"/>
          </a:p>
          <a:p>
            <a:r>
              <a:rPr lang="uk-UA" sz="1200" dirty="0"/>
              <a:t>Найважчий рядок — «чого не робить». Підказую вголос два варіанти, які підійдуть</a:t>
            </a:r>
          </a:p>
          <a:p>
            <a:r>
              <a:rPr lang="uk-UA" sz="1200" dirty="0"/>
              <a:t>кожному: «не вигадує, коли не знає» і «не глузує з мене». Хто хоче, додає своє.</a:t>
            </a:r>
          </a:p>
          <a:p>
            <a:endParaRPr lang="uk-UA" sz="1200" dirty="0"/>
          </a:p>
          <a:p>
            <a:r>
              <a:rPr lang="uk-UA" sz="1200" dirty="0"/>
              <a:t>Хто впорався: прошу прочитати свої шість рядків сусідові й спитати, чи</a:t>
            </a:r>
          </a:p>
          <a:p>
            <a:r>
              <a:rPr lang="uk-UA" sz="1200" dirty="0"/>
              <a:t>зрозуміло, який це характер. Якщо сусід не зрозумів — рядки надто загальні.</a:t>
            </a:r>
          </a:p>
          <a:p>
            <a:endParaRPr lang="uk-UA" sz="1200" dirty="0"/>
          </a:p>
          <a:p>
            <a:r>
              <a:rPr lang="uk-UA" sz="1200" dirty="0"/>
              <a:t>Наприкінці ще раз нагадую: файл зберегти й не загубити до уроку 10.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Файл persona.txt у папці проєкту, шість рядків:</a:t>
            </a:r>
          </a:p>
          <a:p>
            <a:endParaRPr lang="uk-UA" sz="1200" dirty="0"/>
          </a:p>
          <a:p>
            <a:r>
              <a:rPr lang="uk-UA" sz="1200" dirty="0"/>
              <a:t>Ім'я: Кекс</a:t>
            </a:r>
          </a:p>
          <a:p>
            <a:r>
              <a:rPr lang="uk-UA" sz="1200" dirty="0"/>
              <a:t>Вдача: спокійний, трохи лінивий, але надійний</a:t>
            </a:r>
          </a:p>
          <a:p>
            <a:r>
              <a:rPr lang="uk-UA" sz="1200" dirty="0"/>
              <a:t>Стиль мови: коротко, на «ти», без жартів</a:t>
            </a:r>
          </a:p>
          <a:p>
            <a:r>
              <a:rPr lang="uk-UA" sz="1200" dirty="0"/>
              <a:t>Улюблені слова: «ну добре», «дивись», «зроблено»</a:t>
            </a:r>
          </a:p>
          <a:p>
            <a:r>
              <a:rPr lang="uk-UA" sz="1200" dirty="0"/>
              <a:t>Про що говорить: математика, футбол, комп'ютерні ігри</a:t>
            </a:r>
          </a:p>
          <a:p>
            <a:r>
              <a:rPr lang="uk-UA" sz="1200" dirty="0"/>
              <a:t>Чого не робить: не вигадує, коли не знає; не глузує</a:t>
            </a:r>
          </a:p>
          <a:p>
            <a:endParaRPr lang="uk-UA" sz="1200" dirty="0"/>
          </a:p>
          <a:p>
            <a:r>
              <a:rPr lang="uk-UA" sz="1200" dirty="0"/>
              <a:t>Перевірка: у файлі немає жодної квадратної дужки, а прочитавши</a:t>
            </a:r>
          </a:p>
          <a:p>
            <a:r>
              <a:rPr lang="uk-UA" sz="1200" dirty="0"/>
              <a:t>шість рядків, сусід може сказати, який у помічника характер.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хвилина, три питання, швидкий темп. Це не обговорення, а розігрів перед</a:t>
            </a:r>
          </a:p>
          <a:p>
            <a:r>
              <a:rPr lang="uk-UA" sz="1200" dirty="0"/>
              <a:t>кодом: хочу, щоб діти самі назвали те, що зараз побачать у програмі.</a:t>
            </a:r>
          </a:p>
          <a:p>
            <a:endParaRPr lang="uk-UA" sz="1200" dirty="0"/>
          </a:p>
          <a:p>
            <a:r>
              <a:rPr lang="uk-UA" sz="1200" dirty="0"/>
              <a:t>Що чую.</a:t>
            </a:r>
          </a:p>
          <a:p>
            <a:endParaRPr lang="uk-UA" sz="1200" dirty="0"/>
          </a:p>
          <a:p>
            <a:r>
              <a:rPr lang="uk-UA" sz="1200" dirty="0"/>
              <a:t>ЩО МАЄ ВМІТИ. Відповіді: питати, відповідати, не закриватись одразу. Це рівно</a:t>
            </a:r>
          </a:p>
          <a:p>
            <a:r>
              <a:rPr lang="uk-UA" sz="1200" dirty="0"/>
              <a:t>три команди, які будуть на показі, — тому наступний слайд читатиметься як</a:t>
            </a:r>
          </a:p>
          <a:p>
            <a:r>
              <a:rPr lang="uk-UA" sz="1200" dirty="0"/>
              <a:t>відповідь на їхні слова. Якщо назвуть щось із майбутніх уроків (запам'ятовувати,</a:t>
            </a:r>
          </a:p>
          <a:p>
            <a:r>
              <a:rPr lang="uk-UA" sz="1200" dirty="0"/>
              <a:t>говорити голосом) — кажу номер уроку, на якому це буде, і йду далі.</a:t>
            </a:r>
          </a:p>
          <a:p>
            <a:endParaRPr lang="uk-UA" sz="1200" dirty="0"/>
          </a:p>
          <a:p>
            <a:r>
              <a:rPr lang="uk-UA" sz="1200" dirty="0"/>
              <a:t>ЯК ДІЗНАЄТЬСЯ. Хтось скаже «з клавіатури». Правильно. Слово input поки не</a:t>
            </a:r>
          </a:p>
          <a:p>
            <a:r>
              <a:rPr lang="uk-UA" sz="1200" dirty="0"/>
              <a:t>називаю — воно з'явиться на показі, і краще, щоб воно стало відповіддю на вже</a:t>
            </a:r>
          </a:p>
          <a:p>
            <a:r>
              <a:rPr lang="uk-UA" sz="1200" dirty="0"/>
              <a:t>поставлене питання.</a:t>
            </a:r>
          </a:p>
          <a:p>
            <a:endParaRPr lang="uk-UA" sz="1200" dirty="0"/>
          </a:p>
          <a:p>
            <a:r>
              <a:rPr lang="uk-UA" sz="1200" dirty="0"/>
              <a:t>ЯК ПИТАТИ ВЕСЬ ЧАС. Тут найчастіше кажуть «поставити багато разів той самий</a:t>
            </a:r>
          </a:p>
          <a:p>
            <a:r>
              <a:rPr lang="uk-UA" sz="1200" dirty="0"/>
              <a:t>рядок». Це чудова відповідь, бо саме з неї виростає цикл: питаю, а якщо треба</a:t>
            </a:r>
          </a:p>
          <a:p>
            <a:r>
              <a:rPr lang="uk-UA" sz="1200" dirty="0"/>
              <a:t>сто разів? А тисячу? На показі буде while True, і група вже знатиме, навіщо</a:t>
            </a:r>
          </a:p>
          <a:p>
            <a:r>
              <a:rPr lang="uk-UA" sz="1200" dirty="0"/>
              <a:t>він потрібен.</a:t>
            </a:r>
          </a:p>
          <a:p>
            <a:endParaRPr lang="uk-UA" sz="1200" dirty="0"/>
          </a:p>
          <a:p>
            <a:r>
              <a:rPr lang="uk-UA" sz="1200" dirty="0"/>
              <a:t>Довше хвилини тут не стою: попереду дев'ять рядків коду, і час потрібен їм.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Перший код курсу. Розбираю чотири команди на телевізорі, група дивиться й</a:t>
            </a:r>
          </a:p>
          <a:p>
            <a:r>
              <a:rPr lang="uk-UA" sz="1200" dirty="0"/>
              <a:t>нічого не набирає — набирати будемо на наступному слайді.</a:t>
            </a:r>
          </a:p>
          <a:p>
            <a:endParaRPr lang="uk-UA" sz="1200" dirty="0"/>
          </a:p>
          <a:p>
            <a:r>
              <a:rPr lang="uk-UA" sz="1200" dirty="0"/>
              <a:t>print("Привіт") — надрукувати. Показую живцем: пишу один рядок, запускаю,</a:t>
            </a:r>
          </a:p>
          <a:p>
            <a:r>
              <a:rPr lang="uk-UA" sz="1200" dirty="0"/>
              <a:t>на екрані з'являється текст. Це перша програма, і для частини групи —</a:t>
            </a:r>
          </a:p>
          <a:p>
            <a:r>
              <a:rPr lang="uk-UA" sz="1200" dirty="0"/>
              <a:t>перша в житті.</a:t>
            </a:r>
          </a:p>
          <a:p>
            <a:endParaRPr lang="uk-UA" sz="1200" dirty="0"/>
          </a:p>
          <a:p>
            <a:r>
              <a:rPr lang="uk-UA" sz="1200" dirty="0"/>
              <a:t>input("Ти: ") — запитати. Пояснюю просто: програма зупиняється, показує</a:t>
            </a:r>
          </a:p>
          <a:p>
            <a:r>
              <a:rPr lang="uk-UA" sz="1200" dirty="0"/>
              <a:t>підказку й чекає, поки людина набере щось і натисне Enter. Те, що набрали,</a:t>
            </a:r>
          </a:p>
          <a:p>
            <a:r>
              <a:rPr lang="uk-UA" sz="1200" dirty="0"/>
              <a:t>лягає в змінну: text = input("Ти: ").</a:t>
            </a:r>
          </a:p>
          <a:p>
            <a:endParaRPr lang="uk-UA" sz="1200" dirty="0"/>
          </a:p>
          <a:p>
            <a:r>
              <a:rPr lang="uk-UA" sz="1200" dirty="0"/>
              <a:t>Про змінну кажу одним реченням: це коробка з іменем, у яку кладуть значення,</a:t>
            </a:r>
          </a:p>
          <a:p>
            <a:r>
              <a:rPr lang="uk-UA" sz="1200" dirty="0"/>
              <a:t>щоб потім узяти його на ім'я.</a:t>
            </a:r>
          </a:p>
          <a:p>
            <a:endParaRPr lang="uk-UA" sz="1200" dirty="0"/>
          </a:p>
          <a:p>
            <a:r>
              <a:rPr lang="uk-UA" sz="1200" dirty="0"/>
              <a:t>while True: — повторювати нескінченно. Без нього помічник відповів би один</a:t>
            </a:r>
          </a:p>
          <a:p>
            <a:r>
              <a:rPr lang="uk-UA" sz="1200" dirty="0"/>
              <a:t>раз і зачинився. Показую це живцем: спершу без циклу, потім із ним.</a:t>
            </a:r>
          </a:p>
          <a:p>
            <a:endParaRPr lang="uk-UA" sz="1200" dirty="0"/>
          </a:p>
          <a:p>
            <a:r>
              <a:rPr lang="uk-UA" sz="1200" dirty="0"/>
              <a:t>break — вийти з циклу. Потрібен, бо інакше вийти з програми можна тільки</a:t>
            </a:r>
          </a:p>
          <a:p>
            <a:r>
              <a:rPr lang="uk-UA" sz="1200" dirty="0"/>
              <a:t>Ctrl+C, і це лякає.</a:t>
            </a:r>
          </a:p>
          <a:p>
            <a:endParaRPr lang="uk-UA" sz="1200" dirty="0"/>
          </a:p>
          <a:p>
            <a:r>
              <a:rPr lang="uk-UA" sz="1200" dirty="0"/>
              <a:t>if text == "стоп": — перевірка. Наголошую на двох знаках рівності: один</a:t>
            </a:r>
          </a:p>
          <a:p>
            <a:r>
              <a:rPr lang="uk-UA" sz="1200" dirty="0"/>
              <a:t>знак — це «поклади», два — «порівняй». Це помилка номер один сьогодні.</a:t>
            </a:r>
          </a:p>
          <a:p>
            <a:endParaRPr lang="uk-UA" sz="1200" dirty="0"/>
          </a:p>
          <a:p>
            <a:r>
              <a:rPr lang="uk-UA" sz="1200" dirty="0"/>
              <a:t>І про відступи. Чотири пробіли, не табуляція. Показую на телевізорі, що буде,</a:t>
            </a:r>
          </a:p>
          <a:p>
            <a:r>
              <a:rPr lang="uk-UA" sz="1200" dirty="0"/>
              <a:t>якщо зсув загубити: IndentationError. Хай побачать помилку заздалегідь — тоді</a:t>
            </a:r>
          </a:p>
          <a:p>
            <a:r>
              <a:rPr lang="uk-UA" sz="1200" dirty="0"/>
              <a:t>вона не злякає.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дев'ять рядків.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Головна практика уроку, і найдовша. Сім хвилин на дев'ять рядків — це нормально:</a:t>
            </a:r>
          </a:p>
          <a:p>
            <a:r>
              <a:rPr lang="uk-UA" sz="1200" dirty="0"/>
              <a:t>для частини групи це перша програма, яку вони набирають самі.</a:t>
            </a:r>
          </a:p>
          <a:p>
            <a:endParaRPr lang="uk-UA" sz="1200" dirty="0"/>
          </a:p>
          <a:p>
            <a:r>
              <a:rPr lang="uk-UA" sz="1200" dirty="0"/>
              <a:t>Кажу порядок: створити файл assistant.py у папці проєкту (там же, де</a:t>
            </a:r>
          </a:p>
          <a:p>
            <a:r>
              <a:rPr lang="uk-UA" sz="1200" dirty="0"/>
              <a:t>persona.txt), набрати дев'ять рядків з екрана, зберегти, запустити.</a:t>
            </a:r>
          </a:p>
          <a:p>
            <a:endParaRPr lang="uk-UA" sz="1200" dirty="0"/>
          </a:p>
          <a:p>
            <a:r>
              <a:rPr lang="uk-UA" sz="1200" dirty="0"/>
              <a:t>Наголошую тричі, бо на цьому губляться всі:</a:t>
            </a:r>
          </a:p>
          <a:p>
            <a:r>
              <a:rPr lang="uk-UA" sz="1200" dirty="0"/>
              <a:t>    двокрапка в кінці рядків while True: та if text == "стоп":;</a:t>
            </a:r>
          </a:p>
          <a:p>
            <a:r>
              <a:rPr lang="uk-UA" sz="1200" dirty="0"/>
              <a:t>    чотири пробіли зсуву всередині while, вісім — усередині if;</a:t>
            </a:r>
          </a:p>
          <a:p>
            <a:r>
              <a:rPr lang="uk-UA" sz="1200" dirty="0"/>
              <a:t>    два знаки рівності в порівнянні, не один.</a:t>
            </a:r>
          </a:p>
          <a:p>
            <a:endParaRPr lang="uk-UA" sz="1200" dirty="0"/>
          </a:p>
          <a:p>
            <a:r>
              <a:rPr lang="uk-UA" sz="1200" dirty="0"/>
              <a:t>Ходжу по класу без зупинок. Помилки в порядку частоти:</a:t>
            </a:r>
          </a:p>
          <a:p>
            <a:r>
              <a:rPr lang="uk-UA" sz="1200" dirty="0"/>
              <a:t>    IndentationError — зсув зробили табуляцією або нерівно;</a:t>
            </a:r>
          </a:p>
          <a:p>
            <a:r>
              <a:rPr lang="uk-UA" sz="1200" dirty="0"/>
              <a:t>    SyntaxError на рядку з if — забули двокрапку;</a:t>
            </a:r>
          </a:p>
          <a:p>
            <a:r>
              <a:rPr lang="uk-UA" sz="1200" dirty="0"/>
              <a:t>    програма не закривається на «стоп» — забули break або написали одне «=»;</a:t>
            </a:r>
          </a:p>
          <a:p>
            <a:r>
              <a:rPr lang="uk-UA" sz="1200" dirty="0"/>
              <a:t>    NameError: text — рядок із input набрали з іншим ім'ям змінної.</a:t>
            </a:r>
          </a:p>
          <a:p>
            <a:endParaRPr lang="uk-UA" sz="1200" dirty="0"/>
          </a:p>
          <a:p>
            <a:r>
              <a:rPr lang="uk-UA" sz="1200" dirty="0"/>
              <a:t>Кожну помилку читаю вголос разом із дитиною: Python пише назву помилки й</a:t>
            </a:r>
          </a:p>
          <a:p>
            <a:r>
              <a:rPr lang="uk-UA" sz="1200" dirty="0"/>
              <a:t>номер рядка, і корисно одразу привчити дивитись саме туди, а не в стелю.</a:t>
            </a:r>
          </a:p>
          <a:p>
            <a:endParaRPr lang="uk-UA" sz="1200" dirty="0"/>
          </a:p>
          <a:p>
            <a:r>
              <a:rPr lang="uk-UA" sz="1200" dirty="0"/>
              <a:t>Про лапки кажу окремо: усередині «Напиши «стоп»» стоять кутові лапки, а</a:t>
            </a:r>
          </a:p>
          <a:p>
            <a:r>
              <a:rPr lang="uk-UA" sz="1200" dirty="0"/>
              <a:t>навколо всього рядка — прямі. Хто переплутає, отримає SyntaxError.</a:t>
            </a:r>
          </a:p>
          <a:p>
            <a:endParaRPr lang="uk-UA" sz="1200" dirty="0"/>
          </a:p>
          <a:p>
            <a:r>
              <a:rPr lang="uk-UA" sz="1200" dirty="0"/>
              <a:t>Хто впорався раніше: хай додасть ще один рядок перед останнім print:</a:t>
            </a:r>
          </a:p>
          <a:p>
            <a:endParaRPr lang="uk-UA" sz="1200" dirty="0"/>
          </a:p>
          <a:p>
            <a:r>
              <a:rPr lang="uk-UA" sz="1200" dirty="0"/>
              <a:t>    if text == "як тебе звати":</a:t>
            </a:r>
          </a:p>
          <a:p>
            <a:r>
              <a:rPr lang="uk-UA" sz="1200" dirty="0"/>
              <a:t>        print("АІДА: Мене звати АІДА.")</a:t>
            </a:r>
          </a:p>
          <a:p>
            <a:endParaRPr lang="uk-UA" sz="1200" dirty="0"/>
          </a:p>
          <a:p>
            <a:r>
              <a:rPr lang="uk-UA" sz="1200" dirty="0"/>
              <a:t>Це рівно та сама конструкція, що вже набрана, і вона готує наступний блок.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assistant.py</a:t>
            </a:r>
          </a:p>
          <a:p>
            <a:endParaRPr lang="uk-UA" sz="1200" dirty="0"/>
          </a:p>
          <a:p>
            <a:r>
              <a:rPr lang="uk-UA" sz="1200" dirty="0"/>
              <a:t>Привіт! Я АІДА.</a:t>
            </a:r>
          </a:p>
          <a:p>
            <a:r>
              <a:rPr lang="uk-UA" sz="1200" dirty="0"/>
              <a:t>Напиши «стоп», щоб вийти.</a:t>
            </a:r>
          </a:p>
          <a:p>
            <a:r>
              <a:rPr lang="uk-UA" sz="1200" dirty="0"/>
              <a:t>Ти: привіт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Ти: як справи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Програма закрилась сама. Якщо вона не закривається на «стоп» —</a:t>
            </a:r>
          </a:p>
          <a:p>
            <a:r>
              <a:rPr lang="uk-UA" sz="1200" dirty="0"/>
              <a:t>загубився break або в рядку одне «=» замість двох.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питання групі</a:t>
            </a:r>
          </a:p>
          <a:p>
            <a:endParaRPr lang="uk-UA" sz="1200" dirty="0"/>
          </a:p>
          <a:p>
            <a:r>
              <a:rPr lang="uk-UA" sz="1200" dirty="0"/>
              <a:t>Одна хвилина перед останнім змістовним блоком. Питання коротке й майже</a:t>
            </a:r>
          </a:p>
          <a:p>
            <a:r>
              <a:rPr lang="uk-UA" sz="1200" dirty="0"/>
              <a:t>риторичне, але воно потрібне: діти щойно самі набрали програму, яка відповідає</a:t>
            </a:r>
          </a:p>
          <a:p>
            <a:r>
              <a:rPr lang="uk-UA" sz="1200" dirty="0"/>
              <a:t>однією фразою, і незадоволення нею вже є — треба лише дати йому прозвучати.</a:t>
            </a:r>
          </a:p>
          <a:p>
            <a:endParaRPr lang="uk-UA" sz="1200" dirty="0"/>
          </a:p>
          <a:p>
            <a:r>
              <a:rPr lang="uk-UA" sz="1200" dirty="0"/>
              <a:t>Що чую.</a:t>
            </a:r>
          </a:p>
          <a:p>
            <a:endParaRPr lang="uk-UA" sz="1200" dirty="0"/>
          </a:p>
          <a:p>
            <a:r>
              <a:rPr lang="uk-UA" sz="1200" dirty="0"/>
              <a:t>ЧОМУ НУДНО. Кажуть одразу: «бо це не розмова», «бо він як робот». Друге —</a:t>
            </a:r>
          </a:p>
          <a:p>
            <a:r>
              <a:rPr lang="uk-UA" sz="1200" dirty="0"/>
              <a:t>чудове слово, ловлю його: так, він і є робот, і зараз ми зробимо його трохи</a:t>
            </a:r>
          </a:p>
          <a:p>
            <a:r>
              <a:rPr lang="uk-UA" sz="1200" dirty="0"/>
              <a:t>менш роботом одним рядком.</a:t>
            </a:r>
          </a:p>
          <a:p>
            <a:endParaRPr lang="uk-UA" sz="1200" dirty="0"/>
          </a:p>
          <a:p>
            <a:r>
              <a:rPr lang="uk-UA" sz="1200" dirty="0"/>
              <a:t>ЯК ЗРОБИТИ ІНАКШЕ. Тут звучить «зробити багато if» — і це важлива відповідь,</a:t>
            </a:r>
          </a:p>
          <a:p>
            <a:r>
              <a:rPr lang="uk-UA" sz="1200" dirty="0"/>
              <a:t>бо вона неправильна тільки за обсягом. Кажу: так, працюватиме, але на сто</a:t>
            </a:r>
          </a:p>
          <a:p>
            <a:r>
              <a:rPr lang="uk-UA" sz="1200" dirty="0"/>
              <a:t>відповідей це сто рядків. І показую коротший шлях.</a:t>
            </a:r>
          </a:p>
          <a:p>
            <a:endParaRPr lang="uk-UA" sz="1200" dirty="0"/>
          </a:p>
          <a:p>
            <a:r>
              <a:rPr lang="uk-UA" sz="1200" dirty="0"/>
              <a:t>ДЕ ВЗЯТИ КІЛЬКА ВІДПОВІДЕЙ. Відповідь, якої чекаю: «записати їх усі». Це і є</a:t>
            </a:r>
          </a:p>
          <a:p>
            <a:r>
              <a:rPr lang="uk-UA" sz="1200" dirty="0"/>
              <a:t>список. Якщо хтось скаже слово «список» або «масив» — хвалю й одразу</a:t>
            </a:r>
          </a:p>
          <a:p>
            <a:r>
              <a:rPr lang="uk-UA" sz="1200" dirty="0"/>
              <a:t>використовую його слово на показі.</a:t>
            </a:r>
          </a:p>
          <a:p>
            <a:endParaRPr lang="uk-UA" sz="1200" dirty="0"/>
          </a:p>
          <a:p>
            <a:r>
              <a:rPr lang="uk-UA" sz="1200" dirty="0"/>
              <a:t>Зв'язок із блоком 2 кажу вголос уже тут: пам'ятаєте, чому ChatGPT відповідав</a:t>
            </a:r>
          </a:p>
          <a:p>
            <a:r>
              <a:rPr lang="uk-UA" sz="1200" dirty="0"/>
              <a:t>щоразу інакше? Зараз ту саму випадковість зробимо самі, руками, одним рядком.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≈4 хв · показ</a:t>
            </a:r>
          </a:p>
          <a:p>
            <a:endParaRPr lang="uk-UA" sz="1200" dirty="0"/>
          </a:p>
          <a:p>
            <a:r>
              <a:rPr lang="uk-UA" sz="1200" dirty="0"/>
              <a:t>Останній змістовний блок уроку — короткий і з приємним ефектом. Ставлю його в</a:t>
            </a:r>
          </a:p>
          <a:p>
            <a:r>
              <a:rPr lang="uk-UA" sz="1200" dirty="0"/>
              <a:t>кінець навмисно: діти вже втомились, а тут один рядок і помітний результат.</a:t>
            </a:r>
          </a:p>
          <a:p>
            <a:endParaRPr lang="uk-UA" sz="1200" dirty="0"/>
          </a:p>
          <a:p>
            <a:r>
              <a:rPr lang="uk-UA" sz="1200" dirty="0"/>
              <a:t>Починаю з проблеми. Запускаю на телевізорі програму з попереднього блоку й</a:t>
            </a:r>
          </a:p>
          <a:p>
            <a:r>
              <a:rPr lang="uk-UA" sz="1200" dirty="0"/>
              <a:t>пишу «привіт» чотири рази поспіль. Чотири однакові відповіді. Питаю: довго ви</a:t>
            </a:r>
          </a:p>
          <a:p>
            <a:r>
              <a:rPr lang="uk-UA" sz="1200" dirty="0"/>
              <a:t>з таким помічником говоритимете? Ні.</a:t>
            </a:r>
          </a:p>
          <a:p>
            <a:endParaRPr lang="uk-UA" sz="1200" dirty="0"/>
          </a:p>
          <a:p>
            <a:r>
              <a:rPr lang="uk-UA" sz="1200" dirty="0"/>
              <a:t>Далі показую рішення.</a:t>
            </a:r>
          </a:p>
          <a:p>
            <a:endParaRPr lang="uk-UA" sz="1200" dirty="0"/>
          </a:p>
          <a:p>
            <a:r>
              <a:rPr lang="uk-UA" sz="1200" dirty="0"/>
              <a:t>СПИСОК. Пояснюю просто: це кілька значень, записаних в одних квадратних</a:t>
            </a:r>
          </a:p>
          <a:p>
            <a:r>
              <a:rPr lang="uk-UA" sz="1200" dirty="0"/>
              <a:t>дужках через кому. Як полиця, на якій лежать три картки. Пишу на телевізорі:</a:t>
            </a:r>
          </a:p>
          <a:p>
            <a:endParaRPr lang="uk-UA" sz="1200" dirty="0"/>
          </a:p>
          <a:p>
            <a:r>
              <a:rPr lang="uk-UA" sz="1200" dirty="0"/>
              <a:t>    ANSWERS = ["Ти впораєшся!", "Ще трохи!", "Я в тебе вірю."]</a:t>
            </a:r>
          </a:p>
          <a:p>
            <a:endParaRPr lang="uk-UA" sz="1200" dirty="0"/>
          </a:p>
          <a:p>
            <a:r>
              <a:rPr lang="uk-UA" sz="1200" dirty="0"/>
              <a:t>Кажу про велику літеру в імені: так домовились писати списки, які не</a:t>
            </a:r>
          </a:p>
          <a:p>
            <a:r>
              <a:rPr lang="uk-UA" sz="1200" dirty="0"/>
              <a:t>змінюються під час роботи. Це не вимога Python, а звичка програмістів.</a:t>
            </a:r>
          </a:p>
          <a:p>
            <a:endParaRPr lang="uk-UA" sz="1200" dirty="0"/>
          </a:p>
          <a:p>
            <a:r>
              <a:rPr lang="uk-UA" sz="1200" dirty="0"/>
              <a:t>random.choice(ANSWERS) — бере зі списку одне випадкове. Показую живцем у</a:t>
            </a:r>
          </a:p>
          <a:p>
            <a:r>
              <a:rPr lang="uk-UA" sz="1200" dirty="0"/>
              <a:t>консолі: викликаю тричі, щоразу інше.</a:t>
            </a:r>
          </a:p>
          <a:p>
            <a:endParaRPr lang="uk-UA" sz="1200" dirty="0"/>
          </a:p>
          <a:p>
            <a:r>
              <a:rPr lang="uk-UA" sz="1200" dirty="0"/>
              <a:t>import random — найперший рядок файла. Пояснюю, що random не входить у мову</a:t>
            </a:r>
          </a:p>
          <a:p>
            <a:r>
              <a:rPr lang="uk-UA" sz="1200" dirty="0"/>
              <a:t>сам собою, його треба «принести» — це і робить import.</a:t>
            </a:r>
          </a:p>
          <a:p>
            <a:endParaRPr lang="uk-UA" sz="1200" dirty="0"/>
          </a:p>
          <a:p>
            <a:r>
              <a:rPr lang="uk-UA" sz="1200" dirty="0"/>
              <a:t>І одразу попереджаю про пастку: import пишеться ЗВЕРХУ, до всього іншого.</a:t>
            </a:r>
          </a:p>
          <a:p>
            <a:r>
              <a:rPr lang="uk-UA" sz="1200" dirty="0"/>
              <a:t>Хто напише його всередині циклу, отримає працюючу, але дивну програму.</a:t>
            </a:r>
          </a:p>
          <a:p>
            <a:endParaRPr lang="uk-UA" sz="1200" dirty="0"/>
          </a:p>
          <a:p>
            <a:r>
              <a:rPr lang="uk-UA" sz="1200" dirty="0"/>
              <a:t>Показую на телевізорі готову програму з наступного слайда цілком і читаю</a:t>
            </a:r>
          </a:p>
          <a:p>
            <a:r>
              <a:rPr lang="uk-UA" sz="1200" dirty="0"/>
              <a:t>вголос, який рядок що робить.</a:t>
            </a:r>
          </a:p>
          <a:p>
            <a:endParaRPr lang="uk-UA" sz="1200" dirty="0"/>
          </a:p>
          <a:p>
            <a:r>
              <a:rPr lang="uk-UA" sz="1200" dirty="0"/>
              <a:t>Наступний слайд: набираємо всю програму разом із тим, що вже було.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≈6 хв · набирають</a:t>
            </a:r>
          </a:p>
          <a:p>
            <a:endParaRPr lang="uk-UA" sz="1200" dirty="0"/>
          </a:p>
          <a:p>
            <a:r>
              <a:rPr lang="uk-UA" sz="1200" dirty="0"/>
              <a:t>Фінальний код уроку. На екрані вся програма цілком — і те, що вже набрано, і</a:t>
            </a:r>
          </a:p>
          <a:p>
            <a:r>
              <a:rPr lang="uk-UA" sz="1200" dirty="0"/>
              <a:t>нове. Так простіше: дитині не треба тримати в голові, куди саме вставляти</a:t>
            </a:r>
          </a:p>
          <a:p>
            <a:r>
              <a:rPr lang="uk-UA" sz="1200" dirty="0"/>
              <a:t>рядок, вона просто звіряє свій файл з екраном згори вниз.</a:t>
            </a:r>
          </a:p>
          <a:p>
            <a:endParaRPr lang="uk-UA" sz="1200" dirty="0"/>
          </a:p>
          <a:p>
            <a:r>
              <a:rPr lang="uk-UA" sz="1200" dirty="0"/>
              <a:t>Кажу, що саме додається до вже набраного:</a:t>
            </a:r>
          </a:p>
          <a:p>
            <a:r>
              <a:rPr lang="uk-UA" sz="1200" dirty="0"/>
              <a:t>    рядок import random — найперший у файлі;</a:t>
            </a:r>
          </a:p>
          <a:p>
            <a:r>
              <a:rPr lang="uk-UA" sz="1200" dirty="0"/>
              <a:t>    рядок ANSWERS = [...] — під ним;</a:t>
            </a:r>
          </a:p>
          <a:p>
            <a:r>
              <a:rPr lang="uk-UA" sz="1200" dirty="0"/>
              <a:t>    два рядки if text == "мотивуй мене" — у циклі, перед останнім print;</a:t>
            </a:r>
          </a:p>
          <a:p>
            <a:r>
              <a:rPr lang="uk-UA" sz="1200" dirty="0"/>
              <a:t>    слово else: перед останнім print, і сам print зсувається глибше.</a:t>
            </a:r>
          </a:p>
          <a:p>
            <a:endParaRPr lang="uk-UA" sz="1200" dirty="0"/>
          </a:p>
          <a:p>
            <a:r>
              <a:rPr lang="uk-UA" sz="1200" dirty="0"/>
              <a:t>Останнє — найтонше місце. Показую на телевізорі пальцем: print з «Я тебе</a:t>
            </a:r>
          </a:p>
          <a:p>
            <a:r>
              <a:rPr lang="uk-UA" sz="1200" dirty="0"/>
              <a:t>почула» тепер стоїть усередині else, тобто з відступом у вісім пробілів, а</a:t>
            </a:r>
          </a:p>
          <a:p>
            <a:r>
              <a:rPr lang="uk-UA" sz="1200" dirty="0"/>
              <a:t>не в чотири. Хто цього не зробить, отримає дві відповіді на одну фразу.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else і отримали дві відповіді підряд;</a:t>
            </a:r>
          </a:p>
          <a:p>
            <a:r>
              <a:rPr lang="uk-UA" sz="1200" dirty="0"/>
              <a:t>    зсунули print не на той рівень;</a:t>
            </a:r>
          </a:p>
          <a:p>
            <a:r>
              <a:rPr lang="uk-UA" sz="1200" dirty="0"/>
              <a:t>    написали random.choise замість random.choice;</a:t>
            </a:r>
          </a:p>
          <a:p>
            <a:r>
              <a:rPr lang="uk-UA" sz="1200" dirty="0"/>
              <a:t>    поставили import random усередині while.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написати «мотивуй мене» чотири рази поспіль. Відповіді</a:t>
            </a:r>
          </a:p>
          <a:p>
            <a:r>
              <a:rPr lang="uk-UA" sz="1200" dirty="0"/>
              <a:t>мають бути різні. Якщо одна й та сама повторилась двічі підряд — це теж</a:t>
            </a:r>
          </a:p>
          <a:p>
            <a:r>
              <a:rPr lang="uk-UA" sz="1200" dirty="0"/>
              <a:t>нормально, і варто сказати вголос: випадковий вибір не означає «по черзі».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у ANSWERS свій четвертий рядок. Один рядок, кома</a:t>
            </a:r>
          </a:p>
          <a:p>
            <a:r>
              <a:rPr lang="uk-UA" sz="1200" dirty="0"/>
              <a:t>не забута — і помічник уже трохи його власний.</a:t>
            </a:r>
          </a:p>
          <a:p>
            <a:endParaRPr lang="uk-UA" sz="1200" dirty="0"/>
          </a:p>
          <a:p>
            <a:r>
              <a:rPr lang="uk-UA" sz="1200" dirty="0"/>
              <a:t>Це кінець змістовної частини. Далі Kahoot.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assistant.py</a:t>
            </a:r>
          </a:p>
          <a:p>
            <a:endParaRPr lang="uk-UA" sz="1200" dirty="0"/>
          </a:p>
          <a:p>
            <a:r>
              <a:rPr lang="uk-UA" sz="1200" dirty="0"/>
              <a:t>Привіт! Я АІДА. Напиши «стоп», щоб вийти.</a:t>
            </a:r>
          </a:p>
          <a:p>
            <a:r>
              <a:rPr lang="uk-UA" sz="1200" dirty="0"/>
              <a:t>Ти: мотивуй мене</a:t>
            </a:r>
          </a:p>
          <a:p>
            <a:r>
              <a:rPr lang="uk-UA" sz="1200" dirty="0"/>
              <a:t>АІДА: Ще трохи!</a:t>
            </a:r>
          </a:p>
          <a:p>
            <a:r>
              <a:rPr lang="uk-UA" sz="1200" dirty="0"/>
              <a:t>Ти: мотивуй мене</a:t>
            </a:r>
          </a:p>
          <a:p>
            <a:r>
              <a:rPr lang="uk-UA" sz="1200" dirty="0"/>
              <a:t>АІДА: Ти впораєшся!</a:t>
            </a:r>
          </a:p>
          <a:p>
            <a:r>
              <a:rPr lang="uk-UA" sz="1200" dirty="0"/>
              <a:t>Ти: мотивуй мене</a:t>
            </a:r>
          </a:p>
          <a:p>
            <a:r>
              <a:rPr lang="uk-UA" sz="1200" dirty="0"/>
              <a:t>АІДА: Ти впораєшся!</a:t>
            </a:r>
          </a:p>
          <a:p>
            <a:r>
              <a:rPr lang="uk-UA" sz="1200" dirty="0"/>
              <a:t>Ти: привіт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Головне: на «мотивуй мене» відповідь щоразу може бути іншою.</a:t>
            </a:r>
          </a:p>
          <a:p>
            <a:r>
              <a:rPr lang="uk-UA" sz="1200" dirty="0"/>
              <a:t>Повтори підряд — це нормально, вибір випадковий, а не по черзі.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≈1 хв · читаємо вголос</a:t>
            </a:r>
          </a:p>
          <a:p>
            <a:endParaRPr lang="uk-UA" sz="1200" dirty="0"/>
          </a:p>
          <a:p>
            <a:r>
              <a:rPr lang="uk-UA" sz="1200" dirty="0"/>
              <a:t>Одна хвилина. Читаю три пункти вголос зі слайда й відпускаю групу — розбирати</a:t>
            </a:r>
          </a:p>
          <a:p>
            <a:r>
              <a:rPr lang="uk-UA" sz="1200" dirty="0"/>
              <a:t>тут нічого, усе, що потрібно, вже набрано на уроці.</a:t>
            </a:r>
          </a:p>
          <a:p>
            <a:endParaRPr lang="uk-UA" sz="1200" dirty="0"/>
          </a:p>
          <a:p>
            <a:r>
              <a:rPr lang="uk-UA" sz="1200" dirty="0"/>
              <a:t>Що кажу дослівно, щоб уложитись у хвилину:</a:t>
            </a:r>
          </a:p>
          <a:p>
            <a:endParaRPr lang="uk-UA" sz="1200" dirty="0"/>
          </a:p>
          <a:p>
            <a:r>
              <a:rPr lang="uk-UA" sz="1200" dirty="0"/>
              <a:t>«Домашнє на сьогодні коротке. Перше: відкрийте свій assistant.py і додайте у</a:t>
            </a:r>
          </a:p>
          <a:p>
            <a:r>
              <a:rPr lang="uk-UA" sz="1200" dirty="0"/>
              <a:t>список ANSWERS два свої рядки — не забудьте кому. Запустіть і напишіть</a:t>
            </a:r>
          </a:p>
          <a:p>
            <a:r>
              <a:rPr lang="uk-UA" sz="1200" dirty="0"/>
              <a:t>"мотивуй мене" разів шість, поки не побачите обидва нові.</a:t>
            </a:r>
          </a:p>
          <a:p>
            <a:endParaRPr lang="uk-UA" sz="1200" dirty="0"/>
          </a:p>
          <a:p>
            <a:r>
              <a:rPr lang="uk-UA" sz="1200" dirty="0"/>
              <a:t>Друге: додайте ще одну команду за тим самим зразком, що "мотивуй мене". Два</a:t>
            </a:r>
          </a:p>
          <a:p>
            <a:r>
              <a:rPr lang="uk-UA" sz="1200" dirty="0"/>
              <a:t>рядки: if із вашою фразою і print з відповіддю. Скопіюйте наявні два рядки й</a:t>
            </a:r>
          </a:p>
          <a:p>
            <a:r>
              <a:rPr lang="uk-UA" sz="1200" dirty="0"/>
              <a:t>замініть слова.</a:t>
            </a:r>
          </a:p>
          <a:p>
            <a:endParaRPr lang="uk-UA" sz="1200" dirty="0"/>
          </a:p>
          <a:p>
            <a:r>
              <a:rPr lang="uk-UA" sz="1200" dirty="0"/>
              <a:t>Третє: у persona.txt допишіть сьомий рядок — яким словом ваш помічник</a:t>
            </a:r>
          </a:p>
          <a:p>
            <a:r>
              <a:rPr lang="uk-UA" sz="1200" dirty="0"/>
              <a:t>прощається. Один рядок.</a:t>
            </a:r>
          </a:p>
          <a:p>
            <a:endParaRPr lang="uk-UA" sz="1200" dirty="0"/>
          </a:p>
          <a:p>
            <a:r>
              <a:rPr lang="uk-UA" sz="1200" dirty="0"/>
              <a:t>Файли assistant.py і persona.txt зберігаємо. Наступного разу працюємо з тими</a:t>
            </a:r>
          </a:p>
          <a:p>
            <a:r>
              <a:rPr lang="uk-UA" sz="1200" dirty="0"/>
              <a:t>самими, нових не створюємо.»</a:t>
            </a:r>
          </a:p>
          <a:p>
            <a:endParaRPr lang="uk-UA" sz="1200" dirty="0"/>
          </a:p>
          <a:p>
            <a:r>
              <a:rPr lang="uk-UA" sz="1200" dirty="0"/>
              <a:t>Для себе: перший пункт перевіряє, чи зрозуміли список і кому; другий — чи</a:t>
            </a:r>
          </a:p>
          <a:p>
            <a:r>
              <a:rPr lang="uk-UA" sz="1200" dirty="0"/>
              <a:t>зрозуміли if; третій тримає persona.txt живим до уроку 10. Нічого вигадувати</a:t>
            </a:r>
          </a:p>
          <a:p>
            <a:r>
              <a:rPr lang="uk-UA" sz="1200" dirty="0"/>
              <a:t>не треба — усі три пункти роблять копіюванням наявних рядків.</a:t>
            </a:r>
          </a:p>
          <a:p>
            <a:endParaRPr lang="uk-UA" sz="1200" dirty="0"/>
          </a:p>
          <a:p>
            <a:r>
              <a:rPr lang="uk-UA" sz="1200" dirty="0"/>
              <a:t>Якщо хтось не встиг набрати програму на уроці — кажу окремо й тихо: спершу</a:t>
            </a:r>
          </a:p>
          <a:p>
            <a:r>
              <a:rPr lang="uk-UA" sz="1200" dirty="0"/>
              <a:t>доберіть те, що не встигли, з фотографії слайда, і тільки потім домашнє.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Рядків усього чотири, і три з них діти вже</a:t>
            </a:r>
          </a:p>
          <a:p>
            <a:r>
              <a:rPr lang="uk-UA" sz="1200" dirty="0"/>
              <a:t>набирали — новий тільки той, що зі змінною.</a:t>
            </a:r>
          </a:p>
          <a:p>
            <a:endParaRPr lang="uk-UA" sz="1200" dirty="0"/>
          </a:p>
          <a:p>
            <a:r>
              <a:rPr lang="uk-UA" sz="1200" dirty="0"/>
              <a:t>Кажу порядок: на екрані весь assistant.py, і чотири нові рядки видно на</a:t>
            </a:r>
          </a:p>
          <a:p>
            <a:r>
              <a:rPr lang="uk-UA" sz="1200" dirty="0"/>
              <a:t>своєму місці. Знайти у файлі рядок з привітанням, стерти його й набрати замість</a:t>
            </a:r>
          </a:p>
          <a:p>
            <a:r>
              <a:rPr lang="uk-UA" sz="1200" dirty="0"/>
              <a:t>нього ці чотири рядки. Хто загубив файл — копіює його зі слайда цілком. Наголошую: саме замість, а не на</a:t>
            </a:r>
          </a:p>
          <a:p>
            <a:r>
              <a:rPr lang="uk-UA" sz="1200" dirty="0"/>
              <a:t>додачу, інакше помічник привітається двічі.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пробіл після коми всередині лапок — «Дуже приємно,Данило»;</a:t>
            </a:r>
          </a:p>
          <a:p>
            <a:r>
              <a:rPr lang="uk-UA" sz="1200" dirty="0"/>
              <a:t>    набрали name у лапках, і виходить «Дуже приємно, name»;</a:t>
            </a:r>
          </a:p>
          <a:p>
            <a:r>
              <a:rPr lang="uk-UA" sz="1200" dirty="0"/>
              <a:t>    поставили рядки під while, і тепер ім'я питається щоразу;</a:t>
            </a:r>
          </a:p>
          <a:p>
            <a:r>
              <a:rPr lang="uk-UA" sz="1200" dirty="0"/>
              <a:t>    написали nаme з українською «а» — Python скаже NameError.</a:t>
            </a:r>
          </a:p>
          <a:p>
            <a:endParaRPr lang="uk-UA" sz="1200" dirty="0"/>
          </a:p>
          <a:p>
            <a:r>
              <a:rPr lang="uk-UA" sz="1200" dirty="0"/>
              <a:t>Останню помилку варто показати вголос усій групі: у назвах змінних латиниця,</a:t>
            </a:r>
          </a:p>
          <a:p>
            <a:r>
              <a:rPr lang="uk-UA" sz="1200" dirty="0"/>
              <a:t>а українська літера всередині слова виглядає точнісінько так само. Це те, на</a:t>
            </a:r>
          </a:p>
          <a:p>
            <a:r>
              <a:rPr lang="uk-UA" sz="1200" dirty="0"/>
              <a:t>чому діти застрягають надовго й самі не знаходять.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запустити, ввести своє ім'я, побачити його у відповіді.</a:t>
            </a:r>
          </a:p>
          <a:p>
            <a:r>
              <a:rPr lang="uk-UA" sz="1200" dirty="0"/>
              <a:t>Прошу звернути увагу, що в самій програмі імені немає — воно з'явилось у</a:t>
            </a:r>
          </a:p>
          <a:p>
            <a:r>
              <a:rPr lang="uk-UA" sz="1200" dirty="0"/>
              <a:t>змінній під час роботи.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ім'я ще й у прощання — у рядку з «Бувай!» замінить</a:t>
            </a:r>
          </a:p>
          <a:p>
            <a:r>
              <a:rPr lang="uk-UA" sz="1200" dirty="0"/>
              <a:t>його на "АІДА: Бувай, " + name + "!". Один рядок, і змінна знадобилась двічі.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assistant.py</a:t>
            </a:r>
          </a:p>
          <a:p>
            <a:endParaRPr lang="uk-UA" sz="1200" dirty="0"/>
          </a:p>
          <a:p>
            <a:r>
              <a:rPr lang="uk-UA" sz="1200" dirty="0"/>
              <a:t>Привіт! Я АІДА.</a:t>
            </a:r>
          </a:p>
          <a:p>
            <a:r>
              <a:rPr lang="uk-UA" sz="1200" dirty="0"/>
              <a:t>Як тебе звати? Данило</a:t>
            </a:r>
          </a:p>
          <a:p>
            <a:r>
              <a:rPr lang="uk-UA" sz="1200" dirty="0"/>
              <a:t>АІДА: Дуже приємно, Данило!</a:t>
            </a:r>
          </a:p>
          <a:p>
            <a:r>
              <a:rPr lang="uk-UA" sz="1200" dirty="0"/>
              <a:t>Напиши «стоп», щоб вийти.</a:t>
            </a:r>
          </a:p>
          <a:p>
            <a:r>
              <a:rPr lang="uk-UA" sz="1200" dirty="0"/>
              <a:t>Ти: привіт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Головне: ім'я з'являється у відповіді, хоча в програмі його немає —</a:t>
            </a:r>
          </a:p>
          <a:p>
            <a:r>
              <a:rPr lang="uk-UA" sz="1200" dirty="0"/>
              <a:t>там стоїть name.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≈2 хв · питання групі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Бонусний блок, дві хвилини питань. Група вже має програму з однією командою й</a:t>
            </a:r>
          </a:p>
          <a:p>
            <a:r>
              <a:rPr lang="uk-UA" sz="1200" dirty="0"/>
              <a:t>одним списком — питання про те, що буде з другою.</a:t>
            </a:r>
          </a:p>
          <a:p>
            <a:endParaRPr lang="uk-UA" sz="1200" dirty="0"/>
          </a:p>
          <a:p>
            <a:r>
              <a:rPr lang="uk-UA" sz="1200" dirty="0"/>
              <a:t>СКІЛЬКИ РЯДКІВ. Відповідь, якої чекаю: стільки ж, скільки на першу. Тобто</a:t>
            </a:r>
          </a:p>
          <a:p>
            <a:r>
              <a:rPr lang="uk-UA" sz="1200" dirty="0"/>
              <a:t>список і два рядки в циклі. Хай хтось порахує вголос — це рівно та робота, яку</a:t>
            </a:r>
          </a:p>
          <a:p>
            <a:r>
              <a:rPr lang="uk-UA" sz="1200" dirty="0"/>
              <a:t>вони зараз зроблять, і краще, щоб обсяг вони назвали самі.</a:t>
            </a:r>
          </a:p>
          <a:p>
            <a:endParaRPr lang="uk-UA" sz="1200" dirty="0"/>
          </a:p>
          <a:p>
            <a:r>
              <a:rPr lang="uk-UA" sz="1200" dirty="0"/>
              <a:t>ОДИН СПИСОК ЧИ ДВА. Питання з підступом: технічно можна покласти все в один</a:t>
            </a:r>
          </a:p>
          <a:p>
            <a:r>
              <a:rPr lang="uk-UA" sz="1200" dirty="0"/>
              <a:t>список, але тоді на «мотивуй мене» приїде жарт. Якщо хтось це помітить — хвалю</a:t>
            </a:r>
          </a:p>
          <a:p>
            <a:r>
              <a:rPr lang="uk-UA" sz="1200" dirty="0"/>
              <a:t>голосно, бо це і є відповідь: список відповідає за одну тему.</a:t>
            </a:r>
          </a:p>
          <a:p>
            <a:endParaRPr lang="uk-UA" sz="1200" dirty="0"/>
          </a:p>
          <a:p>
            <a:r>
              <a:rPr lang="uk-UA" sz="1200" dirty="0"/>
              <a:t>ДВІ УМОВИ ОДРАЗУ. Тут майже ніхто не знає, і це нормально: слово elif ще не</a:t>
            </a:r>
          </a:p>
          <a:p>
            <a:r>
              <a:rPr lang="uk-UA" sz="1200" dirty="0"/>
              <a:t>звучало. Кажу, що зараз покажу, і що відповідь коротка — спрацює перша</a:t>
            </a:r>
          </a:p>
          <a:p>
            <a:r>
              <a:rPr lang="uk-UA" sz="1200" dirty="0"/>
              <a:t>підхожа, а решта навіть не перевіряються.</a:t>
            </a:r>
          </a:p>
          <a:p>
            <a:endParaRPr lang="uk-UA" sz="1200" dirty="0"/>
          </a:p>
          <a:p>
            <a:r>
              <a:rPr lang="uk-UA" sz="1200" dirty="0"/>
              <a:t>Дві хвилини — і показ. Якщо група мовчить, не витягую відповіді силою: у</a:t>
            </a:r>
          </a:p>
          <a:p>
            <a:r>
              <a:rPr lang="uk-UA" sz="1200" dirty="0"/>
              <a:t>бонусних блоках краще швидше перейти до коду.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хвилин. Два шматки коду в різних місцях файла, і на</a:t>
            </a:r>
          </a:p>
          <a:p>
            <a:r>
              <a:rPr lang="uk-UA" sz="1200" dirty="0"/>
              <a:t>слайді лежить увесь файл — видно, де саме кожен стоїть. Хто загубився, копіює</a:t>
            </a:r>
          </a:p>
          <a:p>
            <a:r>
              <a:rPr lang="uk-UA" sz="1200" dirty="0"/>
              <a:t>файл зі слайда цілком і доганяє.</a:t>
            </a:r>
          </a:p>
          <a:p>
            <a:endParaRPr lang="uk-UA" sz="1200" dirty="0"/>
          </a:p>
          <a:p>
            <a:r>
              <a:rPr lang="uk-UA" sz="1200" dirty="0"/>
              <a:t>Порядок кажу двічі, бо в цьому вся складність блоку:</a:t>
            </a:r>
          </a:p>
          <a:p>
            <a:r>
              <a:rPr lang="uk-UA" sz="1200" dirty="0"/>
              <a:t>    спершу список JOKES — угорі файла, одразу під ANSWERS;</a:t>
            </a:r>
          </a:p>
          <a:p>
            <a:r>
              <a:rPr lang="uk-UA" sz="1200" dirty="0"/>
              <a:t>    потім два рядки з elif — усередині циклу, перед рядком else.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забули кому в кінці рядка списку — SyntaxError на наступному рядку;</a:t>
            </a:r>
          </a:p>
          <a:p>
            <a:r>
              <a:rPr lang="uk-UA" sz="1200" dirty="0"/>
              <a:t>    поставили elif після else — SyntaxError, бо else завжди останній;</a:t>
            </a:r>
          </a:p>
          <a:p>
            <a:r>
              <a:rPr lang="uk-UA" sz="1200" dirty="0"/>
              <a:t>    зсунули elif на вісім пробілів замість чотирьох — IndentationError;</a:t>
            </a:r>
          </a:p>
          <a:p>
            <a:r>
              <a:rPr lang="uk-UA" sz="1200" dirty="0"/>
              <a:t>    написали random.choice(ANSWERS) у новому рядку, скопіювавши старий.</a:t>
            </a:r>
          </a:p>
          <a:p>
            <a:endParaRPr lang="uk-UA" sz="1200" dirty="0"/>
          </a:p>
          <a:p>
            <a:r>
              <a:rPr lang="uk-UA" sz="1200" dirty="0"/>
              <a:t>Останнє трапляється частіше за все й помилки не дає: помічник на «розкажи</a:t>
            </a:r>
          </a:p>
          <a:p>
            <a:r>
              <a:rPr lang="uk-UA" sz="1200" dirty="0"/>
              <a:t>жарт» видає пораду. Прошу перечитати рядок і знайти, де стоїть не той список.</a:t>
            </a:r>
          </a:p>
          <a:p>
            <a:endParaRPr lang="uk-UA" sz="1200" dirty="0"/>
          </a:p>
          <a:p>
            <a:r>
              <a:rPr lang="uk-UA" sz="1200" dirty="0"/>
              <a:t>Про апостроф у слові «комп'ютер» кажу окремо: усередині подвійних лапок він</a:t>
            </a:r>
          </a:p>
          <a:p>
            <a:r>
              <a:rPr lang="uk-UA" sz="1200" dirty="0"/>
              <a:t>живе спокійно. А от якби рядок стояв в одинарних лапках, Python порахував би</a:t>
            </a:r>
          </a:p>
          <a:p>
            <a:r>
              <a:rPr lang="uk-UA" sz="1200" dirty="0"/>
              <a:t>апостроф за кінець рядка. Це готова відповідь на питання «а які лапки писати».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запустити, попросити жарт двічі. Жарти мають бути різні —</a:t>
            </a:r>
          </a:p>
          <a:p>
            <a:r>
              <a:rPr lang="uk-UA" sz="1200" dirty="0"/>
              <a:t>або однакові, бо вибір випадковий, а не по черзі.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допише в JOKES свій четвертий жарт. Кома не забута.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assistant.py</a:t>
            </a:r>
          </a:p>
          <a:p>
            <a:endParaRPr lang="uk-UA" sz="1200" dirty="0"/>
          </a:p>
          <a:p>
            <a:r>
              <a:rPr lang="uk-UA" sz="1200" dirty="0"/>
              <a:t>Привіт! Я АІДА.</a:t>
            </a:r>
          </a:p>
          <a:p>
            <a:r>
              <a:rPr lang="uk-UA" sz="1200" dirty="0"/>
              <a:t>Як тебе звати? Соня</a:t>
            </a:r>
          </a:p>
          <a:p>
            <a:r>
              <a:rPr lang="uk-UA" sz="1200" dirty="0"/>
              <a:t>АІДА: Дуже приємно, Соня!</a:t>
            </a:r>
          </a:p>
          <a:p>
            <a:r>
              <a:rPr lang="uk-UA" sz="1200" dirty="0"/>
              <a:t>Напиши «стоп», щоб вийти.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Чому робот пішов спати? У нього сіла батарейка.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Який комп'ютер найсмачніший? Той, що з яблуком.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Бувай!</a:t>
            </a:r>
          </a:p>
          <a:p>
            <a:endParaRPr lang="uk-UA" sz="1200" dirty="0"/>
          </a:p>
          <a:p>
            <a:r>
              <a:rPr lang="uk-UA" sz="1200" dirty="0"/>
              <a:t>Головне: «мотивуй мене» й далі працює як працювало, а на «розкажи</a:t>
            </a:r>
          </a:p>
          <a:p>
            <a:r>
              <a:rPr lang="uk-UA" sz="1200" dirty="0"/>
              <a:t>жарт» приїжджає жарт зі списку JOKES.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Бонусна практика, п'ять хвилин, без Python. Кожен пише промт про свою тему —</a:t>
            </a:r>
          </a:p>
          <a:p>
            <a:r>
              <a:rPr lang="uk-UA" sz="1200" dirty="0"/>
              <a:t>але не з нуля: на слайді готовий шаблон, у якому треба замінити те, що в</a:t>
            </a:r>
          </a:p>
          <a:p>
            <a:r>
              <a:rPr lang="uk-UA" sz="1200" dirty="0"/>
              <a:t>квадратних дужках.</a:t>
            </a:r>
          </a:p>
          <a:p>
            <a:endParaRPr lang="uk-UA" sz="1200" dirty="0"/>
          </a:p>
          <a:p>
            <a:r>
              <a:rPr lang="uk-UA" sz="1200" dirty="0"/>
              <a:t>Кажу порядок: переписати всі чотири рядки, потім замінити вміст дужок, дужки</a:t>
            </a:r>
          </a:p>
          <a:p>
            <a:r>
              <a:rPr lang="uk-UA" sz="1200" dirty="0"/>
              <a:t>прибрати, надіслати одним повідомленням. Про Shift+Enter нагадую окремо —</a:t>
            </a:r>
          </a:p>
          <a:p>
            <a:r>
              <a:rPr lang="uk-UA" sz="1200" dirty="0"/>
              <a:t>на блоці 3 половина групи все одно надіслала чотири окремі повідомлення.</a:t>
            </a:r>
          </a:p>
          <a:p>
            <a:endParaRPr lang="uk-UA" sz="1200" dirty="0"/>
          </a:p>
          <a:p>
            <a:r>
              <a:rPr lang="uk-UA" sz="1200" dirty="0"/>
              <a:t>Ходжу по класу. Найчастіші проблеми: дужки лишились на місці; тема надто</a:t>
            </a:r>
          </a:p>
          <a:p>
            <a:r>
              <a:rPr lang="uk-UA" sz="1200" dirty="0"/>
              <a:t>велика («поясни математику») — прошу звузити до однієї теми; забули третій</a:t>
            </a:r>
          </a:p>
          <a:p>
            <a:r>
              <a:rPr lang="uk-UA" sz="1200" dirty="0"/>
              <a:t>рядок, і відповідь вийшла надто складна.</a:t>
            </a:r>
          </a:p>
          <a:p>
            <a:endParaRPr lang="uk-UA" sz="1200" dirty="0"/>
          </a:p>
          <a:p>
            <a:r>
              <a:rPr lang="uk-UA" sz="1200" dirty="0"/>
              <a:t>Про третій рядок кажу окремо, бо він найцінніший: саме він робить відповідь</a:t>
            </a:r>
          </a:p>
          <a:p>
            <a:r>
              <a:rPr lang="uk-UA" sz="1200" dirty="0"/>
              <a:t>про них. Прошу двох дітей прочитати свою відповідь уголос і порівняти — теми</a:t>
            </a:r>
          </a:p>
          <a:p>
            <a:r>
              <a:rPr lang="uk-UA" sz="1200" dirty="0"/>
              <a:t>різні, довжина однакова, бо формат в обох однаковий.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надішле той самий промт, змінивши тільки останній рядок —</a:t>
            </a:r>
          </a:p>
          <a:p>
            <a:r>
              <a:rPr lang="uk-UA" sz="1200" dirty="0"/>
              <a:t>замість трьох речень попросить список із п'яти кроків. Одна зміна, а відповідь</a:t>
            </a:r>
          </a:p>
          <a:p>
            <a:r>
              <a:rPr lang="uk-UA" sz="1200" dirty="0"/>
              <a:t>іншої форми. Це готова відповідь на питання «навіщо формат».</a:t>
            </a:r>
          </a:p>
          <a:p>
            <a:endParaRPr lang="uk-UA" sz="1200" dirty="0"/>
          </a:p>
          <a:p>
            <a:r>
              <a:rPr lang="uk-UA" sz="1200" dirty="0"/>
              <a:t>Прошу зберегти цей промт у той самий файл, де persona.txt, або просто в</a:t>
            </a:r>
          </a:p>
          <a:p>
            <a:r>
              <a:rPr lang="uk-UA" sz="1200" dirty="0"/>
              <a:t>нотатки: він знадобиться в будь-який вечір із домашкою.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Ти — терплячий репетитор з математики. Поясни, як додавати дроби</a:t>
            </a:r>
          </a:p>
          <a:p>
            <a:r>
              <a:rPr lang="uk-UA" sz="1200" dirty="0"/>
              <a:t>з різними знаменниками. Я вчуся в 6 класі, множення вже знаю добре.</a:t>
            </a:r>
          </a:p>
          <a:p>
            <a:r>
              <a:rPr lang="uk-UA" sz="1200" dirty="0"/>
              <a:t>Дай три речення і один приклад із життя.</a:t>
            </a:r>
          </a:p>
          <a:p>
            <a:endParaRPr lang="uk-UA" sz="1200" dirty="0"/>
          </a:p>
          <a:p>
            <a:r>
              <a:rPr lang="uk-UA" sz="1200" dirty="0"/>
              <a:t>    -&gt; Щоб додати дроби з різними знаменниками, спершу зроби знаменники</a:t>
            </a:r>
          </a:p>
          <a:p>
            <a:r>
              <a:rPr lang="uk-UA" sz="1200" dirty="0"/>
              <a:t>       однаковими: помнож кожен дріб так, щоб унизу стало одне й те саме</a:t>
            </a:r>
          </a:p>
          <a:p>
            <a:r>
              <a:rPr lang="uk-UA" sz="1200" dirty="0"/>
              <a:t>       число. Потім додай тільки те, що зверху, а знаменник залиш як є.</a:t>
            </a:r>
          </a:p>
          <a:p>
            <a:r>
              <a:rPr lang="uk-UA" sz="1200" dirty="0"/>
              <a:t>       Приклад: половина піци плюс чверть піци — це три чверті, бо</a:t>
            </a:r>
          </a:p>
          <a:p>
            <a:r>
              <a:rPr lang="uk-UA" sz="1200" dirty="0"/>
              <a:t>       половина це дві чверті.</a:t>
            </a:r>
          </a:p>
          <a:p>
            <a:endParaRPr lang="uk-UA" sz="1200" dirty="0"/>
          </a:p>
          <a:p>
            <a:r>
              <a:rPr lang="uk-UA" sz="1200" dirty="0"/>
              <a:t>Головне: відповідь про вашу тему, вашою складністю й потрібної</a:t>
            </a:r>
          </a:p>
          <a:p>
            <a:r>
              <a:rPr lang="uk-UA" sz="1200" dirty="0"/>
              <a:t>довжини. Промт зберігається — наступного разу міняєте один рядок.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>
          <a:xfrm>
            <a:off x="685800" y="2971800"/>
            <a:ext cx="5486400" cy="4114800"/>
          </a:xfrm>
          <a:prstGeom prst="rect">
            <a:avLst/>
          </a:prstGeom>
        </p:spPr>
        <p:txBody>
          <a:bodyPr wrap="square"/>
          <a:lstStyle/>
          <a:p>
            <a:r>
              <a:rPr lang="uk-UA" sz="1200" dirty="0"/>
              <a:t>≈5 хв · набирають · бонус, понад пару</a:t>
            </a:r>
          </a:p>
          <a:p>
            <a:endParaRPr lang="uk-UA" sz="1200" dirty="0"/>
          </a:p>
          <a:p>
            <a:r>
              <a:rPr lang="uk-UA" sz="1200" dirty="0"/>
              <a:t>Остання практика запасу, п'ять хвилин. Три шматки в різних місцях файла, і</a:t>
            </a:r>
          </a:p>
          <a:p>
            <a:r>
              <a:rPr lang="uk-UA" sz="1200" dirty="0"/>
              <a:t>кожен по одному рядку — довгим тут виходить тільки останній. На слайді лежить</a:t>
            </a:r>
          </a:p>
          <a:p>
            <a:r>
              <a:rPr lang="uk-UA" sz="1200" dirty="0"/>
              <a:t>увесь файл, тож місце кожного шматка видно одразу.</a:t>
            </a:r>
          </a:p>
          <a:p>
            <a:endParaRPr lang="uk-UA" sz="1200" dirty="0"/>
          </a:p>
          <a:p>
            <a:r>
              <a:rPr lang="uk-UA" sz="1200" dirty="0"/>
              <a:t>Кажу порядок згори вниз:</a:t>
            </a:r>
          </a:p>
          <a:p>
            <a:r>
              <a:rPr lang="uk-UA" sz="1200" dirty="0"/>
              <a:t>    count = 0 — над while, окремим рядком, без відступу;</a:t>
            </a:r>
          </a:p>
          <a:p>
            <a:r>
              <a:rPr lang="uk-UA" sz="1200" dirty="0"/>
              <a:t>    count = count + 1 — усередині циклу, під break, чотири пробіли;</a:t>
            </a:r>
          </a:p>
          <a:p>
            <a:r>
              <a:rPr lang="uk-UA" sz="1200" dirty="0"/>
              <a:t>    довгий print — замість того, що зараз каже просто «Бувай!».</a:t>
            </a:r>
          </a:p>
          <a:p>
            <a:endParaRPr lang="uk-UA" sz="1200" dirty="0"/>
          </a:p>
          <a:p>
            <a:r>
              <a:rPr lang="uk-UA" sz="1200" dirty="0"/>
              <a:t>Ходжу по класу. Помилки в порядку частоти:</a:t>
            </a:r>
          </a:p>
          <a:p>
            <a:r>
              <a:rPr lang="uk-UA" sz="1200" dirty="0"/>
              <a:t>    поставили count = 0 всередину циклу — лічильник щоразу починає з нуля,</a:t>
            </a:r>
          </a:p>
          <a:p>
            <a:r>
              <a:rPr lang="uk-UA" sz="1200" dirty="0"/>
              <a:t>        і в кінці друкується 0 або 1; помилки Python не дасть, шукати очима;</a:t>
            </a:r>
          </a:p>
          <a:p>
            <a:r>
              <a:rPr lang="uk-UA" sz="1200" dirty="0"/>
              <a:t>    забули str() — TypeError, і це та сама помилка, яку бачили на телевізорі;</a:t>
            </a:r>
          </a:p>
          <a:p>
            <a:r>
              <a:rPr lang="uk-UA" sz="1200" dirty="0"/>
              <a:t>    зсунули count = count + 1 на вісім пробілів — рахуються тільки «стопи»;</a:t>
            </a:r>
          </a:p>
          <a:p>
            <a:r>
              <a:rPr lang="uk-UA" sz="1200" dirty="0"/>
              <a:t>    написали count = count +1 без пробілу — це не помилка, працює так само.</a:t>
            </a:r>
          </a:p>
          <a:p>
            <a:endParaRPr lang="uk-UA" sz="1200" dirty="0"/>
          </a:p>
          <a:p>
            <a:r>
              <a:rPr lang="uk-UA" sz="1200" dirty="0"/>
              <a:t>Останнє кажу вголос: пробіли навколо плюса Python не обходять, це лише для</a:t>
            </a:r>
          </a:p>
          <a:p>
            <a:r>
              <a:rPr lang="uk-UA" sz="1200" dirty="0"/>
              <a:t>людських очей. Дітям корисно знати, що не кожна відмінність від екрана — це</a:t>
            </a:r>
          </a:p>
          <a:p>
            <a:r>
              <a:rPr lang="uk-UA" sz="1200" dirty="0"/>
              <a:t>помилка.</a:t>
            </a:r>
          </a:p>
          <a:p>
            <a:endParaRPr lang="uk-UA" sz="1200" dirty="0"/>
          </a:p>
          <a:p>
            <a:r>
              <a:rPr lang="uk-UA" sz="1200" dirty="0"/>
              <a:t>Перевіряємо разом: запустити, написати три різні фрази, потім «стоп». Число</a:t>
            </a:r>
          </a:p>
          <a:p>
            <a:r>
              <a:rPr lang="uk-UA" sz="1200" dirty="0"/>
              <a:t>має бути три, а не чотири. Питаю групу, чому не чотири — відповідь у тому, що</a:t>
            </a:r>
          </a:p>
          <a:p>
            <a:r>
              <a:rPr lang="uk-UA" sz="1200" dirty="0"/>
              <a:t>до рядка з лічильником справа не доходить, бо break виводить із циклу раніше.</a:t>
            </a:r>
          </a:p>
          <a:p>
            <a:endParaRPr lang="uk-UA" sz="1200" dirty="0"/>
          </a:p>
          <a:p>
            <a:r>
              <a:rPr lang="uk-UA" sz="1200" dirty="0"/>
              <a:t>Хто впорався: хай додасть у прощання ще й ім'я — "АІДА: " + name + ",</a:t>
            </a:r>
          </a:p>
          <a:p>
            <a:r>
              <a:rPr lang="uk-UA" sz="1200" dirty="0"/>
              <a:t>повідомлень від тебе: " + str(count). Дві змінні в одному рядку, і обидві свої.</a:t>
            </a:r>
          </a:p>
          <a:p>
            <a:endParaRPr lang="uk-UA" sz="1200" dirty="0"/>
          </a:p>
          <a:p>
            <a:r>
              <a:rPr lang="uk-UA" sz="1200" dirty="0"/>
              <a:t>Це кінець запасу. Далі — тільки те, що діти хочуть показати одне одному.</a:t>
            </a:r>
          </a:p>
          <a:p>
            <a:endParaRPr lang="uk-UA" sz="1200" dirty="0"/>
          </a:p>
          <a:p>
            <a:r>
              <a:rPr lang="uk-UA" sz="1200" dirty="0"/>
              <a:t>Очікуваний результат:</a:t>
            </a:r>
          </a:p>
          <a:p>
            <a:r>
              <a:rPr lang="uk-UA" sz="1200" dirty="0"/>
              <a:t>$ python assistant.py</a:t>
            </a:r>
          </a:p>
          <a:p>
            <a:endParaRPr lang="uk-UA" sz="1200" dirty="0"/>
          </a:p>
          <a:p>
            <a:r>
              <a:rPr lang="uk-UA" sz="1200" dirty="0"/>
              <a:t>Привіт! Я АІДА.</a:t>
            </a:r>
          </a:p>
          <a:p>
            <a:r>
              <a:rPr lang="uk-UA" sz="1200" dirty="0"/>
              <a:t>Як тебе звати? Марк</a:t>
            </a:r>
          </a:p>
          <a:p>
            <a:r>
              <a:rPr lang="uk-UA" sz="1200" dirty="0"/>
              <a:t>АІДА: Дуже приємно, Марк!</a:t>
            </a:r>
          </a:p>
          <a:p>
            <a:r>
              <a:rPr lang="uk-UA" sz="1200" dirty="0"/>
              <a:t>Напиши «стоп», щоб вийти.</a:t>
            </a:r>
          </a:p>
          <a:p>
            <a:r>
              <a:rPr lang="uk-UA" sz="1200" dirty="0"/>
              <a:t>Ти: привіт</a:t>
            </a:r>
          </a:p>
          <a:p>
            <a:r>
              <a:rPr lang="uk-UA" sz="1200" dirty="0"/>
              <a:t>АІДА: Я тебе почула.</a:t>
            </a:r>
          </a:p>
          <a:p>
            <a:r>
              <a:rPr lang="uk-UA" sz="1200" dirty="0"/>
              <a:t>Ти: розкажи жарт</a:t>
            </a:r>
          </a:p>
          <a:p>
            <a:r>
              <a:rPr lang="uk-UA" sz="1200" dirty="0"/>
              <a:t>АІДА: Чому робот пішов спати? У нього сіла батарейка.</a:t>
            </a:r>
          </a:p>
          <a:p>
            <a:r>
              <a:rPr lang="uk-UA" sz="1200" dirty="0"/>
              <a:t>Ти: мотивуй мене</a:t>
            </a:r>
          </a:p>
          <a:p>
            <a:r>
              <a:rPr lang="uk-UA" sz="1200" dirty="0"/>
              <a:t>АІДА: Я в тебе вірю.</a:t>
            </a:r>
          </a:p>
          <a:p>
            <a:r>
              <a:rPr lang="uk-UA" sz="1200" dirty="0"/>
              <a:t>Ти: стоп</a:t>
            </a:r>
          </a:p>
          <a:p>
            <a:r>
              <a:rPr lang="uk-UA" sz="1200" dirty="0"/>
              <a:t>АІДА: Повідомлень від тебе: 3. Бувай!</a:t>
            </a:r>
          </a:p>
          <a:p>
            <a:endParaRPr lang="uk-UA" sz="1200" dirty="0"/>
          </a:p>
          <a:p>
            <a:r>
              <a:rPr lang="uk-UA" sz="1200" dirty="0"/>
              <a:t>Головне: слово «стоп» не рахується — рядок count = count + 1 стоїть</a:t>
            </a:r>
          </a:p>
          <a:p>
            <a:r>
              <a:rPr lang="uk-UA" sz="1200" dirty="0"/>
              <a:t>нижче за break, і до нього справа не доходить.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рожні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uk" smtClean="0"/>
              <a:pPr/>
              <a:t>‹#›</a:t>
            </a:fld>
            <a:endParaRPr lang="uk"/>
          </a:p>
        </p:txBody>
      </p:sp>
    </p:spTree>
    <p:extLst>
      <p:ext uri="{BB962C8B-B14F-4D97-AF65-F5344CB8AC3E}">
        <p14:creationId xmlns:p14="http://schemas.microsoft.com/office/powerpoint/2010/main" val="1149999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6AEF1C-EC50-A496-F6B5-827794AE7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9983" y="5715766"/>
            <a:ext cx="2709335" cy="6971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655D8A-1E71-65ED-FBC5-A4612BB218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1115" y="3187840"/>
            <a:ext cx="2032000" cy="203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9C967BA-7049-ED62-CB5A-CAB2D529DC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4097" y="3187840"/>
            <a:ext cx="2032000" cy="203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902889B-75CB-C00E-CC05-CA7047D135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4097" y="993913"/>
            <a:ext cx="2032000" cy="203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F9A70AB-D60C-66B8-E10C-D676521BAE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01115" y="991455"/>
            <a:ext cx="2045437" cy="2045437"/>
          </a:xfrm>
          <a:prstGeom prst="rect">
            <a:avLst/>
          </a:prstGeom>
        </p:spPr>
      </p:pic>
      <p:sp>
        <p:nvSpPr>
          <p:cNvPr id="17" name="Name">
            <a:extLst>
              <a:ext uri="{FF2B5EF4-FFF2-40B4-BE49-F238E27FC236}">
                <a16:creationId xmlns:a16="http://schemas.microsoft.com/office/drawing/2014/main" id="{3D22B9BE-94B8-97A5-83FE-F0230533F6DC}"/>
              </a:ext>
            </a:extLst>
          </p:cNvPr>
          <p:cNvSpPr/>
          <p:nvPr/>
        </p:nvSpPr>
        <p:spPr>
          <a:xfrm>
            <a:off x="424069" y="2568713"/>
            <a:ext cx="474957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latin typeface="Calibri" pitchFamily="34" charset="0"/>
              </a:rPr>
              <a:t>Дмитро </a:t>
            </a:r>
            <a:r>
              <a:rPr lang="uk-UA" sz="4800" b="1" dirty="0">
                <a:latin typeface="Calibri" pitchFamily="34" charset="0"/>
              </a:rPr>
              <a:t>Штефан</a:t>
            </a:r>
            <a:endParaRPr lang="en-US" sz="4800" b="1" dirty="0">
              <a:latin typeface="Calibri" pitchFamily="34" charset="0"/>
            </a:endParaRPr>
          </a:p>
        </p:txBody>
      </p:sp>
      <p:sp>
        <p:nvSpPr>
          <p:cNvPr id="18" name="Role">
            <a:extLst>
              <a:ext uri="{FF2B5EF4-FFF2-40B4-BE49-F238E27FC236}">
                <a16:creationId xmlns:a16="http://schemas.microsoft.com/office/drawing/2014/main" id="{07D243DD-5309-A1D1-F3E7-FF85EF6362E1}"/>
              </a:ext>
            </a:extLst>
          </p:cNvPr>
          <p:cNvSpPr/>
          <p:nvPr/>
        </p:nvSpPr>
        <p:spPr>
          <a:xfrm>
            <a:off x="424069" y="3548540"/>
            <a:ext cx="697319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chemeClr val="accent1"/>
                </a:solidFill>
                <a:latin typeface="Calibri" pitchFamily="34" charset="0"/>
              </a:rPr>
              <a:t>Data Team Technical Lead | IT STEP Academy Educator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D1C51F-177C-D783-63EF-04C78AB0AE4E}"/>
              </a:ext>
            </a:extLst>
          </p:cNvPr>
          <p:cNvSpPr txBox="1"/>
          <p:nvPr/>
        </p:nvSpPr>
        <p:spPr>
          <a:xfrm>
            <a:off x="328652" y="4337943"/>
            <a:ext cx="2903359" cy="13644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533"/>
              </a:spcAft>
            </a:pPr>
            <a:r>
              <a:rPr lang="en-US" sz="2133" b="1" dirty="0">
                <a:latin typeface="Calibri" pitchFamily="34" charset="0"/>
              </a:rPr>
              <a:t>💬 Telegram</a:t>
            </a:r>
          </a:p>
          <a:p>
            <a:pPr>
              <a:spcAft>
                <a:spcPts val="1067"/>
              </a:spcAft>
            </a:pPr>
            <a:r>
              <a:rPr lang="en-US" sz="2400" dirty="0">
                <a:solidFill>
                  <a:schemeClr val="accent1"/>
                </a:solidFill>
                <a:latin typeface="Consolas" pitchFamily="34" charset="0"/>
              </a:rPr>
              <a:t>@dmitriy_shtefan</a:t>
            </a:r>
          </a:p>
          <a:p>
            <a:endParaRPr lang="en-UA" sz="2400" dirty="0"/>
          </a:p>
        </p:txBody>
      </p:sp>
      <p:pic>
        <p:nvPicPr>
          <p:cNvPr id="2" name="Google Shape;57;p1">
            <a:extLst>
              <a:ext uri="{FF2B5EF4-FFF2-40B4-BE49-F238E27FC236}">
                <a16:creationId xmlns:a16="http://schemas.microsoft.com/office/drawing/2014/main" id="{275A40C0-0BAB-2E0C-E4ED-4356E3B45C98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6660" y="466554"/>
            <a:ext cx="1327309" cy="1385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251667"/>
          </a:xfrm>
          <a:prstGeom prst="roundRect">
            <a:avLst>
              <a:gd name="adj" fmla="val 6130"/>
            </a:avLst>
          </a:prstGeom>
          <a:solidFill>
            <a:srgbClr val="F6F4ED"/>
          </a:solidFill>
        </p:spPr>
        <p:txBody>
          <a:bodyPr/>
          <a:lstStyle/>
          <a:p>
            <a:endParaRPr dirty="0"/>
          </a:p>
        </p:txBody>
      </p:sp>
      <p:sp>
        <p:nvSpPr>
          <p:cNvPr id="5" name="heading 5"/>
          <p:cNvSpPr txBox="1"/>
          <p:nvPr/>
        </p:nvSpPr>
        <p:spPr>
          <a:xfrm>
            <a:off x="853440" y="702945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Хто такий AI-помічник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3440" y="1826285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Чим AI-помічник відрізняється від пошуку в Google?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бачить помічник, що зараз лежить у тебе на столі?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він про тебе пам'ятає, коли закрити вікно й відкрити знову?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ви вже зустрічали помічника, крім ChatGPT?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64758" y="313352"/>
            <a:ext cx="7764842" cy="3660193"/>
          </a:xfrm>
          <a:prstGeom prst="roundRect">
            <a:avLst>
              <a:gd name="adj" fmla="val 763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Хто такий AI-помічник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Помічником користуються всі, а що в нього всередині — майже ніхто не бачив.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Приймає текст і віддає текст. Більше нічого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Не бачить тебе, не чує кімнату, не знає, який сьогодні день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Між запусками нічого не пам'ятає — щоразу починає з нуля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Бувають текстові, голосові, аватарний помічник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4474159"/>
          </a:xfrm>
          <a:prstGeom prst="roundRect">
            <a:avLst>
              <a:gd name="adj" fmla="val 6245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три фрази помічнику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Відкрий ChatGPT і надішли ці три фрази — по одній, одна за одною.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1981276"/>
          </a:xfrm>
          <a:prstGeom prst="roundRect">
            <a:avLst>
              <a:gd name="adj" fmla="val 641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Привіт! Хто ти?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Скільки буде 17 помножити на 24?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Що я зараз тримаю в руках?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800704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951580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На перші дві помічник відповість. На третю — ні: він тебе не бачить.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Якщо він усе-таки щось «побачив» — значить, вигадав. Це нормально.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169834" cy="4234129"/>
          </a:xfrm>
          <a:prstGeom prst="roundRect">
            <a:avLst>
              <a:gd name="adj" fmla="val 659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49969" y="586366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Звідки він бере слова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3440" y="2483625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Помічник шукає готову відповідь чи складає її сам?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та сама фраза двом людям дає різні відповіді?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може він упевнено сказати неправду й не помітити цього?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066837"/>
          </a:xfrm>
          <a:prstGeom prst="roundRect">
            <a:avLst>
              <a:gd name="adj" fmla="val 511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Звідки він бере слова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 не шукає відповідь у книжці. Він вгадує наступне слово — і так слово за словом.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Модель прочитала море текстів і навчилася вгадувати наступне слово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Кожне слово вибирається з кількох імовірних — трохи навмання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Тому та сама фраза дає щоразу трохи іншу відповідь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І тому він може впевнено сказати неправду — це «галюцинація»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4474159"/>
          </a:xfrm>
          <a:prstGeom prst="roundRect">
            <a:avLst>
              <a:gd name="adj" fmla="val 6245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та сама фраза тричі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Спершу тричі поспіль одне й те саме. Потім — питання-пастка.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1981276"/>
          </a:xfrm>
          <a:prstGeom prst="roundRect">
            <a:avLst>
              <a:gd name="adj" fmla="val 6410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Придумай назву для команди з трьох програмістів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Придумай назву для команди з трьох програмістів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Придумай назву для команди з трьох програмістів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Хто створив українську мову програмування «Вимова» у 1989 році?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800704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951580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Три відповіді на одну фразу — різні. Це нормально й так задумано.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Мови «Вимова» не існує. Якщо помічник назвав ім'я — він його вигадав.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6949440" cy="3490722"/>
          </a:xfrm>
          <a:prstGeom prst="roundRect">
            <a:avLst>
              <a:gd name="adj" fmla="val 800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3995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Формула промту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таке промт своїми словами?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одна людина дістає корисну відповідь, а друга — воду?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сказати помічнику, щоб він пояснив тему першокласнику?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Довгий запит завжди кращий за короткий?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463083"/>
          </a:xfrm>
          <a:prstGeom prst="roundRect">
            <a:avLst>
              <a:gd name="adj" fmla="val 511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Формула промту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4505" y="1178584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 відповідає рівно так, як його попросили. Просити треба за формулою.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5595"/>
            <a:ext cx="6949440" cy="221444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РОЛЬ — ким він має бути: вчитель, кухар, тренер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ЗАВДАННЯ — що саме зробити: поясни, придумай, перевір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ДЕТАЛІ — для кого, що вже відомо, чого уникати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ФОРМАТ — скільки речень, список чи таблиця, з прикладом чи без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31985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41586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63532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Промт — це замовлення в кафе. «Дайте поїсти» і «дайте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піцу без грибів, розрізану на вісім шматків» — обидва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замовлення, але приносять різне.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5124298"/>
          </a:xfrm>
          <a:prstGeom prst="roundRect">
            <a:avLst>
              <a:gd name="adj" fmla="val 545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промт за формулою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Спершу короткий запит. Потім той самий, але за формулою. Порівняй відповіді.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2631415"/>
          </a:xfrm>
          <a:prstGeom prst="roundRect">
            <a:avLst>
              <a:gd name="adj" fmla="val 482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Розкажи про котів</a:t>
            </a:r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endParaRPr lang="uk-UA" sz="1600" dirty="0"/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Ти — вчитель біології для 5 класу.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Поясни, чому коти бачать у темряві.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Простими словами, без складних термінів.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600" b="0" dirty="0">
                <a:solidFill>
                  <a:srgbClr val="26241F"/>
                </a:solidFill>
                <a:latin typeface="Courier New"/>
                <a:cs typeface="Courier New"/>
              </a:rPr>
              <a:t>Три речення і один приклад із життя.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50842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601718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Другий промт надсилай одним повідомленням — усі чотири рядки разом.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Порівняй: що змінилось у довжині, у словах, у користі.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76701"/>
          </a:xfrm>
          <a:prstGeom prst="roundRect">
            <a:avLst>
              <a:gd name="adj" fmla="val 739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18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Персона помічника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Промт ми вже вміємо. Тепер питаю про характер — про те, ким помічник має бути.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може той самий помічник говорити зовсім по-різному?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З чого складається характер людини, яку ви добре знаєте?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Яким має бути помічник особисто для тебе?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Чого твій помічник не має робити ніколи?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139385"/>
          </a:xfrm>
          <a:prstGeom prst="roundRect">
            <a:avLst>
              <a:gd name="adj" fmla="val 543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Персона помічника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Один і той самий помічник може говорити як пірат, як учителька або як тренер. Це вибираємо ми.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954530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Ім'я — як його звати й як до нього звертатись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Вдача — весела, спокійна, зухвала, серйозна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Стиль мови — коротко чи докладно, на «ти» чи на «ви»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Про що говорить і чого не робить ніколи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996157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092169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311625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Опис персони ми сьогодні збережемо у файл persona.txt. На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уроці 10 він стане системним промтом, на уроці 11 поїде у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фінальний проєкт. Файл не викидати.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4799228"/>
          </a:xfrm>
          <a:prstGeom prst="roundRect">
            <a:avLst>
              <a:gd name="adj" fmla="val 582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persona.txt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persona.txt і перепиши в нього цей шаблон. Заміни те, що в дужках, на своє.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2306345"/>
          </a:xfrm>
          <a:prstGeom prst="roundRect">
            <a:avLst>
              <a:gd name="adj" fmla="val 5507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Ім'я: [АІДА]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Вдача: [весела, трохи зухвала]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Стиль мови: [коротко, на «ти», з жартом]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Улюблені слова: [«клас!», «розберемось», «спробуй ще раз»]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Про що говорить: [школа, ігри, програмування]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100" b="0" dirty="0">
                <a:solidFill>
                  <a:srgbClr val="26241F"/>
                </a:solidFill>
                <a:latin typeface="Courier New"/>
                <a:cs typeface="Courier New"/>
              </a:rPr>
              <a:t>Чого не робить: [не вигадує, коли не знає]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125773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276649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Квадратні дужки прибери — вони лише показують, що міняти.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Файл назви точно persona.txt і поклади в папку проєкту.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6314049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18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Перший помічник у консолі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3440" y="2125980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має вміти найпростіша програма-помічник?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програма дізнається, що саме ти їй написав?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зробити, щоб вона питала не один раз, а весь час?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4854092"/>
          </a:xfrm>
          <a:prstGeom prst="roundRect">
            <a:avLst>
              <a:gd name="adj" fmla="val 5756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Перший помічник у консолі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694944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Тепер свій. Трьох команд Python вистачить, щоб він відповідав.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1668551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dirty="0" err="1">
                <a:solidFill>
                  <a:srgbClr val="2B2823"/>
                </a:solidFill>
                <a:cs typeface="Onest"/>
              </a:rPr>
              <a:t>print</a:t>
            </a:r>
            <a:r>
              <a:rPr lang="uk-UA" sz="1700" dirty="0">
                <a:solidFill>
                  <a:srgbClr val="2B2823"/>
                </a:solidFill>
                <a:cs typeface="Onest"/>
              </a:rPr>
              <a:t>(«текст») — надрукувати рядок на екрані</a:t>
            </a:r>
          </a:p>
          <a:p>
            <a:pPr marL="189992" indent="-189992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dirty="0" err="1">
                <a:solidFill>
                  <a:srgbClr val="2B2823"/>
                </a:solidFill>
                <a:cs typeface="Onest"/>
              </a:rPr>
              <a:t>input</a:t>
            </a:r>
            <a:r>
              <a:rPr lang="uk-UA" sz="1700" dirty="0">
                <a:solidFill>
                  <a:srgbClr val="2B2823"/>
                </a:solidFill>
                <a:cs typeface="Onest"/>
              </a:rPr>
              <a:t>(«Ти: ») — запитати людину й дочекатися відповіді</a:t>
            </a:r>
          </a:p>
          <a:p>
            <a:pPr marL="189992" indent="-189992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dirty="0" err="1">
                <a:solidFill>
                  <a:srgbClr val="2B2823"/>
                </a:solidFill>
                <a:cs typeface="Onest"/>
              </a:rPr>
              <a:t>while</a:t>
            </a:r>
            <a:r>
              <a:rPr lang="uk-UA" sz="1700" dirty="0">
                <a:solidFill>
                  <a:srgbClr val="2B2823"/>
                </a:solidFill>
                <a:cs typeface="Onest"/>
              </a:rPr>
              <a:t> </a:t>
            </a:r>
            <a:r>
              <a:rPr lang="uk-UA" sz="1700" dirty="0" err="1">
                <a:solidFill>
                  <a:srgbClr val="2B2823"/>
                </a:solidFill>
                <a:cs typeface="Onest"/>
              </a:rPr>
              <a:t>True</a:t>
            </a:r>
            <a:r>
              <a:rPr lang="uk-UA" sz="1700" dirty="0">
                <a:solidFill>
                  <a:srgbClr val="2B2823"/>
                </a:solidFill>
                <a:cs typeface="Onest"/>
              </a:rPr>
              <a:t>: — повторювати нескінченно, </a:t>
            </a:r>
            <a:r>
              <a:rPr lang="uk-UA" sz="1700" dirty="0" err="1">
                <a:solidFill>
                  <a:srgbClr val="2B2823"/>
                </a:solidFill>
                <a:cs typeface="Onest"/>
              </a:rPr>
              <a:t>break</a:t>
            </a:r>
            <a:r>
              <a:rPr lang="uk-UA" sz="1700" dirty="0">
                <a:solidFill>
                  <a:srgbClr val="2B2823"/>
                </a:solidFill>
                <a:cs typeface="Onest"/>
              </a:rPr>
              <a:t> — вийти</a:t>
            </a:r>
          </a:p>
          <a:p>
            <a:pPr marL="189992" indent="-189992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dirty="0" err="1">
                <a:solidFill>
                  <a:srgbClr val="2B2823"/>
                </a:solidFill>
                <a:cs typeface="Onest"/>
              </a:rPr>
              <a:t>if</a:t>
            </a:r>
            <a:r>
              <a:rPr lang="uk-UA" sz="1700" dirty="0">
                <a:solidFill>
                  <a:srgbClr val="2B2823"/>
                </a:solidFill>
                <a:cs typeface="Onest"/>
              </a:rPr>
              <a:t> текст == «стоп»: — перевірити, що саме набрали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710864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FBEFD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806876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8A5A12"/>
                </a:solidFill>
                <a:latin typeface="Onest"/>
                <a:cs typeface="Onest"/>
              </a:rPr>
              <a:t>ЗАПАМ'ЯТАТИ НАЗАВЖДИ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026332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Двокрапка в кінці рядка після if і while — обов'язкова, а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те, що всередині, зсунуте на чотири пробіли. Саме за цим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зсувом Python розуміє, що куди належить.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5775122"/>
          </a:xfrm>
          <a:prstGeom prst="roundRect">
            <a:avLst>
              <a:gd name="adj" fmla="val 4838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перша програма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Створи файл assistant.py і набери це рядок у рядок. Потім запусти.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5101666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5252542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Відступи — чотири пробіли. Двокрапка в кінці while і if обов'язкова.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Запусти й напиши «стоп» — програма має попрощатись і закритись.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FD17D5-F20C-4293-D30D-A8A4BAB0B559}"/>
              </a:ext>
            </a:extLst>
          </p:cNvPr>
          <p:cNvSpPr txBox="1"/>
          <p:nvPr/>
        </p:nvSpPr>
        <p:spPr>
          <a:xfrm>
            <a:off x="853440" y="1656647"/>
            <a:ext cx="6097424" cy="307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print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("Привіт! Я АІДА.")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print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("Напиши </a:t>
            </a:r>
            <a:r>
              <a:rPr lang="en-US" sz="1800" b="0" dirty="0">
                <a:solidFill>
                  <a:srgbClr val="26241F"/>
                </a:solidFill>
                <a:latin typeface="Courier New"/>
                <a:cs typeface="Courier New"/>
              </a:rPr>
              <a:t>‘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стоп</a:t>
            </a:r>
            <a:r>
              <a:rPr lang="en-US" sz="1800" b="0" dirty="0">
                <a:solidFill>
                  <a:srgbClr val="26241F"/>
                </a:solidFill>
                <a:latin typeface="Courier New"/>
                <a:cs typeface="Courier New"/>
              </a:rPr>
              <a:t>’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, щоб вийти.")</a:t>
            </a:r>
          </a:p>
          <a:p>
            <a:pPr algn="l">
              <a:lnSpc>
                <a:spcPts val="2560"/>
              </a:lnSpc>
              <a:buNone/>
            </a:pPr>
            <a:endParaRPr lang="uk-UA" sz="1800" dirty="0"/>
          </a:p>
          <a:p>
            <a:pPr algn="l">
              <a:lnSpc>
                <a:spcPts val="2560"/>
              </a:lnSpc>
              <a:buNone/>
            </a:pP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while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</a:t>
            </a: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True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   </a:t>
            </a: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text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= </a:t>
            </a: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input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("Ти: 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   </a:t>
            </a: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if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</a:t>
            </a: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text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== "стоп":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       </a:t>
            </a: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print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("АІДА: Бувай!")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       </a:t>
            </a: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break</a:t>
            </a:r>
            <a:endParaRPr lang="uk-UA" sz="1800" b="0" dirty="0">
              <a:solidFill>
                <a:srgbClr val="26241F"/>
              </a:solidFill>
              <a:latin typeface="Courier New"/>
              <a:cs typeface="Courier New"/>
            </a:endParaRPr>
          </a:p>
          <a:p>
            <a:pPr algn="l">
              <a:lnSpc>
                <a:spcPts val="2560"/>
              </a:lnSpc>
              <a:buNone/>
            </a:pP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    </a:t>
            </a:r>
            <a:r>
              <a:rPr lang="uk-UA" sz="1800" b="0" dirty="0" err="1">
                <a:solidFill>
                  <a:srgbClr val="26241F"/>
                </a:solidFill>
                <a:latin typeface="Courier New"/>
                <a:cs typeface="Courier New"/>
              </a:rPr>
              <a:t>print</a:t>
            </a:r>
            <a:r>
              <a:rPr lang="uk-UA" sz="1800" b="0" dirty="0">
                <a:solidFill>
                  <a:srgbClr val="26241F"/>
                </a:solidFill>
                <a:latin typeface="Courier New"/>
                <a:cs typeface="Courier New"/>
              </a:rPr>
              <a:t>("АІДА: Я тебе почула.")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748583"/>
          </a:xfrm>
          <a:prstGeom prst="roundRect">
            <a:avLst>
              <a:gd name="adj" fmla="val 7453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Різні відповіді на ту саму фразу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3440" y="2411959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Чому нудно говорити з тим, хто відповідає завжди однаково?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Як зробити, щоб відповідь щоразу була інша?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Де програма візьме кілька різних відповідей одразу?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5596814"/>
          </a:xfrm>
          <a:prstGeom prst="roundRect">
            <a:avLst>
              <a:gd name="adj" fmla="val 499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Різні відповіді на ту саму фразу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634261"/>
            <a:ext cx="6949440" cy="6261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Помічник, який завжди відповідає однаково, набридає за хвилину. Полагодимо це одним рядком.</a:t>
            </a:r>
          </a:p>
        </p:txBody>
      </p:sp>
      <p:sp>
        <p:nvSpPr>
          <p:cNvPr id="7" name="bullets 7"/>
          <p:cNvSpPr txBox="1"/>
          <p:nvPr/>
        </p:nvSpPr>
        <p:spPr>
          <a:xfrm>
            <a:off x="853440" y="2411959"/>
            <a:ext cx="6949440" cy="18907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Список — кілька значень в одних квадратних дужках через кому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random.choice(список) бере з нього одне випадкове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import random пишеться найпершим рядком файла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Тепер та сама фраза дає щоразу іншу відповідь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4453585"/>
            <a:ext cx="6949440" cy="1211809"/>
          </a:xfrm>
          <a:prstGeom prst="roundRect">
            <a:avLst>
              <a:gd name="adj" fmla="val 10480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4549597"/>
            <a:ext cx="6583680" cy="2468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uk-UA" sz="1100" b="1" dirty="0">
                <a:solidFill>
                  <a:srgbClr val="14513C"/>
                </a:solidFill>
                <a:latin typeface="Onest"/>
                <a:cs typeface="Onest"/>
              </a:rPr>
              <a:t>ЩО ЦЕ ОЗНАЧАЄ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1036320" y="4769053"/>
            <a:ext cx="6583680" cy="8826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Це рівно те, про що був блок 2: помічник цікавий саме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тим, що не повторює себе. Тільки там випадковість була</a:t>
            </a:r>
          </a:p>
          <a:p>
            <a:pPr algn="l">
              <a:lnSpc>
                <a:spcPts val="2100"/>
              </a:lnSpc>
              <a:buNone/>
            </a:pPr>
            <a:r>
              <a:rPr lang="uk-UA" sz="1400" b="0" dirty="0">
                <a:solidFill>
                  <a:srgbClr val="2B2823"/>
                </a:solidFill>
                <a:latin typeface="Onest"/>
                <a:cs typeface="Onest"/>
              </a:rPr>
              <a:t>всередині моделі, а тут ми зробили її самі, одним рядком.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222949"/>
          </a:xfrm>
          <a:prstGeom prst="roundRect">
            <a:avLst>
              <a:gd name="adj" fmla="val 4490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Набираємо: список відповідей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вся програма цілком. Допиши в свій файл те, чого в ньому ще немає.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80343"/>
            <a:ext cx="10485120" cy="4622978"/>
          </a:xfrm>
          <a:prstGeom prst="roundRect">
            <a:avLst>
              <a:gd name="adj" fmla="val 2747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/>
          </a:bodyPr>
          <a:lstStyle/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random</a:t>
            </a:r>
          </a:p>
          <a:p>
            <a:pPr algn="l">
              <a:lnSpc>
                <a:spcPts val="2240"/>
              </a:lnSpc>
              <a:buNone/>
            </a:pPr>
            <a:endParaRPr lang="uk-UA" sz="1400"/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ANSWERS = ["Ти впораєшся!", "Ще трохи!", "Я в тебе вірю."]</a:t>
            </a:r>
          </a:p>
          <a:p>
            <a:pPr algn="l">
              <a:lnSpc>
                <a:spcPts val="2240"/>
              </a:lnSpc>
              <a:buNone/>
            </a:pPr>
            <a:endParaRPr lang="uk-UA" sz="1400"/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print("Привіт! Я АІДА. Напиши «стоп», щоб вийти.")</a:t>
            </a:r>
          </a:p>
          <a:p>
            <a:pPr algn="l">
              <a:lnSpc>
                <a:spcPts val="2240"/>
              </a:lnSpc>
              <a:buNone/>
            </a:pPr>
            <a:endParaRPr lang="uk-UA" sz="1400"/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"стоп":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"мотивуй мене":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" + random.choice(ANSWERS))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else:</a:t>
            </a:r>
          </a:p>
          <a:p>
            <a:pPr algn="l">
              <a:lnSpc>
                <a:spcPts val="224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Я тебе почула.")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2"/>
          <a:srcRect l="1001" r="1000"/>
          <a:stretch>
            <a:fillRect/>
          </a:stretch>
        </p:blipFill>
        <p:spPr>
          <a:xfrm>
            <a:off x="-190529" y="-236292"/>
            <a:ext cx="12502692" cy="7176332"/>
          </a:xfrm>
          <a:prstGeom prst="roundRect">
            <a:avLst>
              <a:gd name="adj" fmla="val 1770"/>
            </a:avLst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11466"/>
            <a:ext cx="7779620" cy="3100538"/>
          </a:xfrm>
          <a:prstGeom prst="roundRect">
            <a:avLst>
              <a:gd name="adj" fmla="val 901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Домашнє завдання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54868" y="1247526"/>
            <a:ext cx="6971042" cy="1772729"/>
          </a:xfrm>
          <a:prstGeom prst="roundRect">
            <a:avLst>
              <a:gd name="adj" fmla="val 7164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7" name="text 7"/>
          <p:cNvSpPr txBox="1"/>
          <p:nvPr/>
        </p:nvSpPr>
        <p:spPr>
          <a:xfrm>
            <a:off x="1049539" y="1396975"/>
            <a:ext cx="6561986" cy="162006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1. Додай у список ANSWERS два свої рядки і перевір, що вони випадають.</a:t>
            </a:r>
          </a:p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2. Додай у програму ще одну фразу-команду за зразком «мотивуй мене».</a:t>
            </a:r>
          </a:p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2B2823"/>
                </a:solidFill>
                <a:latin typeface="Onest"/>
                <a:cs typeface="Onest"/>
              </a:rPr>
              <a:t>3. Допиши в persona.txt сьомий рядок: улюблене слово-прощання.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6085103"/>
          </a:xfrm>
          <a:prstGeom prst="roundRect">
            <a:avLst>
              <a:gd name="adj" fmla="val 4592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Ім'я у привітанні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Це весь assistant.py цілком. Нове — чотири рядки привітання з іменем замість одного старого.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330794" y="1669237"/>
            <a:ext cx="3007766" cy="1787881"/>
          </a:xfrm>
          <a:prstGeom prst="roundRect">
            <a:avLst>
              <a:gd name="adj" fmla="val 7103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513674" y="1820113"/>
            <a:ext cx="2642006" cy="156842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Старий рядок з привітанням прибери — замість нього стають ці чотири. Після коми всередині лапок має бути пробіл, інакше склеїться впритул.</a:t>
            </a:r>
          </a:p>
        </p:txBody>
      </p:sp>
      <p:sp>
        <p:nvSpPr>
          <p:cNvPr id="10" name="code 7">
            <a:extLst>
              <a:ext uri="{FF2B5EF4-FFF2-40B4-BE49-F238E27FC236}">
                <a16:creationId xmlns:a16="http://schemas.microsoft.com/office/drawing/2014/main" id="{5D488FD5-2AAA-3049-2F66-738852442895}"/>
              </a:ext>
            </a:extLst>
          </p:cNvPr>
          <p:cNvSpPr txBox="1"/>
          <p:nvPr/>
        </p:nvSpPr>
        <p:spPr>
          <a:xfrm>
            <a:off x="853440" y="1669237"/>
            <a:ext cx="7184746" cy="4484446"/>
          </a:xfrm>
          <a:prstGeom prst="roundRect">
            <a:avLst>
              <a:gd name="adj" fmla="val 2832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import random</a:t>
            </a:r>
          </a:p>
          <a:p>
            <a:pPr algn="l">
              <a:lnSpc>
                <a:spcPts val="1800"/>
              </a:lnSpc>
              <a:buNone/>
            </a:pPr>
            <a:endParaRPr lang="uk-UA" sz="1400" dirty="0"/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ANSWERS = ["Ти впораєшся!", "Ще трохи!", "Я в тебе вірю."]</a:t>
            </a:r>
          </a:p>
          <a:p>
            <a:pPr algn="l">
              <a:lnSpc>
                <a:spcPts val="1800"/>
              </a:lnSpc>
              <a:buNone/>
            </a:pPr>
            <a:endParaRPr lang="uk-UA" sz="1400" dirty="0"/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print("Привіт! Я АІДА.")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name = input("Як тебе звати? ")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print("АІДА: Дуже приємно, " + name + "!")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print("Напиши «стоп», щоб вийти.")</a:t>
            </a:r>
          </a:p>
          <a:p>
            <a:pPr algn="l">
              <a:lnSpc>
                <a:spcPts val="1800"/>
              </a:lnSpc>
              <a:buNone/>
            </a:pPr>
            <a:endParaRPr lang="uk-UA" sz="1400" dirty="0"/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"стоп":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"мотивуй мене":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" + random.choice(ANSWERS))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else:</a:t>
            </a:r>
          </a:p>
          <a:p>
            <a:pPr algn="l">
              <a:lnSpc>
                <a:spcPts val="180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Я тебе почула.")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7802880" cy="3462604"/>
          </a:xfrm>
          <a:prstGeom prst="roundRect">
            <a:avLst>
              <a:gd name="adj" fmla="val 8069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6949440" cy="969035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Друга полиця відповідей</a:t>
            </a:r>
          </a:p>
        </p:txBody>
      </p:sp>
      <p:sp>
        <p:nvSpPr>
          <p:cNvPr id="6" name="bullets 6"/>
          <p:cNvSpPr txBox="1"/>
          <p:nvPr/>
        </p:nvSpPr>
        <p:spPr>
          <a:xfrm>
            <a:off x="853440" y="2127362"/>
            <a:ext cx="6949440" cy="140520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89992" indent="-189992" algn="l">
              <a:lnSpc>
                <a:spcPts val="2465"/>
              </a:lnSpc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Чи можна класти в один список і поради, і жарти?</a:t>
            </a:r>
          </a:p>
          <a:p>
            <a:pPr marL="189992" indent="-189992" algn="l">
              <a:lnSpc>
                <a:spcPts val="2465"/>
              </a:lnSpc>
              <a:spcBef>
                <a:spcPts val="1275"/>
              </a:spcBef>
              <a:buClr>
                <a:srgbClr val="14513C"/>
              </a:buClr>
              <a:buSzPct val="70000"/>
              <a:buFont typeface="Arial"/>
              <a:buChar char="•"/>
            </a:pPr>
            <a:r>
              <a:rPr lang="uk-UA" sz="1700" b="0" dirty="0">
                <a:solidFill>
                  <a:srgbClr val="2B2823"/>
                </a:solidFill>
                <a:latin typeface="Onest"/>
                <a:cs typeface="Onest"/>
              </a:rPr>
              <a:t>Що зробить Python, якщо дві умови в циклі підійдуть одразу?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64224"/>
          </a:xfrm>
          <a:prstGeom prst="roundRect">
            <a:avLst>
              <a:gd name="adj" fmla="val 4390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Жарти й elif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assistant.py цілком. Нове — список JOKES нагорі й гілка elif у циклі.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6299606" cy="5322494"/>
          </a:xfrm>
          <a:prstGeom prst="roundRect">
            <a:avLst>
              <a:gd name="adj" fmla="val 2386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import random</a:t>
            </a:r>
          </a:p>
          <a:p>
            <a:pPr algn="l">
              <a:lnSpc>
                <a:spcPts val="1560"/>
              </a:lnSpc>
              <a:buNone/>
            </a:pPr>
            <a:endParaRPr lang="uk-UA" sz="1200" dirty="0"/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ANSWERS = ["Ти впораєшся!", "Ще трохи!", "Я в тебе вірю."]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JOKES = [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"Що сказав нуль одиниці? Гарний пояс!",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"Чому робот пішов спати? У нього сіла батарейка.",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"Який комп'ютер найсмачніший? Той, що з яблуком.",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]</a:t>
            </a:r>
          </a:p>
          <a:p>
            <a:pPr algn="l">
              <a:lnSpc>
                <a:spcPts val="1560"/>
              </a:lnSpc>
              <a:buNone/>
            </a:pPr>
            <a:endParaRPr lang="uk-UA" sz="1200" dirty="0"/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print("Привіт! Я АІДА.")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name = input("Як тебе звати? 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print("АІДА: Дуже приємно, " + name + "!")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print("Напиши «стоп», щоб вийти.")</a:t>
            </a:r>
          </a:p>
          <a:p>
            <a:pPr algn="l">
              <a:lnSpc>
                <a:spcPts val="1560"/>
              </a:lnSpc>
              <a:buNone/>
            </a:pPr>
            <a:endParaRPr lang="uk-UA" sz="1200" dirty="0"/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"стоп":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Бувай!")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"мотивуй мене":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" + random.choice(ANSWERS))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elif text == "розкажи жарт":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" + random.choice(JOKES))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else:</a:t>
            </a:r>
          </a:p>
          <a:p>
            <a:pPr algn="l">
              <a:lnSpc>
                <a:spcPts val="156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Я тебе почула.")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7445654" y="1137742"/>
            <a:ext cx="3892906" cy="1292047"/>
          </a:xfrm>
          <a:prstGeom prst="roundRect">
            <a:avLst>
              <a:gd name="adj" fmla="val 9829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7628534" y="1288618"/>
            <a:ext cx="3527146" cy="107259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Кома в кінці кожного рядка списку. Квадратна дужка закриває його. elif стоїть рівно під if — чотири пробіли, не вісім.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308610"/>
            <a:ext cx="11338560" cy="4149090"/>
          </a:xfrm>
          <a:prstGeom prst="roundRect">
            <a:avLst>
              <a:gd name="adj" fmla="val 6734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582930"/>
            <a:ext cx="10485120" cy="5122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3360"/>
              </a:lnSpc>
              <a:buNone/>
            </a:pPr>
            <a:r>
              <a:rPr lang="uk-UA" sz="3000" b="1" spc="-84" dirty="0">
                <a:solidFill>
                  <a:srgbClr val="1B1A17"/>
                </a:solidFill>
                <a:latin typeface="Onest"/>
                <a:cs typeface="Onest"/>
              </a:rPr>
              <a:t>Промт про свою тему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1177519"/>
            <a:ext cx="10485120" cy="34084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250"/>
              </a:lnSpc>
              <a:buNone/>
            </a:pPr>
            <a:r>
              <a:rPr lang="uk-UA" sz="1500" b="0" dirty="0">
                <a:solidFill>
                  <a:srgbClr val="6C6860"/>
                </a:solidFill>
                <a:latin typeface="Onest"/>
                <a:cs typeface="Onest"/>
              </a:rPr>
              <a:t>Перепиши чотири рядки в ChatGPT і заміни те, що в квадратних дужках, на своє.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668551"/>
            <a:ext cx="10485120" cy="1656207"/>
          </a:xfrm>
          <a:prstGeom prst="roundRect">
            <a:avLst>
              <a:gd name="adj" fmla="val 7668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Autofit/>
          </a:bodyPr>
          <a:lstStyle/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Ти — [терплячий репетитор з математики].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Поясни, [як додавати дроби з різними знаменниками].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Я вчуся в [6] класі, [множення вже знаю добре].</a:t>
            </a:r>
          </a:p>
          <a:p>
            <a:pPr algn="l">
              <a:lnSpc>
                <a:spcPts val="2560"/>
              </a:lnSpc>
              <a:buNone/>
            </a:pPr>
            <a:r>
              <a:rPr lang="uk-UA" sz="1400" b="0" dirty="0">
                <a:solidFill>
                  <a:srgbClr val="26241F"/>
                </a:solidFill>
                <a:latin typeface="Courier New"/>
                <a:cs typeface="Courier New"/>
              </a:rPr>
              <a:t>Дай [три речення] і [один приклад із життя].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53440" y="3475634"/>
            <a:ext cx="10485120" cy="742036"/>
          </a:xfrm>
          <a:prstGeom prst="roundRect">
            <a:avLst>
              <a:gd name="adj" fmla="val 1711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1036320" y="3626510"/>
            <a:ext cx="10119360" cy="5774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Квадратні дужки прибери — вони лише показують, що міняти.</a:t>
            </a:r>
          </a:p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Усі чотири рядки надсилай одним повідомленням: Shift+Enter.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Зображення 3"/>
          <p:cNvPicPr>
            <a:picLocks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hape 4"/>
          <p:cNvSpPr txBox="1"/>
          <p:nvPr/>
        </p:nvSpPr>
        <p:spPr>
          <a:xfrm>
            <a:off x="426720" y="171450"/>
            <a:ext cx="11338560" cy="6349136"/>
          </a:xfrm>
          <a:prstGeom prst="roundRect">
            <a:avLst>
              <a:gd name="adj" fmla="val 4401"/>
            </a:avLst>
          </a:prstGeom>
          <a:solidFill>
            <a:srgbClr val="F6F4ED"/>
          </a:solidFill>
        </p:spPr>
        <p:txBody>
          <a:bodyPr/>
          <a:lstStyle/>
          <a:p>
            <a:endParaRPr/>
          </a:p>
        </p:txBody>
      </p:sp>
      <p:sp>
        <p:nvSpPr>
          <p:cNvPr id="5" name="heading 5"/>
          <p:cNvSpPr txBox="1"/>
          <p:nvPr/>
        </p:nvSpPr>
        <p:spPr>
          <a:xfrm>
            <a:off x="853440" y="329184"/>
            <a:ext cx="10485120" cy="39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2688"/>
              </a:lnSpc>
              <a:buNone/>
            </a:pPr>
            <a:r>
              <a:rPr lang="uk-UA" sz="2400" b="1" spc="-67" dirty="0">
                <a:solidFill>
                  <a:srgbClr val="1B1A17"/>
                </a:solidFill>
                <a:latin typeface="Onest"/>
                <a:cs typeface="Onest"/>
              </a:rPr>
              <a:t>Лічильник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3440" y="753008"/>
            <a:ext cx="10485120" cy="30243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6C6860"/>
                </a:solidFill>
                <a:latin typeface="Onest"/>
                <a:cs typeface="Onest"/>
              </a:rPr>
              <a:t>Це весь assistant.py цілком. Нове — count = 0 над while, count + 1 у циклі й довше прощання.</a:t>
            </a:r>
          </a:p>
        </p:txBody>
      </p:sp>
      <p:sp>
        <p:nvSpPr>
          <p:cNvPr id="7" name="code 7"/>
          <p:cNvSpPr txBox="1"/>
          <p:nvPr/>
        </p:nvSpPr>
        <p:spPr>
          <a:xfrm>
            <a:off x="853440" y="1137742"/>
            <a:ext cx="7046976" cy="5307406"/>
          </a:xfrm>
          <a:prstGeom prst="roundRect">
            <a:avLst>
              <a:gd name="adj" fmla="val 2393"/>
            </a:avLst>
          </a:prstGeom>
          <a:solidFill>
            <a:srgbClr val="F5F3EE"/>
          </a:solidFill>
        </p:spPr>
        <p:txBody>
          <a:bodyPr wrap="square" lIns="228600" tIns="177800" rIns="228600" bIns="177800" anchor="t">
            <a:normAutofit fontScale="92500"/>
          </a:bodyPr>
          <a:lstStyle/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import random</a:t>
            </a:r>
          </a:p>
          <a:p>
            <a:pPr algn="l">
              <a:lnSpc>
                <a:spcPts val="1440"/>
              </a:lnSpc>
              <a:buNone/>
            </a:pPr>
            <a:endParaRPr lang="uk-UA" sz="1200" dirty="0"/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ANSWERS = ["Ти впораєшся!", "Ще трохи!", "Я в тебе вірю."]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JOKES = [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"Що сказав нуль одиниці? Гарний пояс!",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"Чому робот пішов спати? У нього сіла батарейка.",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"Який комп'ютер найсмачніший? Той, що з яблуком.",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]</a:t>
            </a:r>
          </a:p>
          <a:p>
            <a:pPr algn="l">
              <a:lnSpc>
                <a:spcPts val="1440"/>
              </a:lnSpc>
              <a:buNone/>
            </a:pPr>
            <a:endParaRPr lang="uk-UA" sz="1200" dirty="0"/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print("Привіт! Я АІДА.")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name = input("Як тебе звати? ")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print("АІДА: Дуже приємно, " + name + "!")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print("Напиши «стоп», щоб вийти.")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count = 0</a:t>
            </a:r>
          </a:p>
          <a:p>
            <a:pPr algn="l">
              <a:lnSpc>
                <a:spcPts val="1440"/>
              </a:lnSpc>
              <a:buNone/>
            </a:pPr>
            <a:endParaRPr lang="uk-UA" sz="1200" dirty="0"/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while True: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text = input("Ти: ")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"стоп":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Повідомлень від тебе: " + str(count) + ". Бувай!")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break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count = count + 1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if text == "мотивуй мене":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" + random.choice(ANSWERS))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elif text == "розкажи жарт":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" + random.choice(JOKES))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else:</a:t>
            </a:r>
          </a:p>
          <a:p>
            <a:pPr algn="l">
              <a:lnSpc>
                <a:spcPts val="1440"/>
              </a:lnSpc>
              <a:buNone/>
            </a:pPr>
            <a:r>
              <a:rPr lang="uk-UA" sz="1200" b="0" dirty="0">
                <a:solidFill>
                  <a:srgbClr val="26241F"/>
                </a:solidFill>
                <a:latin typeface="Courier New"/>
                <a:cs typeface="Courier New"/>
              </a:rPr>
              <a:t>        print("АІДА: Я тебе почула.")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193024" y="1137742"/>
            <a:ext cx="3145536" cy="1540307"/>
          </a:xfrm>
          <a:prstGeom prst="roundRect">
            <a:avLst>
              <a:gd name="adj" fmla="val 8245"/>
            </a:avLst>
          </a:prstGeom>
          <a:solidFill>
            <a:srgbClr val="E4EDE6"/>
          </a:solidFill>
        </p:spPr>
        <p:txBody>
          <a:bodyPr/>
          <a:lstStyle/>
          <a:p>
            <a:endParaRPr/>
          </a:p>
        </p:txBody>
      </p:sp>
      <p:sp>
        <p:nvSpPr>
          <p:cNvPr id="9" name="text 9"/>
          <p:cNvSpPr txBox="1"/>
          <p:nvPr/>
        </p:nvSpPr>
        <p:spPr>
          <a:xfrm>
            <a:off x="8375904" y="1288618"/>
            <a:ext cx="2779776" cy="1320851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ts val="1950"/>
              </a:lnSpc>
              <a:buNone/>
            </a:pPr>
            <a:r>
              <a:rPr lang="uk-UA" sz="1300" b="0" dirty="0">
                <a:solidFill>
                  <a:srgbClr val="2B2823"/>
                </a:solidFill>
                <a:latin typeface="Onest"/>
                <a:cs typeface="Onest"/>
              </a:rPr>
              <a:t>count = 0 стоїть до while, інакше лічильник обнулятиметься щоразу. str(count) — без нього буде TypeError, і це нормальна помилка.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роки">
  <a:themeElements>
    <a:clrScheme name="Уроки">
      <a:dk1>
        <a:srgbClr val="1B1A17"/>
      </a:dk1>
      <a:lt1>
        <a:srgbClr val="FFFFFF"/>
      </a:lt1>
      <a:dk2>
        <a:srgbClr val="2B2823"/>
      </a:dk2>
      <a:lt2>
        <a:srgbClr val="F1EFE8"/>
      </a:lt2>
      <a:accent1>
        <a:srgbClr val="14513C"/>
      </a:accent1>
      <a:accent2>
        <a:srgbClr val="B9862F"/>
      </a:accent2>
      <a:accent3>
        <a:srgbClr val="9E4A3A"/>
      </a:accent3>
      <a:accent4>
        <a:srgbClr val="6C6860"/>
      </a:accent4>
      <a:accent5>
        <a:srgbClr val="E9EFE9"/>
      </a:accent5>
      <a:accent6>
        <a:srgbClr val="FFF6E3"/>
      </a:accent6>
      <a:hlink>
        <a:srgbClr val="14513C"/>
      </a:hlink>
      <a:folHlink>
        <a:srgbClr val="6C6860"/>
      </a:folHlink>
    </a:clrScheme>
    <a:fontScheme name="Уроки">
      <a:majorFont>
        <a:latin typeface="Onest"/>
        <a:ea typeface=""/>
        <a:cs typeface=""/>
      </a:majorFont>
      <a:minorFont>
        <a:latin typeface="Onest"/>
        <a:ea typeface=""/>
        <a:cs typeface=""/>
      </a:minorFont>
    </a:fontScheme>
    <a:fmtScheme name="Уроки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9045</Words>
  <Application>Microsoft Macintosh PowerPoint</Application>
  <PresentationFormat>Widescreen</PresentationFormat>
  <Paragraphs>1059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Arial</vt:lpstr>
      <vt:lpstr>Calibri</vt:lpstr>
      <vt:lpstr>Consolas</vt:lpstr>
      <vt:lpstr>Courier New</vt:lpstr>
      <vt:lpstr>Onest</vt:lpstr>
      <vt:lpstr>Уроки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Дмитро Штефан</cp:lastModifiedBy>
  <cp:revision>4</cp:revision>
  <dcterms:modified xsi:type="dcterms:W3CDTF">2026-10-12T21:17:53Z</dcterms:modified>
</cp:coreProperties>
</file>

<file path=docProps/core0.xml><?xml version="1.0" encoding="utf-8"?>
<cp:coreProperties xmlns:cp="http://schemas.openxmlformats.org/package/2006/metadata/core-properties" xmlns:dc="http://purl.org/dc/elements/1.1/" xmlns:xsi="http://www.w3.org/2001/XMLSchema-instance">
  <dc:title>Створення простого AI-помічника</dc:title>
  <dc:subject>Перший помічник: слова, логіка, пам'ять · AI Assistant: створення помічника</dc:subject>
</cp:coreProperties>
</file>