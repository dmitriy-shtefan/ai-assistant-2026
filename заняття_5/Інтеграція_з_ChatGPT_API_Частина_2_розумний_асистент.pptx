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54706"/>
  </p:normalViewPr>
  <p:slideViewPr>
    <p:cSldViewPr snapToGrid="0">
      <p:cViewPr>
        <p:scale>
          <a:sx n="140" d="100"/>
          <a:sy n="140" d="100"/>
        </p:scale>
        <p:origin x="568" y="0"/>
      </p:cViewPr>
      <p:guideLst/>
    </p:cSldViewPr>
  </p:slideViewPr>
  <p:notesTextViewPr>
    <p:cViewPr>
      <p:scale>
        <a:sx n="1" d="1"/>
        <a:sy n="1" d="1"/>
      </p:scale>
      <p:origin x="0" y="-786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перекличка, ключ і план</a:t>
            </a:r>
          </a:p>
          <a:p>
            <a:endParaRPr lang="uk-UA" sz="1200" dirty="0"/>
          </a:p>
          <a:p>
            <a:r>
              <a:rPr lang="uk-UA" sz="1200" dirty="0"/>
              <a:t>Цей слайд висить на екрані, поки я роблю перекличку. Група читає план сама.</a:t>
            </a:r>
          </a:p>
          <a:p>
            <a:endParaRPr lang="uk-UA" sz="1200" dirty="0"/>
          </a:p>
          <a:p>
            <a:r>
              <a:rPr lang="uk-UA" sz="1200" dirty="0"/>
              <a:t>ГОЛОВНЕ ПРО СЬОГОДНІ: кожен пише шість маленьких програм, chat1.py … chat6.py,</a:t>
            </a:r>
          </a:p>
          <a:p>
            <a:r>
              <a:rPr lang="uk-UA" sz="1200" dirty="0"/>
              <a:t>і кожна з них сама по собі запускається й ходить у мережу. Не одна програма,</a:t>
            </a:r>
          </a:p>
          <a:p>
            <a:r>
              <a:rPr lang="uk-UA" sz="1200" dirty="0"/>
              <a:t>яку шість разів переробляють наосліп: кожна наступна — це попередня, збережена</a:t>
            </a:r>
          </a:p>
          <a:p>
            <a:r>
              <a:rPr lang="uk-UA" sz="1200" dirty="0"/>
              <a:t>під новим іменем і доведена до того, що лежить на екрані. Хто загубився —</a:t>
            </a:r>
          </a:p>
          <a:p>
            <a:r>
              <a:rPr lang="uk-UA" sz="1200" dirty="0"/>
              <a:t>бере з екрана файл цілком і набирає з нуля, бо на слайді лежить увесь файл, а</a:t>
            </a:r>
          </a:p>
          <a:p>
            <a:r>
              <a:rPr lang="uk-UA" sz="1200" dirty="0"/>
              <a:t>не шматок.</a:t>
            </a:r>
          </a:p>
          <a:p>
            <a:endParaRPr lang="uk-UA" sz="1200" dirty="0"/>
          </a:p>
          <a:p>
            <a:r>
              <a:rPr lang="uk-UA" sz="1200" dirty="0"/>
              <a:t>КЛЮЧ. Роздаю його на початку — на дошці, у чаті групи, як зручно. Правило</a:t>
            </a:r>
          </a:p>
          <a:p>
            <a:r>
              <a:rPr lang="uk-UA" sz="1200" dirty="0"/>
              <a:t>одне: ключ лежить у файлі key.txt поруч із програмою, одним рядком, без лапок</a:t>
            </a:r>
          </a:p>
          <a:p>
            <a:r>
              <a:rPr lang="uk-UA" sz="1200" dirty="0"/>
              <a:t>і без пробілів. У код його не пишемо ніколи: програму діти показують одне</a:t>
            </a:r>
          </a:p>
          <a:p>
            <a:r>
              <a:rPr lang="uk-UA" sz="1200" dirty="0"/>
              <a:t>одному й викладають у чат, а ключ — це пароль, за яким стоять гроші.</a:t>
            </a:r>
          </a:p>
          <a:p>
            <a:r>
              <a:rPr lang="uk-UA" sz="1200" dirty="0"/>
              <a:t>Перша ж практика його й перевірить: неправильний ключ дасть «Помилка. Код:</a:t>
            </a:r>
          </a:p>
          <a:p>
            <a:r>
              <a:rPr lang="uk-UA" sz="1200" dirty="0"/>
              <a:t>401», а не купу червоного тексту.</a:t>
            </a:r>
          </a:p>
          <a:p>
            <a:endParaRPr lang="uk-UA" sz="1200" dirty="0"/>
          </a:p>
          <a:p>
            <a:r>
              <a:rPr lang="uk-UA" sz="1200" dirty="0"/>
              <a:t>Після переклички роблю демонстрацію, яку діти вже бачили в кінці минулого</a:t>
            </a:r>
          </a:p>
          <a:p>
            <a:r>
              <a:rPr lang="uk-UA" sz="1200" dirty="0"/>
              <a:t>уроку. Прошу когось запустити свого вчорашнього помічника, написати «Мене</a:t>
            </a:r>
          </a:p>
          <a:p>
            <a:r>
              <a:rPr lang="uk-UA" sz="1200" dirty="0"/>
              <a:t>звати Марта», а наступним рядком спитати «Як мене звати?». Модель не знає.</a:t>
            </a:r>
          </a:p>
          <a:p>
            <a:r>
              <a:rPr lang="uk-UA" sz="1200" dirty="0"/>
              <a:t>Питаю групу: чому? Вона ж щойно це прочитала.</a:t>
            </a:r>
          </a:p>
          <a:p>
            <a:endParaRPr lang="uk-UA" sz="1200" dirty="0"/>
          </a:p>
          <a:p>
            <a:r>
              <a:rPr lang="uk-UA" sz="1200" dirty="0"/>
              <a:t>Правильну відповідь витягую з групи, а не кажу сам: ми щоразу надсилали ОДНЕ</a:t>
            </a:r>
          </a:p>
          <a:p>
            <a:r>
              <a:rPr lang="uk-UA" sz="1200" dirty="0"/>
              <a:t>повідомлення. Модель не бачила попереднього, бо ми його не надіслали. Вона</a:t>
            </a:r>
          </a:p>
          <a:p>
            <a:r>
              <a:rPr lang="uk-UA" sz="1200" dirty="0"/>
              <a:t>нічого не забула — їй просто не показали.</a:t>
            </a:r>
          </a:p>
          <a:p>
            <a:endParaRPr lang="uk-UA" sz="1200" dirty="0"/>
          </a:p>
          <a:p>
            <a:r>
              <a:rPr lang="uk-UA" sz="1200" dirty="0"/>
              <a:t>Кажу, що сьогодні ми зробимо пам'ять руками, і вона виявиться напрочуд</a:t>
            </a:r>
          </a:p>
          <a:p>
            <a:r>
              <a:rPr lang="uk-UA" sz="1200" dirty="0"/>
              <a:t>простою: список, який росте.</a:t>
            </a:r>
          </a:p>
          <a:p>
            <a:endParaRPr lang="uk-UA" sz="1200" dirty="0"/>
          </a:p>
          <a:p>
            <a:r>
              <a:rPr lang="uk-UA" sz="1200" dirty="0"/>
              <a:t>Далі — як влаштована пара, це знімає половину питань: шість однакових кроків,</a:t>
            </a:r>
          </a:p>
          <a:p>
            <a:r>
              <a:rPr lang="uk-UA" sz="1200" dirty="0"/>
              <a:t>спершу я показую на телевізорі, потім на екрані з'являється файл, який треба</a:t>
            </a:r>
          </a:p>
          <a:p>
            <a:r>
              <a:rPr lang="uk-UA" sz="1200" dirty="0"/>
              <a:t>мати в кінці кроку. Вигадувати нічого не треба.</a:t>
            </a:r>
          </a:p>
          <a:p>
            <a:endParaRPr lang="uk-UA" sz="1200" dirty="0"/>
          </a:p>
          <a:p>
            <a:r>
              <a:rPr lang="uk-UA" sz="1200" dirty="0"/>
              <a:t>Ще одне прошу зробити одразу: дістати persona.txt з уроку 1, він знадобиться</a:t>
            </a:r>
          </a:p>
          <a:p>
            <a:r>
              <a:rPr lang="uk-UA" sz="1200" dirty="0"/>
              <a:t>в блоці 4. У кого немає — шаблон буде на слайді показу.</a:t>
            </a:r>
          </a:p>
          <a:p>
            <a:endParaRPr lang="uk-UA" sz="1200" dirty="0"/>
          </a:p>
          <a:p>
            <a:r>
              <a:rPr lang="uk-UA" sz="1200" dirty="0"/>
              <a:t>Технічне: потрібні інтернет, ключ і встановлений requests (pip install</a:t>
            </a:r>
          </a:p>
          <a:p>
            <a:r>
              <a:rPr lang="uk-UA" sz="1200" dirty="0"/>
              <a:t>requests). Мок із минулого уроку сьогодні не рятує: уся сіль уроку в тому, що</a:t>
            </a:r>
          </a:p>
          <a:p>
            <a:r>
              <a:rPr lang="uk-UA" sz="1200" dirty="0"/>
              <a:t>діти самі надсилають запити й самі бачать, що приїхало назад.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 на початку уроку. Питання прямо про фінал минулої пари, і на них є</a:t>
            </a:r>
          </a:p>
          <a:p>
            <a:r>
              <a:rPr lang="uk-UA" sz="1200" dirty="0"/>
              <a:t>що сказати всім, хто там був.</a:t>
            </a:r>
          </a:p>
          <a:p>
            <a:endParaRPr lang="uk-UA" sz="1200" dirty="0"/>
          </a:p>
          <a:p>
            <a:r>
              <a:rPr lang="uk-UA" sz="1200" dirty="0"/>
              <a:t>ХТО ЗАБУВ. Майже всі скажуть «модель». Не виправляю одразу — кажу, що зараз</a:t>
            </a:r>
          </a:p>
          <a:p>
            <a:r>
              <a:rPr lang="uk-UA" sz="1200" dirty="0"/>
              <a:t>подивимось, що саме поїхало на сервер, і після цього питання повернеться.</a:t>
            </a:r>
          </a:p>
          <a:p>
            <a:endParaRPr lang="uk-UA" sz="1200" dirty="0"/>
          </a:p>
          <a:p>
            <a:r>
              <a:rPr lang="uk-UA" sz="1200" dirty="0"/>
              <a:t>ЩО ПОКЛАЛИ В КОНВЕРТ. Прошу згадати код: у messages лежав один словник з одним</a:t>
            </a:r>
          </a:p>
          <a:p>
            <a:r>
              <a:rPr lang="uk-UA" sz="1200" dirty="0"/>
              <a:t>питанням. Якщо хтось згадає сам — це готова відповідь на попереднє питання, і</a:t>
            </a:r>
          </a:p>
          <a:p>
            <a:r>
              <a:rPr lang="uk-UA" sz="1200" dirty="0"/>
              <a:t>варто сказати вголос, що модель нічого не забувала: їй просто не дали.</a:t>
            </a:r>
          </a:p>
          <a:p>
            <a:endParaRPr lang="uk-UA" sz="1200" dirty="0"/>
          </a:p>
          <a:p>
            <a:r>
              <a:rPr lang="uk-UA" sz="1200" dirty="0"/>
              <a:t>ЧОМУ Ж ChatGPT ПАМ'ЯТАЄ. Найцікавіше питання. Кажуть: бо він розумніший, бо</a:t>
            </a:r>
          </a:p>
          <a:p>
            <a:r>
              <a:rPr lang="uk-UA" sz="1200" dirty="0"/>
              <a:t>там інша модель. Кажу: ні, модель та сама. Сайт щоразу надсилає всю переписку</a:t>
            </a:r>
          </a:p>
          <a:p>
            <a:r>
              <a:rPr lang="uk-UA" sz="1200" dirty="0"/>
              <a:t>разом із новим питанням. Це майже завжди викликає здивування, і воно корисне.</a:t>
            </a:r>
          </a:p>
          <a:p>
            <a:endParaRPr lang="uk-UA" sz="1200" dirty="0"/>
          </a:p>
          <a:p>
            <a:r>
              <a:rPr lang="uk-UA" sz="1200" dirty="0"/>
              <a:t>ХТО МАЄ ЗРОБИТИ ПАМ'ЯТЬ. Відповідь після трьох попередніх уже очевидна: ми.</a:t>
            </a:r>
          </a:p>
          <a:p>
            <a:r>
              <a:rPr lang="uk-UA" sz="1200" dirty="0"/>
              <a:t>Кажу, що сьогодні пам'ять виявиться звичайним списком, і це найприємніша</a:t>
            </a:r>
          </a:p>
          <a:p>
            <a:r>
              <a:rPr lang="uk-UA" sz="1200" dirty="0"/>
              <a:t>новина уроку.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Блок знімає найпоширенішу помилку уявлення про AI, і його варто провести</a:t>
            </a:r>
          </a:p>
          <a:p>
            <a:r>
              <a:rPr lang="uk-UA" sz="1200" dirty="0"/>
              <a:t>уважно, бо на ньому тримається весь урок. Група слухає й нічого не набирає —</a:t>
            </a:r>
          </a:p>
          <a:p>
            <a:r>
              <a:rPr lang="uk-UA" sz="1200" dirty="0"/>
              <a:t>попереджаю про це окремо, інакше половина вже полізе в клавіатуру.</a:t>
            </a:r>
          </a:p>
          <a:p>
            <a:endParaRPr lang="uk-UA" sz="1200" dirty="0"/>
          </a:p>
          <a:p>
            <a:r>
              <a:rPr lang="uk-UA" sz="1200" dirty="0"/>
              <a:t>Кажу: коли ми надсилаємо запит, ми кладемо в конверт список повідомлень. Досі</a:t>
            </a:r>
          </a:p>
          <a:p>
            <a:r>
              <a:rPr lang="uk-UA" sz="1200" dirty="0"/>
              <a:t>там лежало рівно одне — наше питання. Модель прочитала конверт, відповіла й</a:t>
            </a:r>
          </a:p>
          <a:p>
            <a:r>
              <a:rPr lang="uk-UA" sz="1200" dirty="0"/>
              <a:t>про нього забула. Наступний конверт для неї — від незнайомця.</a:t>
            </a:r>
          </a:p>
          <a:p>
            <a:endParaRPr lang="uk-UA" sz="1200" dirty="0"/>
          </a:p>
          <a:p>
            <a:r>
              <a:rPr lang="uk-UA" sz="1200" dirty="0"/>
              <a:t>Найважливіше речення: модель нічого не «забула». Вона не має де тримати</a:t>
            </a:r>
          </a:p>
          <a:p>
            <a:r>
              <a:rPr lang="uk-UA" sz="1200" dirty="0"/>
              <a:t>розмову. У неї немає ні файлів, ні бази — вона просто перетворює один текст на</a:t>
            </a:r>
          </a:p>
          <a:p>
            <a:r>
              <a:rPr lang="uk-UA" sz="1200" dirty="0"/>
              <a:t>інший, як ми казали ще на уроці 1.</a:t>
            </a:r>
          </a:p>
          <a:p>
            <a:endParaRPr lang="uk-UA" sz="1200" dirty="0"/>
          </a:p>
          <a:p>
            <a:r>
              <a:rPr lang="uk-UA" sz="1200" dirty="0"/>
              <a:t>Питаю групу: а чому тоді ChatGPT у браузері пам'ятає? Відповідь, до якої треба</a:t>
            </a:r>
          </a:p>
          <a:p>
            <a:r>
              <a:rPr lang="uk-UA" sz="1200" dirty="0"/>
              <a:t>довести: сайт зберігає розмову в себе і щоразу надсилає її разом із новим</a:t>
            </a:r>
          </a:p>
          <a:p>
            <a:r>
              <a:rPr lang="uk-UA" sz="1200" dirty="0"/>
              <a:t>питанням. Тобто пам'ять живе не в моделі, а в програмі навколо неї. Ми — та</a:t>
            </a:r>
          </a:p>
          <a:p>
            <a:r>
              <a:rPr lang="uk-UA" sz="1200" dirty="0"/>
              <a:t>сама програма навколо.</a:t>
            </a:r>
          </a:p>
          <a:p>
            <a:endParaRPr lang="uk-UA" sz="1200" dirty="0"/>
          </a:p>
          <a:p>
            <a:r>
              <a:rPr lang="uk-UA" sz="1200" dirty="0"/>
              <a:t>Корисна деталь: платити доводиться за все, що поклали в конверт. Пам'ять не</a:t>
            </a:r>
          </a:p>
          <a:p>
            <a:r>
              <a:rPr lang="uk-UA" sz="1200" dirty="0"/>
              <a:t>безкоштовна, і в блоці 6 ми до цього повернемось.</a:t>
            </a:r>
          </a:p>
          <a:p>
            <a:endParaRPr lang="uk-UA" sz="1200" dirty="0"/>
          </a:p>
          <a:p>
            <a:r>
              <a:rPr lang="uk-UA" sz="1200" dirty="0"/>
              <a:t>Місток на урок 3: тоді ми казали, що змінні живуть на дошці й зникають. Тепер</a:t>
            </a:r>
          </a:p>
          <a:p>
            <a:r>
              <a:rPr lang="uk-UA" sz="1200" dirty="0"/>
              <a:t>виявляється, що в моделі немає навіть дошки — усе, що вона має, лежить у</a:t>
            </a:r>
          </a:p>
          <a:p>
            <a:r>
              <a:rPr lang="uk-UA" sz="1200" dirty="0"/>
              <a:t>конверті, який ми принесли.</a:t>
            </a:r>
          </a:p>
          <a:p>
            <a:endParaRPr lang="uk-UA" sz="1200" dirty="0"/>
          </a:p>
          <a:p>
            <a:r>
              <a:rPr lang="uk-UA" sz="1200" dirty="0"/>
              <a:t>Показую на телевізорі рядок data = {...} із вчорашньої програми й пальцем</a:t>
            </a:r>
          </a:p>
          <a:p>
            <a:r>
              <a:rPr lang="uk-UA" sz="1200" dirty="0"/>
              <a:t>веду по квадратних дужках: ось список, ось у ньому один-єдиний словник.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рядок, який друкує цей конверт на екран, — і</a:t>
            </a:r>
          </a:p>
          <a:p>
            <a:r>
              <a:rPr lang="uk-UA" sz="1200" dirty="0"/>
              <a:t>дивимось на нього власними очима.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Перше, що група робить руками, — і перший справжній запит до моделі з їхньої</a:t>
            </a:r>
          </a:p>
          <a:p>
            <a:r>
              <a:rPr lang="uk-UA" sz="1200" dirty="0"/>
              <a:t>власної програми. Половина часу піде не на набір, а на ключ; я це закладаю в</a:t>
            </a:r>
          </a:p>
          <a:p>
            <a:r>
              <a:rPr lang="uk-UA" sz="1200" dirty="0"/>
              <a:t>план і не підганяю.</a:t>
            </a:r>
          </a:p>
          <a:p>
            <a:endParaRPr lang="uk-UA" sz="1200" dirty="0"/>
          </a:p>
          <a:p>
            <a:r>
              <a:rPr lang="uk-UA" sz="1200" dirty="0"/>
              <a:t>ПОРЯДОК, ЯКИЙ ДИКТУЮ ВГОЛОС. Створити папку уроку. У ній — файл key.txt,</a:t>
            </a:r>
          </a:p>
          <a:p>
            <a:r>
              <a:rPr lang="uk-UA" sz="1200" dirty="0"/>
              <a:t>вставити ключ одним рядком, без лапок і без пробілів, зберегти. Поруч створити</a:t>
            </a:r>
          </a:p>
          <a:p>
            <a:r>
              <a:rPr lang="uk-UA" sz="1200" dirty="0"/>
              <a:t>chat1.py і набрати те, що на екрані. Наголошую двічі: key.txt і chat1.py</a:t>
            </a:r>
          </a:p>
          <a:p>
            <a:r>
              <a:rPr lang="uk-UA" sz="1200" dirty="0"/>
              <a:t>лежать в ОДНІЙ папці, інакше програма ключа не знайде.</a:t>
            </a:r>
          </a:p>
          <a:p>
            <a:endParaRPr lang="uk-UA" sz="1200" dirty="0"/>
          </a:p>
          <a:p>
            <a:r>
              <a:rPr lang="uk-UA" sz="1200" dirty="0"/>
              <a:t>Чому ключ у файлі, а не в коді: файл легко замінити, а програму діти</a:t>
            </a:r>
          </a:p>
          <a:p>
            <a:r>
              <a:rPr lang="uk-UA" sz="1200" dirty="0"/>
              <a:t>показують одне одному, кидають у чат і носять на флешці. Ключ — це пароль, за</a:t>
            </a:r>
          </a:p>
          <a:p>
            <a:r>
              <a:rPr lang="uk-UA" sz="1200" dirty="0"/>
              <a:t>яким стоять гроші; у код паролі не пишуть. Це та сама причина, з якої ми не</a:t>
            </a:r>
          </a:p>
          <a:p>
            <a:r>
              <a:rPr lang="uk-UA" sz="1200" dirty="0"/>
              <a:t>малюємо його на слайді.</a:t>
            </a:r>
          </a:p>
          <a:p>
            <a:endParaRPr lang="uk-UA" sz="1200" dirty="0"/>
          </a:p>
          <a:p>
            <a:r>
              <a:rPr lang="uk-UA" sz="1200" dirty="0"/>
              <a:t>Новий тут рівно один рядок — print("[конверт]", messages). Він нічого не</a:t>
            </a:r>
          </a:p>
          <a:p>
            <a:r>
              <a:rPr lang="uk-UA" sz="1200" dirty="0"/>
              <a:t>міняє, він показує. Так роблять і дорослі програмісти, коли не розуміють, що</a:t>
            </a:r>
          </a:p>
          <a:p>
            <a:r>
              <a:rPr lang="uk-UA" sz="1200" dirty="0"/>
              <a:t>відбувається: друкують те, що насправді поїхало.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FileNotFoundError: key.txt — файл не в тій папці або названий key.txt.txt</a:t>
            </a:r>
          </a:p>
          <a:p>
            <a:r>
              <a:rPr lang="uk-UA" sz="1200" dirty="0"/>
              <a:t>    (Windows ховає розширення; вмикаю показ розширень на одній машині й</a:t>
            </a:r>
          </a:p>
          <a:p>
            <a:r>
              <a:rPr lang="uk-UA" sz="1200" dirty="0"/>
              <a:t>    показую всім);</a:t>
            </a:r>
          </a:p>
          <a:p>
            <a:r>
              <a:rPr lang="uk-UA" sz="1200" dirty="0"/>
              <a:t>    «Помилка. Код: 401» — ключ скопійовано з пробілом або не цілком;</a:t>
            </a:r>
          </a:p>
          <a:p>
            <a:r>
              <a:rPr lang="uk-UA" sz="1200" dirty="0"/>
              <a:t>    «Помилка. Код: 429» — на ключі скінчився ліміт, це не їхня провина,</a:t>
            </a:r>
          </a:p>
          <a:p>
            <a:r>
              <a:rPr lang="uk-UA" sz="1200" dirty="0"/>
              <a:t>    саджу до сусіда;</a:t>
            </a:r>
          </a:p>
          <a:p>
            <a:r>
              <a:rPr lang="uk-UA" sz="1200" dirty="0"/>
              <a:t>    ModuleNotFoundError: requests — pip install requests;</a:t>
            </a:r>
          </a:p>
          <a:p>
            <a:r>
              <a:rPr lang="uk-UA" sz="1200" dirty="0"/>
              <a:t>    IndentationError — рядки всередині def мають стояти на чотирьох пробілах;</a:t>
            </a:r>
          </a:p>
          <a:p>
            <a:r>
              <a:rPr lang="uk-UA" sz="1200" dirty="0"/>
              <a:t>    забули дужку в print і дістали SyntaxError на наступному рядку.</a:t>
            </a:r>
          </a:p>
          <a:p>
            <a:endParaRPr lang="uk-UA" sz="1200" dirty="0"/>
          </a:p>
          <a:p>
            <a:r>
              <a:rPr lang="uk-UA" sz="1200" dirty="0"/>
              <a:t>ЩО ОБГОВОРЮЄМО ПІСЛЯ. Прошу подивитись на два надруковані конверти й сказати,</a:t>
            </a:r>
          </a:p>
          <a:p>
            <a:r>
              <a:rPr lang="uk-UA" sz="1200" dirty="0"/>
              <a:t>чим вони відрізняються. Відповідь: нічим — у кожному рівно одне повідомлення,</a:t>
            </a:r>
          </a:p>
          <a:p>
            <a:r>
              <a:rPr lang="uk-UA" sz="1200" dirty="0"/>
              <a:t>і першого в другому немає. Питаю ще раз: то модель забула чи ми не поклали?</a:t>
            </a:r>
          </a:p>
          <a:p>
            <a:r>
              <a:rPr lang="uk-UA" sz="1200" dirty="0"/>
              <a:t>Не поклали. Це відповідь на питання, з якого почався урок.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під тим самим print ще один рядок —</a:t>
            </a:r>
          </a:p>
          <a:p>
            <a:r>
              <a:rPr lang="uk-UA" sz="1200" dirty="0"/>
              <a:t>    print("[повідомлень у конверті]", len(messages))</a:t>
            </a:r>
          </a:p>
          <a:p>
            <a:r>
              <a:rPr lang="uk-UA" sz="1200" dirty="0"/>
              <a:t>Число буде 1 щоразу. У блоці 3 воно почне рости, і це буде видно.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chat1.py</a:t>
            </a:r>
          </a:p>
          <a:p>
            <a:endParaRPr lang="uk-UA" sz="1200" dirty="0"/>
          </a:p>
          <a:p>
            <a:r>
              <a:rPr lang="uk-UA" sz="1200" dirty="0"/>
              <a:t>Ти: Мене звати Марта</a:t>
            </a:r>
          </a:p>
          <a:p>
            <a:r>
              <a:rPr lang="uk-UA" sz="1200" dirty="0"/>
              <a:t>[конверт] [{'role': 'user', 'content': 'Мене звати Марта'}]</a:t>
            </a:r>
          </a:p>
          <a:p>
            <a:r>
              <a:rPr lang="uk-UA" sz="1200" dirty="0"/>
              <a:t>АІДА: Дуже приємно, Марто!</a:t>
            </a:r>
          </a:p>
          <a:p>
            <a:r>
              <a:rPr lang="uk-UA" sz="1200" dirty="0"/>
              <a:t>Ти: Як мене звати?</a:t>
            </a:r>
          </a:p>
          <a:p>
            <a:r>
              <a:rPr lang="uk-UA" sz="1200" dirty="0"/>
              <a:t>[конверт] [{'role': 'user', 'content': 'Як мене звати?'}]</a:t>
            </a:r>
          </a:p>
          <a:p>
            <a:r>
              <a:rPr lang="uk-UA" sz="1200" dirty="0"/>
              <a:t>АІДА: Я не знаю твого імені — ти його ще не називала.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Головне: у другому конверті першого повідомлення немає. Модель не</a:t>
            </a:r>
          </a:p>
          <a:p>
            <a:r>
              <a:rPr lang="uk-UA" sz="1200" dirty="0"/>
              <a:t>забула ім'я — ми його просто не поклали в конверт.</a:t>
            </a:r>
          </a:p>
          <a:p>
            <a:endParaRPr lang="uk-UA" sz="1200" dirty="0"/>
          </a:p>
          <a:p>
            <a:r>
              <a:rPr lang="uk-UA" sz="1200" dirty="0"/>
              <a:t>Якщо ключ поганий, програма не падає, а каже:</a:t>
            </a:r>
          </a:p>
          <a:p>
            <a:r>
              <a:rPr lang="uk-UA" sz="1200" dirty="0"/>
              <a:t>АІДА: Помилка. Код: 401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 перед розбором ролей. Питання про переписку, яку діти бачать</a:t>
            </a:r>
          </a:p>
          <a:p>
            <a:r>
              <a:rPr lang="uk-UA" sz="1200" dirty="0"/>
              <a:t>щодня, — тому відповідають упевнено.</a:t>
            </a:r>
          </a:p>
          <a:p>
            <a:endParaRPr lang="uk-UA" sz="1200" dirty="0"/>
          </a:p>
          <a:p>
            <a:r>
              <a:rPr lang="uk-UA" sz="1200" dirty="0"/>
              <a:t>ЯК ВИДНО, ДЕ ЧИЇ СЛОВА. Кажуть: мої праворуч, чужі ліворуч; підписано іменем.</a:t>
            </a:r>
          </a:p>
          <a:p>
            <a:r>
              <a:rPr lang="uk-UA" sz="1200" dirty="0"/>
              <a:t>Ловлю це: у нашому списку теж має бути підпис, тільки не колір і не бік, а</a:t>
            </a:r>
          </a:p>
          <a:p>
            <a:r>
              <a:rPr lang="uk-UA" sz="1200" dirty="0"/>
              <a:t>слово.</a:t>
            </a:r>
          </a:p>
          <a:p>
            <a:endParaRPr lang="uk-UA" sz="1200" dirty="0"/>
          </a:p>
          <a:p>
            <a:r>
              <a:rPr lang="uk-UA" sz="1200" dirty="0"/>
              <a:t>СКІЛЬКИ АВТОРІВ. Кажуть «двоє». Майже: двоє в розмові плюс один особливий,</a:t>
            </a:r>
          </a:p>
          <a:p>
            <a:r>
              <a:rPr lang="uk-UA" sz="1200" dirty="0"/>
              <a:t>якого не видно. Кажу, що це той, хто вирішує, яким помічник буде взагалі, — і</a:t>
            </a:r>
          </a:p>
          <a:p>
            <a:r>
              <a:rPr lang="uk-UA" sz="1200" dirty="0"/>
              <a:t>прошу вгадати, звідки він узявся. Хтось згадає промт з уроку 1.</a:t>
            </a:r>
          </a:p>
          <a:p>
            <a:endParaRPr lang="uk-UA" sz="1200" dirty="0"/>
          </a:p>
          <a:p>
            <a:r>
              <a:rPr lang="uk-UA" sz="1200" dirty="0"/>
              <a:t>ХТО АВТОР ХАРАКТЕРУ. Найважливіше питання, і на нього корисно відповісти</a:t>
            </a:r>
          </a:p>
          <a:p>
            <a:r>
              <a:rPr lang="uk-UA" sz="1200" dirty="0"/>
              <a:t>самому, якщо мовчать: це ми, але не як співрозмовник, а як той, хто пише</a:t>
            </a:r>
          </a:p>
          <a:p>
            <a:r>
              <a:rPr lang="uk-UA" sz="1200" dirty="0"/>
              <a:t>правила перед розмовою. Роль так і називається — system.</a:t>
            </a:r>
          </a:p>
          <a:p>
            <a:endParaRPr lang="uk-UA" sz="1200" dirty="0"/>
          </a:p>
          <a:p>
            <a:r>
              <a:rPr lang="uk-UA" sz="1200" dirty="0"/>
              <a:t>Кажу заздалегідь: ролі пишуться англійськими малими буквами, і жодних інших</a:t>
            </a:r>
          </a:p>
          <a:p>
            <a:r>
              <a:rPr lang="uk-UA" sz="1200" dirty="0"/>
              <a:t>слів там бути не може. Це не наша вигадка, а домовленість сервісу — той самий</a:t>
            </a:r>
          </a:p>
          <a:p>
            <a:r>
              <a:rPr lang="uk-UA" sz="1200" dirty="0"/>
              <a:t>бланк із минулого уроку.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Група слухає й нічого не набирає — попереджаю про це окремо.</a:t>
            </a:r>
          </a:p>
          <a:p>
            <a:endParaRPr lang="uk-UA" sz="1200" dirty="0"/>
          </a:p>
          <a:p>
            <a:r>
              <a:rPr lang="uk-UA" sz="1200" dirty="0"/>
              <a:t>У конверт поїде вже не одне повідомлення, а ціла розмова. Звідси питання:</a:t>
            </a:r>
          </a:p>
          <a:p>
            <a:r>
              <a:rPr lang="uk-UA" sz="1200" dirty="0"/>
              <a:t>як модель зрозуміє, де наші слова, а де її власні? Відповідь: у кожного</a:t>
            </a:r>
          </a:p>
          <a:p>
            <a:r>
              <a:rPr lang="uk-UA" sz="1200" dirty="0"/>
              <a:t>повідомлення є автор, і зветься він роллю.</a:t>
            </a:r>
          </a:p>
          <a:p>
            <a:endParaRPr lang="uk-UA" sz="1200" dirty="0"/>
          </a:p>
          <a:p>
            <a:r>
              <a:rPr lang="uk-UA" sz="1200" dirty="0"/>
              <a:t>Три ролі, називаю повільно й по одній:</a:t>
            </a:r>
          </a:p>
          <a:p>
            <a:r>
              <a:rPr lang="uk-UA" sz="1200" dirty="0"/>
              <a:t>    system — хто такий помічник. Стоїть першим і один.</a:t>
            </a:r>
          </a:p>
          <a:p>
            <a:r>
              <a:rPr lang="uk-UA" sz="1200" dirty="0"/>
              <a:t>    user — те, що написала людина.</a:t>
            </a:r>
          </a:p>
          <a:p>
            <a:r>
              <a:rPr lang="uk-UA" sz="1200" dirty="0"/>
              <a:t>    assistant — те, що відповіла модель.</a:t>
            </a:r>
          </a:p>
          <a:p>
            <a:r>
              <a:rPr lang="uk-UA" sz="1200" dirty="0"/>
              <a:t>Малюю на дошці чотири квадратики один під одним і підписую ролі.</a:t>
            </a:r>
          </a:p>
          <a:p>
            <a:endParaRPr lang="uk-UA" sz="1200" dirty="0"/>
          </a:p>
          <a:p>
            <a:r>
              <a:rPr lang="uk-UA" sz="1200" dirty="0"/>
              <a:t>Головне, що має прозвучати: ролі заповнюємо МИ, усі три. Модель нічого</a:t>
            </a:r>
          </a:p>
          <a:p>
            <a:r>
              <a:rPr lang="uk-UA" sz="1200" dirty="0"/>
              <a:t>не підписує й нічого не зберігає. Те, що лежить у ролі assistant, вона</a:t>
            </a:r>
          </a:p>
          <a:p>
            <a:r>
              <a:rPr lang="uk-UA" sz="1200" dirty="0"/>
              <a:t>вважає своїми колишніми словами — просто тому, що так написано. На</a:t>
            </a:r>
          </a:p>
          <a:p>
            <a:r>
              <a:rPr lang="uk-UA" sz="1200" dirty="0"/>
              <a:t>наступному слайді група перевірить це сама — напише туди неправду.</a:t>
            </a:r>
          </a:p>
          <a:p>
            <a:endParaRPr lang="uk-UA" sz="1200" dirty="0"/>
          </a:p>
          <a:p>
            <a:r>
              <a:rPr lang="uk-UA" sz="1200" dirty="0"/>
              <a:t>system — це той самий промт із уроку 1, тільки постійний: раніше доводилось</a:t>
            </a:r>
          </a:p>
          <a:p>
            <a:r>
              <a:rPr lang="uk-UA" sz="1200" dirty="0"/>
              <a:t>вставляти опис характеру в кожне питання руками.</a:t>
            </a:r>
          </a:p>
          <a:p>
            <a:endParaRPr lang="uk-UA" sz="1200" dirty="0"/>
          </a:p>
          <a:p>
            <a:r>
              <a:rPr lang="uk-UA" sz="1200" dirty="0"/>
              <a:t>Тримаю на телевізорі список із наступного слайда й веду пальцем: ось</a:t>
            </a:r>
          </a:p>
          <a:p>
            <a:r>
              <a:rPr lang="uk-UA" sz="1200" dirty="0"/>
              <a:t>характер, ось питання, ось відповідь, ось нове питання. Останнє без трьох</a:t>
            </a:r>
          </a:p>
          <a:p>
            <a:r>
              <a:rPr lang="uk-UA" sz="1200" dirty="0"/>
              <a:t>попередніх не має сенсу — оце й є пам'ять.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набирають цю розмову і надсилають її по-справжньому.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Блок, заради якого все і затіялось: тут група пробує всі три ролі руками</a:t>
            </a:r>
          </a:p>
          <a:p>
            <a:r>
              <a:rPr lang="uk-UA" sz="1200" dirty="0"/>
              <a:t>і бачить відповідь моделі на кожну зміну.</a:t>
            </a:r>
          </a:p>
          <a:p>
            <a:endParaRPr lang="uk-UA" sz="1200" dirty="0"/>
          </a:p>
          <a:p>
            <a:r>
              <a:rPr lang="uk-UA" sz="1200" dirty="0"/>
              <a:t>Це окремий файл, не продовження chat1.py, і кажу це вголос: тут немає ні</a:t>
            </a:r>
          </a:p>
          <a:p>
            <a:r>
              <a:rPr lang="uk-UA" sz="1200" dirty="0"/>
              <a:t>input, ні while, ні функції. Один запит, одна відповідь, кінець. Набору тут</a:t>
            </a:r>
          </a:p>
          <a:p>
            <a:r>
              <a:rPr lang="uk-UA" sz="1200" dirty="0"/>
              <a:t>менше, ніж здається: перші чотири рядки копіюють із chat1.py.</a:t>
            </a:r>
          </a:p>
          <a:p>
            <a:endParaRPr lang="uk-UA" sz="1200" dirty="0"/>
          </a:p>
          <a:p>
            <a:r>
              <a:rPr lang="uk-UA" sz="1200" dirty="0"/>
              <a:t>ГОЛОВНЕ РЕЧЕННЯ БЛОКУ, кажу його до запуску: «А якщо подвоїти?» саме по</a:t>
            </a:r>
          </a:p>
          <a:p>
            <a:r>
              <a:rPr lang="uk-UA" sz="1200" dirty="0"/>
              <a:t>собі не означає нічого. Щоб відповісти «шістдесят», треба знати про</a:t>
            </a:r>
          </a:p>
          <a:p>
            <a:r>
              <a:rPr lang="uk-UA" sz="1200" dirty="0"/>
              <a:t>тридцять. А «тридцять» — це рядок із роллю assistant, який ми написали</a:t>
            </a:r>
          </a:p>
          <a:p>
            <a:r>
              <a:rPr lang="uk-UA" sz="1200" dirty="0"/>
              <a:t>руками. Модель його прочитала — отже, ролі працюють.</a:t>
            </a:r>
          </a:p>
          <a:p>
            <a:endParaRPr lang="uk-UA" sz="1200" dirty="0"/>
          </a:p>
          <a:p>
            <a:r>
              <a:rPr lang="uk-UA" sz="1200" dirty="0"/>
              <a:t>ТРИ ДОСЛІДИ ПІСЛЯ ПЕРШОГО ЗАПУСКУ. Це й є тіло блоку; набір тут швидкий,</a:t>
            </a:r>
          </a:p>
          <a:p>
            <a:r>
              <a:rPr lang="uk-UA" sz="1200" dirty="0"/>
              <a:t>час йде саме на них. Кожен — одна правка й один запуск:</a:t>
            </a:r>
          </a:p>
          <a:p>
            <a:endParaRPr lang="uk-UA" sz="1200" dirty="0"/>
          </a:p>
          <a:p>
            <a:r>
              <a:rPr lang="uk-UA" sz="1200" dirty="0"/>
              <a:t>1. ПРИБРАТИ рядок assistant. Модель перепитує або відповідає навмання.</a:t>
            </a:r>
          </a:p>
          <a:p>
            <a:r>
              <a:rPr lang="uk-UA" sz="1200" dirty="0"/>
              <a:t>   Висновок: роль assistant — це й є пам'ять про власні слова.</a:t>
            </a:r>
          </a:p>
          <a:p>
            <a:r>
              <a:rPr lang="uk-UA" sz="1200" dirty="0"/>
              <a:t>2. ЗАМІНИТИ текст у system — на пірата, на кота, на вчителя фізики.</a:t>
            </a:r>
          </a:p>
          <a:p>
            <a:r>
              <a:rPr lang="uk-UA" sz="1200" dirty="0"/>
              <a:t>   Число в відповіді те саме, тон інший. Висновок: system керує не змістом,</a:t>
            </a:r>
          </a:p>
          <a:p>
            <a:r>
              <a:rPr lang="uk-UA" sz="1200" dirty="0"/>
              <a:t>   а манерою. Це прямий місток у блок 4.</a:t>
            </a:r>
          </a:p>
          <a:p>
            <a:r>
              <a:rPr lang="uk-UA" sz="1200" dirty="0"/>
              <a:t>3. НАПИСАТИ В assistant НЕПРАВДУ: "Сто." Модель відповість «двісті».</a:t>
            </a:r>
          </a:p>
          <a:p>
            <a:r>
              <a:rPr lang="uk-UA" sz="1200" dirty="0"/>
              <a:t>   Висновок, і він важливіший за жарт: модель не пам'ятає, що вона казала.</a:t>
            </a:r>
          </a:p>
          <a:p>
            <a:r>
              <a:rPr lang="uk-UA" sz="1200" dirty="0"/>
              <a:t>   Вона читає те, що лежить у конверті, і вірить йому.</a:t>
            </a:r>
          </a:p>
          <a:p>
            <a:endParaRPr lang="uk-UA" sz="1200" dirty="0"/>
          </a:p>
          <a:p>
            <a:r>
              <a:rPr lang="uk-UA" sz="1200" dirty="0"/>
              <a:t>Ходжу по класу. Часті помилки:</a:t>
            </a:r>
          </a:p>
          <a:p>
            <a:r>
              <a:rPr lang="uk-UA" sz="1200" dirty="0"/>
              <a:t>    загубилась кома між словниками — SyntaxError на наступному рядку;</a:t>
            </a:r>
          </a:p>
          <a:p>
            <a:r>
              <a:rPr lang="uk-UA" sz="1200" dirty="0"/>
              <a:t>    ролі написані з великої або українською — «Помилка. Код: 400»;</a:t>
            </a:r>
          </a:p>
          <a:p>
            <a:r>
              <a:rPr lang="uk-UA" sz="1200" dirty="0"/>
              <a:t>    відступ у чотири пробіли перед словниками не обов'язковий, але так</a:t>
            </a:r>
          </a:p>
          <a:p>
            <a:r>
              <a:rPr lang="uk-UA" sz="1200" dirty="0"/>
              <a:t>    читається краще — кажу один раз і більше не чіпляюсь.</a:t>
            </a:r>
          </a:p>
          <a:p>
            <a:endParaRPr lang="uk-UA" sz="1200" dirty="0"/>
          </a:p>
          <a:p>
            <a:r>
              <a:rPr lang="uk-UA" sz="1200" dirty="0"/>
              <a:t>Наприкінці збираю групу одним питанням: хто заповнює кожну з трьох ролей?</a:t>
            </a:r>
          </a:p>
          <a:p>
            <a:r>
              <a:rPr lang="uk-UA" sz="1200" dirty="0"/>
              <a:t>Відповідь: system і user — ми, assistant — теж ми, але з того, що прийшло</a:t>
            </a:r>
          </a:p>
          <a:p>
            <a:r>
              <a:rPr lang="uk-UA" sz="1200" dirty="0"/>
              <a:t>від моделі. Сьогодні ми писали всі три руками; у наступному блоці дві</a:t>
            </a:r>
          </a:p>
          <a:p>
            <a:r>
              <a:rPr lang="uk-UA" sz="1200" dirty="0"/>
              <a:t>останні почне дописувати програма.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chat2.py</a:t>
            </a:r>
          </a:p>
          <a:p>
            <a:endParaRPr lang="uk-UA" sz="1200" dirty="0"/>
          </a:p>
          <a:p>
            <a:r>
              <a:rPr lang="uk-UA" sz="1200" dirty="0"/>
              <a:t>system -&gt; Ти АІДА. Відповідай одним словом.</a:t>
            </a:r>
          </a:p>
          <a:p>
            <a:r>
              <a:rPr lang="uk-UA" sz="1200" dirty="0"/>
              <a:t>user -&gt; Скільки буде 5 на 6?</a:t>
            </a:r>
          </a:p>
          <a:p>
            <a:r>
              <a:rPr lang="uk-UA" sz="1200" dirty="0"/>
              <a:t>assistant -&gt; Тридцять.</a:t>
            </a:r>
          </a:p>
          <a:p>
            <a:r>
              <a:rPr lang="uk-UA" sz="1200" dirty="0"/>
              <a:t>user -&gt; А якщо подвоїти?</a:t>
            </a:r>
          </a:p>
          <a:p>
            <a:r>
              <a:rPr lang="uk-UA" sz="1200" dirty="0"/>
              <a:t>assistant -&gt; Шістдесят.</a:t>
            </a:r>
          </a:p>
          <a:p>
            <a:endParaRPr lang="uk-UA" sz="1200" dirty="0"/>
          </a:p>
          <a:p>
            <a:r>
              <a:rPr lang="uk-UA" sz="1200" dirty="0"/>
              <a:t>Головне: слово «подвоїти» саме по собі не означає нічого. Модель</a:t>
            </a:r>
          </a:p>
          <a:p>
            <a:r>
              <a:rPr lang="uk-UA" sz="1200" dirty="0"/>
              <a:t>відповіла «шістдесят» тільки тому, що прочитала рядок із роллю</a:t>
            </a:r>
          </a:p>
          <a:p>
            <a:r>
              <a:rPr lang="uk-UA" sz="1200" dirty="0"/>
              <a:t>assistant — тридцять. Ролі працюють.</a:t>
            </a:r>
          </a:p>
          <a:p>
            <a:endParaRPr lang="uk-UA" sz="1200" dirty="0"/>
          </a:p>
          <a:p>
            <a:r>
              <a:rPr lang="uk-UA" sz="1200" dirty="0"/>
              <a:t>ТРИ ДОСЛІДИ, ЯКІ РОБИМО ТУТ-ТАКИ:</a:t>
            </a:r>
          </a:p>
          <a:p>
            <a:endParaRPr lang="uk-UA" sz="1200" dirty="0"/>
          </a:p>
          <a:p>
            <a:r>
              <a:rPr lang="uk-UA" sz="1200" dirty="0"/>
              <a:t>1. Прибрати рядок assistant і запустити ще раз.</a:t>
            </a:r>
          </a:p>
          <a:p>
            <a:r>
              <a:rPr lang="uk-UA" sz="1200" dirty="0"/>
              <a:t>   -&gt; «Подвоїти що?» або навмання. Розмови більше немає.</a:t>
            </a:r>
          </a:p>
          <a:p>
            <a:endParaRPr lang="uk-UA" sz="1200" dirty="0"/>
          </a:p>
          <a:p>
            <a:r>
              <a:rPr lang="uk-UA" sz="1200" dirty="0"/>
              <a:t>2. Замінити system на «Ти старий пірат. Кажи йо-хо-хо».</a:t>
            </a:r>
          </a:p>
          <a:p>
            <a:r>
              <a:rPr lang="uk-UA" sz="1200" dirty="0"/>
              <a:t>   -&gt; Йо-хо-хо! Шістдесят, юнго!   (число те саме, тон інший)</a:t>
            </a:r>
          </a:p>
          <a:p>
            <a:endParaRPr lang="uk-UA" sz="1200" dirty="0"/>
          </a:p>
          <a:p>
            <a:r>
              <a:rPr lang="uk-UA" sz="1200" dirty="0"/>
              <a:t>3. Написати в assistant неправду: "Сто."</a:t>
            </a:r>
          </a:p>
          <a:p>
            <a:r>
              <a:rPr lang="uk-UA" sz="1200" dirty="0"/>
              <a:t>   -&gt; Двісті. Модель вірить тому, що лежить у конверті.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Одна хвилина перед головним кодом уроку. Три питання — і кожне з них про</a:t>
            </a:r>
          </a:p>
          <a:p>
            <a:r>
              <a:rPr lang="uk-UA" sz="1200" dirty="0"/>
              <a:t>помилку, яку діти зроблять за п'ять хвилин.</a:t>
            </a:r>
          </a:p>
          <a:p>
            <a:endParaRPr lang="uk-UA" sz="1200" dirty="0"/>
          </a:p>
          <a:p>
            <a:r>
              <a:rPr lang="uk-UA" sz="1200" dirty="0"/>
              <a:t>СКІЛЬКИ ДОПИСАТИ. Правильна відповідь — два: питання й відповідь. Більшість</a:t>
            </a:r>
          </a:p>
          <a:p>
            <a:r>
              <a:rPr lang="uk-UA" sz="1200" dirty="0"/>
              <a:t>скаже «одне». Не виправляю, кажу: подивимось, що буде.</a:t>
            </a:r>
          </a:p>
          <a:p>
            <a:endParaRPr lang="uk-UA" sz="1200" dirty="0"/>
          </a:p>
          <a:p>
            <a:r>
              <a:rPr lang="uk-UA" sz="1200" dirty="0"/>
              <a:t>ЯКЩО ТІЛЬКИ ПИТАННЯ. Прошу подумати, як тоді виглядатиме розмова для моделі:</a:t>
            </a:r>
          </a:p>
          <a:p>
            <a:r>
              <a:rPr lang="uk-UA" sz="1200" dirty="0"/>
              <a:t>чотири питання підряд і жодної своєї відповіді. Дивно й неправдиво. Модель</a:t>
            </a:r>
          </a:p>
          <a:p>
            <a:r>
              <a:rPr lang="uk-UA" sz="1200" dirty="0"/>
              <a:t>почне повторюватись — вона не бачить, що вже казала.</a:t>
            </a:r>
          </a:p>
          <a:p>
            <a:endParaRPr lang="uk-UA" sz="1200" dirty="0"/>
          </a:p>
          <a:p>
            <a:r>
              <a:rPr lang="uk-UA" sz="1200" dirty="0"/>
              <a:t>ДЕ ЖИТИ СПИСКУ. Найважливіше питання блоку, і воно про найчастішу помилку.</a:t>
            </a:r>
          </a:p>
          <a:p>
            <a:r>
              <a:rPr lang="uk-UA" sz="1200" dirty="0"/>
              <a:t>Кажу: якщо список створювати всередині функції, він з'являтиметься наново на</a:t>
            </a:r>
          </a:p>
          <a:p>
            <a:r>
              <a:rPr lang="uk-UA" sz="1200" dirty="0"/>
              <a:t>кожен виклик. Питаю, що з нього тоді буде. Порожній щоразу. Тобто пам'яті знову</a:t>
            </a:r>
          </a:p>
          <a:p>
            <a:r>
              <a:rPr lang="uk-UA" sz="1200" dirty="0"/>
              <a:t>немає, а код виглядає правильним.</a:t>
            </a:r>
          </a:p>
          <a:p>
            <a:endParaRPr lang="uk-UA" sz="1200" dirty="0"/>
          </a:p>
          <a:p>
            <a:r>
              <a:rPr lang="uk-UA" sz="1200" dirty="0"/>
              <a:t>Одна хвилина — і далі показ. Часу треба самому коду.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Головний блок уроку. Код майже такий самий, як учора, — і в цьому вся краса:</a:t>
            </a:r>
          </a:p>
          <a:p>
            <a:r>
              <a:rPr lang="uk-UA" sz="1200" dirty="0"/>
              <a:t>пам'ять коштувала два рядки.</a:t>
            </a:r>
          </a:p>
          <a:p>
            <a:endParaRPr lang="uk-UA" sz="1200" dirty="0"/>
          </a:p>
          <a:p>
            <a:r>
              <a:rPr lang="uk-UA" sz="1200" dirty="0"/>
              <a:t>Розбираю по порядку, тримаючи код на телевізорі. Програма на слайді ціла, і</a:t>
            </a:r>
          </a:p>
          <a:p>
            <a:r>
              <a:rPr lang="uk-UA" sz="1200" dirty="0"/>
              <a:t>перші чотири рядки — ключ, URL і HEAD з уроку 4 — проскакую.</a:t>
            </a:r>
          </a:p>
          <a:p>
            <a:endParaRPr lang="uk-UA" sz="1200" dirty="0"/>
          </a:p>
          <a:p>
            <a:r>
              <a:rPr lang="uk-UA" sz="1200" dirty="0"/>
              <a:t>Перший новий рядок: messages — список, у якому вже лежить один словник із</a:t>
            </a:r>
          </a:p>
          <a:p>
            <a:r>
              <a:rPr lang="uk-UA" sz="1200" dirty="0"/>
              <a:t>роллю system. Наголошую, що це список (квадратні дужки), а всередині словник</a:t>
            </a:r>
          </a:p>
          <a:p>
            <a:r>
              <a:rPr lang="uk-UA" sz="1200" dirty="0"/>
              <a:t>(фігурні). Плутанина дужок тут — помилка номер один.</a:t>
            </a:r>
          </a:p>
          <a:p>
            <a:endParaRPr lang="uk-UA" sz="1200" dirty="0"/>
          </a:p>
          <a:p>
            <a:r>
              <a:rPr lang="uk-UA" sz="1200" dirty="0"/>
              <a:t>Далі функція. Порівнюю з учорашньою вголос: там data збиралась з одного</a:t>
            </a:r>
          </a:p>
          <a:p>
            <a:r>
              <a:rPr lang="uk-UA" sz="1200" dirty="0"/>
              <a:t>повідомлення прямо всередині; тут messages лежить зовні й живе між викликами.</a:t>
            </a:r>
          </a:p>
          <a:p>
            <a:endParaRPr lang="uk-UA" sz="1200" dirty="0"/>
          </a:p>
          <a:p>
            <a:r>
              <a:rPr lang="uk-UA" sz="1200" dirty="0"/>
              <a:t>messages.append({"role": "user", ...}) — дописуємо питання людини в кінець</a:t>
            </a:r>
          </a:p>
          <a:p>
            <a:r>
              <a:rPr lang="uk-UA" sz="1200" dirty="0"/>
              <a:t>списку. append завжди додає в кінець, тому порядок розмови зберігається сам</a:t>
            </a:r>
          </a:p>
          <a:p>
            <a:r>
              <a:rPr lang="uk-UA" sz="1200" dirty="0"/>
              <a:t>собою.</a:t>
            </a:r>
          </a:p>
          <a:p>
            <a:endParaRPr lang="uk-UA" sz="1200" dirty="0"/>
          </a:p>
          <a:p>
            <a:r>
              <a:rPr lang="uk-UA" sz="1200" dirty="0"/>
              <a:t>data = {"model": ..., "messages": messages} — надсилаємо ВЕСЬ список. Ось і</a:t>
            </a:r>
          </a:p>
          <a:p>
            <a:r>
              <a:rPr lang="uk-UA" sz="1200" dirty="0"/>
              <a:t>пам'ять: модель отримує всю розмову. Показую пальцем: учора тут стояли</a:t>
            </a:r>
          </a:p>
          <a:p>
            <a:r>
              <a:rPr lang="uk-UA" sz="1200" dirty="0"/>
              <a:t>квадратні дужки з одним словником, сьогодні — ім'я списку.</a:t>
            </a:r>
          </a:p>
          <a:p>
            <a:endParaRPr lang="uk-UA" sz="1200" dirty="0"/>
          </a:p>
          <a:p>
            <a:r>
              <a:rPr lang="uk-UA" sz="1200" dirty="0"/>
              <a:t>Після відповіді — другий append, уже з роллю assistant. Прошу групу сказати,</a:t>
            </a:r>
          </a:p>
          <a:p>
            <a:r>
              <a:rPr lang="uk-UA" sz="1200" dirty="0"/>
              <a:t>що буде, якщо цей рядок забути. Правильна відповідь: модель пам'ятатиме наші</a:t>
            </a:r>
          </a:p>
          <a:p>
            <a:r>
              <a:rPr lang="uk-UA" sz="1200" dirty="0"/>
              <a:t>питання, але не свої відповіді, і почне повторюватись або перепитувати.</a:t>
            </a:r>
          </a:p>
          <a:p>
            <a:endParaRPr lang="uk-UA" sz="1200" dirty="0"/>
          </a:p>
          <a:p>
            <a:r>
              <a:rPr lang="uk-UA" sz="1200" dirty="0"/>
              <a:t>Ще одна деталь, про яку питають: чому messages оголошено ЗОВНІ функції? Тому</a:t>
            </a:r>
          </a:p>
          <a:p>
            <a:r>
              <a:rPr lang="uk-UA" sz="1200" dirty="0"/>
              <a:t>що всередині він створювався б заново на кожен виклик — і пам'ять стиралась би</a:t>
            </a:r>
          </a:p>
          <a:p>
            <a:r>
              <a:rPr lang="uk-UA" sz="1200" dirty="0"/>
              <a:t>щоразу. Це та сама історія, що з настроєм дня на уроці 2, який теж мусив</a:t>
            </a:r>
          </a:p>
          <a:p>
            <a:r>
              <a:rPr lang="uk-UA" sz="1200" dirty="0"/>
              <a:t>стояти поза циклом.</a:t>
            </a:r>
          </a:p>
          <a:p>
            <a:endParaRPr lang="uk-UA" sz="1200" dirty="0"/>
          </a:p>
          <a:p>
            <a:r>
              <a:rPr lang="uk-UA" sz="1200" dirty="0"/>
              <a:t>Наприкінці запускаю програму на телевізорі. Два питання підряд — «Мене звати</a:t>
            </a:r>
          </a:p>
          <a:p>
            <a:r>
              <a:rPr lang="uk-UA" sz="1200" dirty="0"/>
              <a:t>Марта» і «Як мене звати?» — і друга відповідь уже знає ім'я. Останній рядок</a:t>
            </a:r>
          </a:p>
          <a:p>
            <a:r>
              <a:rPr lang="uk-UA" sz="1200" dirty="0"/>
              <a:t>друкує 5: характер плюс дві пари реплік.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це й перевіряємо те, що вчора не вийшло, — ім'я.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≈6 хв · набирають</a:t>
            </a:r>
          </a:p>
          <a:p>
            <a:endParaRPr lang="uk-UA" sz="1200" dirty="0"/>
          </a:p>
          <a:p>
            <a:r>
              <a:rPr lang="uk-UA" sz="1200" dirty="0"/>
              <a:t>Це головна практика пари: після неї помічник пам'ятає. Даю шість хвилин, а не</a:t>
            </a:r>
          </a:p>
          <a:p>
            <a:r>
              <a:rPr lang="uk-UA" sz="1200" dirty="0"/>
              <a:t>п'ять.</a:t>
            </a:r>
          </a:p>
          <a:p>
            <a:endParaRPr lang="uk-UA" sz="1200" dirty="0"/>
          </a:p>
          <a:p>
            <a:r>
              <a:rPr lang="uk-UA" sz="1200" dirty="0"/>
              <a:t>Диктую порядок: відкрити chat1.py, Зберегти як → chat3.py, і вже в новому</a:t>
            </a:r>
          </a:p>
          <a:p>
            <a:r>
              <a:rPr lang="uk-UA" sz="1200" dirty="0"/>
              <a:t>файлі довести до того, що на екрані. chat1.py лишається цілим — до нього ще</a:t>
            </a:r>
          </a:p>
          <a:p>
            <a:r>
              <a:rPr lang="uk-UA" sz="1200" dirty="0"/>
              <a:t>вернемось, коли треба буде показати «як було без пам'яті». Номер 2</a:t>
            </a:r>
          </a:p>
          <a:p>
            <a:r>
              <a:rPr lang="uk-UA" sz="1200" dirty="0"/>
              <a:t>пропущено навмисно: chat2.py — це окремий дослід про ролі, а не крок</a:t>
            </a:r>
          </a:p>
          <a:p>
            <a:r>
              <a:rPr lang="uk-UA" sz="1200" dirty="0"/>
              <a:t>помічника; кажу це вголос, інакше питатимуть.</a:t>
            </a:r>
          </a:p>
          <a:p>
            <a:endParaRPr lang="uk-UA" sz="1200" dirty="0"/>
          </a:p>
          <a:p>
            <a:r>
              <a:rPr lang="uk-UA" sz="1200" dirty="0"/>
              <a:t>ТРИ ЗМІНИ ПРОТИ chat1.py, називаю їх пальцем по екрану:</a:t>
            </a:r>
          </a:p>
          <a:p>
            <a:r>
              <a:rPr lang="uk-UA" sz="1200" dirty="0"/>
              <a:t>    1. messages переїхав уверх, ПОЗА функцію, і в ньому одразу лежить</a:t>
            </a:r>
          </a:p>
          <a:p>
            <a:r>
              <a:rPr lang="uk-UA" sz="1200" dirty="0"/>
              <a:t>       системне повідомлення;</a:t>
            </a:r>
          </a:p>
          <a:p>
            <a:r>
              <a:rPr lang="uk-UA" sz="1200" dirty="0"/>
              <a:t>    2. перший append — питання дописується до запиту;</a:t>
            </a:r>
          </a:p>
          <a:p>
            <a:r>
              <a:rPr lang="uk-UA" sz="1200" dirty="0"/>
              <a:t>    3. другий append — відповідь дописується після нього.</a:t>
            </a:r>
          </a:p>
          <a:p>
            <a:r>
              <a:rPr lang="uk-UA" sz="1200" dirty="0"/>
              <a:t>Рядок print("[конверт]") з chat1 тут зникає — його замінює лічильник</a:t>
            </a:r>
          </a:p>
          <a:p>
            <a:r>
              <a:rPr lang="uk-UA" sz="1200" dirty="0"/>
              <a:t>у кінці циклу: список став завеликий, щоб друкувати його цілком, але його</a:t>
            </a:r>
          </a:p>
          <a:p>
            <a:r>
              <a:rPr lang="uk-UA" sz="1200" dirty="0"/>
              <a:t>довжина — це рівно те, що треба бачити.</a:t>
            </a:r>
          </a:p>
          <a:p>
            <a:endParaRPr lang="uk-UA" sz="1200" dirty="0"/>
          </a:p>
          <a:p>
            <a:r>
              <a:rPr lang="uk-UA" sz="1200" dirty="0"/>
              <a:t>Два апенди — обидва обов'язкові. Найчастіша помилка уроку: дописали тільки</a:t>
            </a:r>
          </a:p>
          <a:p>
            <a:r>
              <a:rPr lang="uk-UA" sz="1200" dirty="0"/>
              <a:t>питання. Тоді помічник пам'ятає, що в нього питали, але не пам'ятає, що</a:t>
            </a:r>
          </a:p>
          <a:p>
            <a:r>
              <a:rPr lang="uk-UA" sz="1200" dirty="0"/>
              <a:t>відповів сам, і розмова виходить дивна. Ловиться лічильником: росте на</a:t>
            </a:r>
          </a:p>
          <a:p>
            <a:r>
              <a:rPr lang="uk-UA" sz="1200" dirty="0"/>
              <a:t>одиницю замість двох — значить, другого append немає.</a:t>
            </a:r>
          </a:p>
          <a:p>
            <a:endParaRPr lang="uk-UA" sz="1200" dirty="0"/>
          </a:p>
          <a:p>
            <a:r>
              <a:rPr lang="uk-UA" sz="1200" dirty="0"/>
              <a:t>Друга за частотою: messages = [...] лишилось всередині функції. Тоді список</a:t>
            </a:r>
          </a:p>
          <a:p>
            <a:r>
              <a:rPr lang="uk-UA" sz="1200" dirty="0"/>
              <a:t>створюється заново на кожне питання й лічильник завжди показує 3.</a:t>
            </a:r>
          </a:p>
          <a:p>
            <a:r>
              <a:rPr lang="uk-UA" sz="1200" dirty="0"/>
              <a:t>Третя: роль "bot" замість "assistant" — приїде «Помилка. Код: 400».</a:t>
            </a:r>
          </a:p>
          <a:p>
            <a:endParaRPr lang="uk-UA" sz="1200" dirty="0"/>
          </a:p>
          <a:p>
            <a:r>
              <a:rPr lang="uk-UA" sz="1200" dirty="0"/>
              <a:t>Перевірка в три кроки, диктую її всім: назвись — спитай будь-що інше —</a:t>
            </a:r>
          </a:p>
          <a:p>
            <a:r>
              <a:rPr lang="uk-UA" sz="1200" dirty="0"/>
              <a:t>спитай ім'я. Середнє питання тут важливе: без нього діти кажуть, що модель</a:t>
            </a:r>
          </a:p>
          <a:p>
            <a:r>
              <a:rPr lang="uk-UA" sz="1200" dirty="0"/>
              <a:t>«просто пам'ятає останнє».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спитає три-чотири речі поспіль і подивиться на</a:t>
            </a:r>
          </a:p>
          <a:p>
            <a:r>
              <a:rPr lang="uk-UA" sz="1200" dirty="0"/>
              <a:t>лічильник: 3, 5, 7, 9, 11. Це той самий ряд, з якого почнеться блок 6.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chat3.py</a:t>
            </a:r>
          </a:p>
          <a:p>
            <a:endParaRPr lang="uk-UA" sz="1200" dirty="0"/>
          </a:p>
          <a:p>
            <a:r>
              <a:rPr lang="uk-UA" sz="1200" dirty="0"/>
              <a:t>Ти: Мене звати Марта</a:t>
            </a:r>
          </a:p>
          <a:p>
            <a:r>
              <a:rPr lang="uk-UA" sz="1200" dirty="0"/>
              <a:t>АІДА: Дуже приємно, Марто!</a:t>
            </a:r>
          </a:p>
          <a:p>
            <a:r>
              <a:rPr lang="uk-UA" sz="1200" dirty="0"/>
              <a:t>[у конверті] 3 повідомлень</a:t>
            </a:r>
          </a:p>
          <a:p>
            <a:r>
              <a:rPr lang="uk-UA" sz="1200" dirty="0"/>
              <a:t>Ти: Розкажи щось про космос</a:t>
            </a:r>
          </a:p>
          <a:p>
            <a:r>
              <a:rPr lang="uk-UA" sz="1200" dirty="0"/>
              <a:t>АІДА: На Місяці твоя вага була б у шість разів меншою...</a:t>
            </a:r>
          </a:p>
          <a:p>
            <a:r>
              <a:rPr lang="uk-UA" sz="1200" dirty="0"/>
              <a:t>[у конверті] 5 повідомлень</a:t>
            </a:r>
          </a:p>
          <a:p>
            <a:r>
              <a:rPr lang="uk-UA" sz="1200" dirty="0"/>
              <a:t>Ти: Як мене звати?</a:t>
            </a:r>
          </a:p>
          <a:p>
            <a:r>
              <a:rPr lang="uk-UA" sz="1200" dirty="0"/>
              <a:t>АІДА: Тебе звати Марта.</a:t>
            </a:r>
          </a:p>
          <a:p>
            <a:r>
              <a:rPr lang="uk-UA" sz="1200" dirty="0"/>
              <a:t>[у конверті] 7 повідомлень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Головне два. Перше: третя відповідь спирається на перше повідомлення —</a:t>
            </a:r>
          </a:p>
          <a:p>
            <a:r>
              <a:rPr lang="uk-UA" sz="1200" dirty="0"/>
              <a:t>той самий помічник, який щойно не знав імені, тепер його пам'ятає.</a:t>
            </a:r>
          </a:p>
          <a:p>
            <a:r>
              <a:rPr lang="uk-UA" sz="1200" dirty="0"/>
              <a:t>Друге: число 3, 5, 7 — росте на два за репліку, бо дописуємо дві: питання</a:t>
            </a:r>
          </a:p>
          <a:p>
            <a:r>
              <a:rPr lang="uk-UA" sz="1200" dirty="0"/>
              <a:t>й відповідь.</a:t>
            </a:r>
          </a:p>
          <a:p>
            <a:endParaRPr lang="uk-UA" sz="1200" dirty="0"/>
          </a:p>
          <a:p>
            <a:r>
              <a:rPr lang="uk-UA" sz="1200" dirty="0"/>
              <a:t>Не пам'ятає імені — дивитись два місця: messages створено всередині</a:t>
            </a:r>
          </a:p>
          <a:p>
            <a:r>
              <a:rPr lang="uk-UA" sz="1200" dirty="0"/>
              <a:t>функції або в data надсилається не він.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хвилини, і це той момент курсу, заради якого урок 1 закінчувався файлом</a:t>
            </a:r>
          </a:p>
          <a:p>
            <a:r>
              <a:rPr lang="uk-UA" sz="1200" dirty="0"/>
              <a:t>persona.txt. Варто витримати паузу: багато хто вважав, що той файл був</a:t>
            </a:r>
          </a:p>
          <a:p>
            <a:r>
              <a:rPr lang="uk-UA" sz="1200" dirty="0"/>
              <a:t>одноразовою забавкою.</a:t>
            </a:r>
          </a:p>
          <a:p>
            <a:endParaRPr lang="uk-UA" sz="1200" dirty="0"/>
          </a:p>
          <a:p>
            <a:r>
              <a:rPr lang="uk-UA" sz="1200" dirty="0"/>
              <a:t>ПАМ'ЯТАЄТЕ PERSONA.TXT. Прошу підняти руку тих, у кого файл зберігся. Хто</a:t>
            </a:r>
          </a:p>
          <a:p>
            <a:r>
              <a:rPr lang="uk-UA" sz="1200" dirty="0"/>
              <a:t>загубив — не біда, на слайді буде шаблон із чотирьох рядків. Кажу вголос:</a:t>
            </a:r>
          </a:p>
          <a:p>
            <a:r>
              <a:rPr lang="uk-UA" sz="1200" dirty="0"/>
              <a:t>сьогодні той файл стає системним промтом, і помічник заговорить так, як</a:t>
            </a:r>
          </a:p>
          <a:p>
            <a:r>
              <a:rPr lang="uk-UA" sz="1200" dirty="0"/>
              <a:t>кожен собі вигадав.</a:t>
            </a:r>
          </a:p>
          <a:p>
            <a:endParaRPr lang="uk-UA" sz="1200" dirty="0"/>
          </a:p>
          <a:p>
            <a:r>
              <a:rPr lang="uk-UA" sz="1200" dirty="0"/>
              <a:t>ЧИМ ВІДРІЗНЯЄТЬСЯ ВІД ПИТАННЯ. Відповідь: питання ставлять один раз, а</a:t>
            </a:r>
          </a:p>
          <a:p>
            <a:r>
              <a:rPr lang="uk-UA" sz="1200" dirty="0"/>
              <a:t>характер діє на всі відповіді. Це і є вся різниця між user і system.</a:t>
            </a:r>
          </a:p>
          <a:p>
            <a:endParaRPr lang="uk-UA" sz="1200" dirty="0"/>
          </a:p>
          <a:p>
            <a:r>
              <a:rPr lang="uk-UA" sz="1200" dirty="0"/>
              <a:t>СКІЛЬКИ РАЗІВ ЧИТАЄ. Питання з підступом. Правильна відповідь: перед кожною</a:t>
            </a:r>
          </a:p>
          <a:p>
            <a:r>
              <a:rPr lang="uk-UA" sz="1200" dirty="0"/>
              <a:t>відповіддю, бо системний промт їде в кожному конверті. Це важливо — і це ж</a:t>
            </a:r>
          </a:p>
          <a:p>
            <a:r>
              <a:rPr lang="uk-UA" sz="1200" dirty="0"/>
              <a:t>пояснює, чому за нього щоразу платять.</a:t>
            </a:r>
          </a:p>
          <a:p>
            <a:endParaRPr lang="uk-UA" sz="1200" dirty="0"/>
          </a:p>
          <a:p>
            <a:r>
              <a:rPr lang="uk-UA" sz="1200" dirty="0"/>
              <a:t>ХАРАКТЕР ДВОМА СЛОВАМИ. Кажу чесно: «весела помічниця» дає майже те саме, що</a:t>
            </a:r>
          </a:p>
          <a:p>
            <a:r>
              <a:rPr lang="uk-UA" sz="1200" dirty="0"/>
              <a:t>й без промту. Що докладніше описано — стиль, звертання, заборони, — то</a:t>
            </a:r>
          </a:p>
          <a:p>
            <a:r>
              <a:rPr lang="uk-UA" sz="1200" dirty="0"/>
              <a:t>помітніша різниця. Це готовий аргумент за те, щоб persona.txt був живий, а не</a:t>
            </a:r>
          </a:p>
          <a:p>
            <a:r>
              <a:rPr lang="uk-UA" sz="1200" dirty="0"/>
              <a:t>з двох рядків.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Найприємніший блок курсу: тут те, що діти писали на першому занятті, нарешті</a:t>
            </a:r>
          </a:p>
          <a:p>
            <a:r>
              <a:rPr lang="uk-UA" sz="1200" dirty="0"/>
              <a:t>починає працювати.</a:t>
            </a:r>
          </a:p>
          <a:p>
            <a:endParaRPr lang="uk-UA" sz="1200" dirty="0"/>
          </a:p>
          <a:p>
            <a:r>
              <a:rPr lang="uk-UA" sz="1200" dirty="0"/>
              <a:t>Прошу дістати persona.txt. У кого немає — не страшно, унизу цього слайда</a:t>
            </a:r>
          </a:p>
          <a:p>
            <a:r>
              <a:rPr lang="uk-UA" sz="1200" dirty="0"/>
              <a:t>лежить готовий шаблон із квадратними дужками, точнісінько як на уроці 1.</a:t>
            </a:r>
          </a:p>
          <a:p>
            <a:endParaRPr lang="uk-UA" sz="1200" dirty="0"/>
          </a:p>
          <a:p>
            <a:r>
              <a:rPr lang="uk-UA" sz="1200" dirty="0"/>
              <a:t>Програма на слайді ціла, і нових рядків у ній два: persona = open(...) і</a:t>
            </a:r>
          </a:p>
          <a:p>
            <a:r>
              <a:rPr lang="uk-UA" sz="1200" dirty="0"/>
              <a:t>messages із persona. Решта знайома: ключ і запит — урок 4, open і read — урок 3,</a:t>
            </a:r>
          </a:p>
          <a:p>
            <a:r>
              <a:rPr lang="uk-UA" sz="1200" dirty="0"/>
              <a:t>messages із системним промтом — попередній блок. Нового немає нічого, і на</a:t>
            </a:r>
          </a:p>
          <a:p>
            <a:r>
              <a:rPr lang="uk-UA" sz="1200" dirty="0"/>
              <a:t>цьому варто наголосити: ми не вчимо новий інструмент, ми з'єднуємо те, що вже є.</a:t>
            </a:r>
          </a:p>
          <a:p>
            <a:endParaRPr lang="uk-UA" sz="1200" dirty="0"/>
          </a:p>
          <a:p>
            <a:r>
              <a:rPr lang="uk-UA" sz="1200" dirty="0"/>
              <a:t>Одне важливе місце показую пальцем: рядок messages = [...] тепер бере persona</a:t>
            </a:r>
          </a:p>
          <a:p>
            <a:r>
              <a:rPr lang="uk-UA" sz="1200" dirty="0"/>
              <a:t>замість тексту в лапках, тобто СТАРИЙ рядок із блоку 3 треба замінити, а не</a:t>
            </a:r>
          </a:p>
          <a:p>
            <a:r>
              <a:rPr lang="uk-UA" sz="1200" dirty="0"/>
              <a:t>дописати другий. Два рядки messages підряд означають, що працює лише нижній.</a:t>
            </a:r>
          </a:p>
          <a:p>
            <a:endParaRPr lang="uk-UA" sz="1200" dirty="0"/>
          </a:p>
          <a:p>
            <a:r>
              <a:rPr lang="uk-UA" sz="1200" dirty="0"/>
              <a:t>Далі — головна демонстрація, і її роблю сам на телевізорі. Ставлю помічнику</a:t>
            </a:r>
          </a:p>
          <a:p>
            <a:r>
              <a:rPr lang="uk-UA" sz="1200" dirty="0"/>
              <a:t>одне й те саме питання двічі: спершу зі старим системним промтом («Ти АІДА —</a:t>
            </a:r>
          </a:p>
          <a:p>
            <a:r>
              <a:rPr lang="uk-UA" sz="1200" dirty="0"/>
              <a:t>весела і терпляча помічниця»), потім із повною персоною з файла. Питання беру</a:t>
            </a:r>
          </a:p>
          <a:p>
            <a:r>
              <a:rPr lang="uk-UA" sz="1200" dirty="0"/>
              <a:t>нейтральне: «Що робити, коли не хочеться робити уроки?» Відповіді будуть різні</a:t>
            </a:r>
          </a:p>
          <a:p>
            <a:r>
              <a:rPr lang="uk-UA" sz="1200" dirty="0"/>
              <a:t>за тоном, довжиною і словником. Саме це питання й стоїть у програмі на слайді:</a:t>
            </a:r>
          </a:p>
          <a:p>
            <a:r>
              <a:rPr lang="uk-UA" sz="1200" dirty="0"/>
              <a:t>запускаю її раз, потім пишу в messages замість persona старий текст у лапках і</a:t>
            </a:r>
          </a:p>
          <a:p>
            <a:r>
              <a:rPr lang="uk-UA" sz="1200" dirty="0"/>
              <a:t>запускаю ще раз.</a:t>
            </a:r>
          </a:p>
          <a:p>
            <a:endParaRPr lang="uk-UA" sz="1200" dirty="0"/>
          </a:p>
          <a:p>
            <a:r>
              <a:rPr lang="uk-UA" sz="1200" dirty="0"/>
              <a:t>Це наочна відповідь на питання, яке лунало на уроці 1: навіщо взагалі персона.</a:t>
            </a:r>
          </a:p>
          <a:p>
            <a:r>
              <a:rPr lang="uk-UA" sz="1200" dirty="0"/>
              <a:t>Тепер її чути.</a:t>
            </a:r>
          </a:p>
          <a:p>
            <a:endParaRPr lang="uk-UA" sz="1200" dirty="0"/>
          </a:p>
          <a:p>
            <a:r>
              <a:rPr lang="uk-UA" sz="1200" dirty="0"/>
              <a:t>Що варто пояснити про поведінку системного промту: він не команда на одну</a:t>
            </a:r>
          </a:p>
          <a:p>
            <a:r>
              <a:rPr lang="uk-UA" sz="1200" dirty="0"/>
              <a:t>відповідь, а рамка на всю розмову. Модель читає його перед кожною реплікою,</a:t>
            </a:r>
          </a:p>
          <a:p>
            <a:r>
              <a:rPr lang="uk-UA" sz="1200" dirty="0"/>
              <a:t>тому персона не «вивітрюється». І окреме попередження: дуже довгий системний</a:t>
            </a:r>
          </a:p>
          <a:p>
            <a:r>
              <a:rPr lang="uk-UA" sz="1200" dirty="0"/>
              <a:t>промт не робить персону сильнішою — п'ять рядків працюють, дві сторінки ні, бо</a:t>
            </a:r>
          </a:p>
          <a:p>
            <a:r>
              <a:rPr lang="uk-UA" sz="1200" dirty="0"/>
              <a:t>модель губить середину, а платимо ми за кожен рядок у кожному запиті.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чотири рядки й слухаємо, як помічник змінився.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Найнаочніша демонстрація курсу: один змінений рядок міняє тон усіх відповідей.</a:t>
            </a:r>
          </a:p>
          <a:p>
            <a:r>
              <a:rPr lang="uk-UA" sz="1200" dirty="0"/>
              <a:t>Тримається вона на одній умові: питання має бути ТЕ САМЕ. Диктую його вголос</a:t>
            </a:r>
          </a:p>
          <a:p>
            <a:r>
              <a:rPr lang="uk-UA" sz="1200" dirty="0"/>
              <a:t>і прошу всіх питати саме його — інакше порівнювати немає чого.</a:t>
            </a:r>
          </a:p>
          <a:p>
            <a:endParaRPr lang="uk-UA" sz="1200" dirty="0"/>
          </a:p>
          <a:p>
            <a:r>
              <a:rPr lang="uk-UA" sz="1200" dirty="0"/>
              <a:t>Зберегти chat3.py як chat4.py і дописати один рядок про persona, а в наступному</a:t>
            </a:r>
          </a:p>
          <a:p>
            <a:r>
              <a:rPr lang="uk-UA" sz="1200" dirty="0"/>
              <a:t>замінити текст у лапках на слово persona без лапок. Слово без лапок — це</a:t>
            </a:r>
          </a:p>
          <a:p>
            <a:r>
              <a:rPr lang="uk-UA" sz="1200" dirty="0"/>
              <a:t>змінна, у лапках — текст; хто лишить лапки, тому помічник відповідатиме як</a:t>
            </a:r>
          </a:p>
          <a:p>
            <a:r>
              <a:rPr lang="uk-UA" sz="1200" dirty="0"/>
              <a:t>саме слово persona, і це смішно рівно одну хвилину.</a:t>
            </a:r>
          </a:p>
          <a:p>
            <a:endParaRPr lang="uk-UA" sz="1200" dirty="0"/>
          </a:p>
          <a:p>
            <a:r>
              <a:rPr lang="uk-UA" sz="1200" dirty="0"/>
              <a:t>У КОГО НЕМАЄ persona.txt (не було на уроку 1, загубився) — шаблон на</a:t>
            </a:r>
          </a:p>
          <a:p>
            <a:r>
              <a:rPr lang="uk-UA" sz="1200" dirty="0"/>
              <a:t>попередньому слайді, чотири рядки, пишеться за хвилину. Квадратні дужки в</a:t>
            </a:r>
          </a:p>
          <a:p>
            <a:r>
              <a:rPr lang="uk-UA" sz="1200" dirty="0"/>
              <a:t>ньому прибирають — вони лише кажуть, що міняти на своє. Поки група пише</a:t>
            </a:r>
          </a:p>
          <a:p>
            <a:r>
              <a:rPr lang="uk-UA" sz="1200" dirty="0"/>
              <a:t>персону, ходжу й підказую: це не твір, а чотири короткі рядки.</a:t>
            </a:r>
          </a:p>
          <a:p>
            <a:endParaRPr lang="uk-UA" sz="1200" dirty="0"/>
          </a:p>
          <a:p>
            <a:r>
              <a:rPr lang="uk-UA" sz="1200" dirty="0"/>
              <a:t>ЧОМУ ЦЕ ПРАЦЮЄ. Системне повідомлення стоїть першим у списку, тобто модель</a:t>
            </a:r>
          </a:p>
          <a:p>
            <a:r>
              <a:rPr lang="uk-UA" sz="1200" dirty="0"/>
              <a:t>читає його перед кожною відповіддю — і перед першою, і перед двадцятою.</a:t>
            </a:r>
          </a:p>
          <a:p>
            <a:r>
              <a:rPr lang="uk-UA" sz="1200" dirty="0"/>
              <a:t>Це той самий промт, що на уроці 1, тільки тепер його не треба вставляти</a:t>
            </a:r>
          </a:p>
          <a:p>
            <a:r>
              <a:rPr lang="uk-UA" sz="1200" dirty="0"/>
              <a:t>щоразу руками.</a:t>
            </a:r>
          </a:p>
          <a:p>
            <a:endParaRPr lang="uk-UA" sz="1200" dirty="0"/>
          </a:p>
          <a:p>
            <a:r>
              <a:rPr lang="uk-UA" sz="1200" dirty="0"/>
              <a:t>ПІСЛЯ ЗАПУСКУ прошу двох-трьох прочитати свою відповідь уголос. Вони різні —</a:t>
            </a:r>
          </a:p>
          <a:p>
            <a:r>
              <a:rPr lang="uk-UA" sz="1200" dirty="0"/>
              <a:t>бо персони різні, а програма в усіх однакова. Це та сама думка, що в блоці 2,</a:t>
            </a:r>
          </a:p>
          <a:p>
            <a:r>
              <a:rPr lang="uk-UA" sz="1200" dirty="0"/>
              <a:t>тільки тепер роль system робить справжню роботу.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допише в persona.txt рядок «Завжди закінчуй питанням»</a:t>
            </a:r>
          </a:p>
          <a:p>
            <a:r>
              <a:rPr lang="uk-UA" sz="1200" dirty="0"/>
              <a:t>і запустить ще раз. Файл читається на старті, тож програму треба</a:t>
            </a:r>
          </a:p>
          <a:p>
            <a:r>
              <a:rPr lang="uk-UA" sz="1200" dirty="0"/>
              <a:t>перезапустити — це теж відкриття.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Запускаємо chat3.py і chat4.py з ОДНИМ і тим самим питанням:</a:t>
            </a:r>
          </a:p>
          <a:p>
            <a:r>
              <a:rPr lang="uk-UA" sz="1200" dirty="0"/>
              <a:t>«Що робити, коли не хочеться робити уроки?»</a:t>
            </a:r>
          </a:p>
          <a:p>
            <a:endParaRPr lang="uk-UA" sz="1200" dirty="0"/>
          </a:p>
          <a:p>
            <a:r>
              <a:rPr lang="uk-UA" sz="1200" dirty="0"/>
              <a:t>chat3.py — системний рядок «Ти АІДА, весела помічниця»:</a:t>
            </a:r>
          </a:p>
          <a:p>
            <a:r>
              <a:rPr lang="uk-UA" sz="1200" dirty="0"/>
              <a:t>Спробуй розбити завдання на частини, зроби перерву та прибери те, що</a:t>
            </a:r>
          </a:p>
          <a:p>
            <a:r>
              <a:rPr lang="uk-UA" sz="1200" dirty="0"/>
              <a:t>відволікає. Важливо дотримуватися режиму дня.</a:t>
            </a:r>
          </a:p>
          <a:p>
            <a:endParaRPr lang="uk-UA" sz="1200" dirty="0"/>
          </a:p>
          <a:p>
            <a:r>
              <a:rPr lang="uk-UA" sz="1200" dirty="0"/>
              <a:t>chat4.py — системний рядок із persona.txt:</a:t>
            </a:r>
          </a:p>
          <a:p>
            <a:r>
              <a:rPr lang="uk-UA" sz="1200" dirty="0"/>
              <a:t>Ха, знайоме! Домовмось так: 10 хвилин на найнудніше — і все. Зазвичай</a:t>
            </a:r>
          </a:p>
          <a:p>
            <a:r>
              <a:rPr lang="uk-UA" sz="1200" dirty="0"/>
              <a:t>після старту вже не хочеться кидати 🙂</a:t>
            </a:r>
          </a:p>
          <a:p>
            <a:endParaRPr lang="uk-UA" sz="1200" dirty="0"/>
          </a:p>
          <a:p>
            <a:r>
              <a:rPr lang="uk-UA" sz="1200" dirty="0"/>
              <a:t>Три відмінності, які має назвати група: звертання на «ти», коротші</a:t>
            </a:r>
          </a:p>
          <a:p>
            <a:r>
              <a:rPr lang="uk-UA" sz="1200" dirty="0"/>
              <a:t>речення, готовий конкретний крок замість загальної поради.</a:t>
            </a:r>
          </a:p>
          <a:p>
            <a:endParaRPr lang="uk-UA" sz="1200" dirty="0"/>
          </a:p>
          <a:p>
            <a:r>
              <a:rPr lang="uk-UA" sz="1200" dirty="0"/>
              <a:t>Код в обох файлах відрізняється на один рядок.</a:t>
            </a:r>
          </a:p>
          <a:p>
            <a:endParaRPr lang="uk-UA" sz="1200" dirty="0"/>
          </a:p>
          <a:p>
            <a:r>
              <a:rPr lang="uk-UA" sz="1200" dirty="0"/>
              <a:t>FileNotFoundError: persona.txt — файла немає або він у іншій папці.</a:t>
            </a:r>
          </a:p>
          <a:p>
            <a:r>
              <a:rPr lang="uk-UA" sz="1200" dirty="0"/>
              <a:t>Шаблон лежить на попередньому слайді.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 перед блоком про очищення. Питання короткі, а головне тут — друге.</a:t>
            </a:r>
          </a:p>
          <a:p>
            <a:endParaRPr lang="uk-UA" sz="1200" dirty="0"/>
          </a:p>
          <a:p>
            <a:r>
              <a:rPr lang="uk-UA" sz="1200" dirty="0"/>
              <a:t>КОЛИ ХОТІЛОСЬ ПОЧАТИ СПОЧАТКУ. Приклади знаходять швидко: помічник заплутався,</a:t>
            </a:r>
          </a:p>
          <a:p>
            <a:r>
              <a:rPr lang="uk-UA" sz="1200" dirty="0"/>
              <a:t>відповідає не про те, застряг на одній думці. Кажу, що в справжніх чатах для</a:t>
            </a:r>
          </a:p>
          <a:p>
            <a:r>
              <a:rPr lang="uk-UA" sz="1200" dirty="0"/>
              <a:t>цього є кнопка «нова розмова», і зараз ми таку зробимо.</a:t>
            </a:r>
          </a:p>
          <a:p>
            <a:endParaRPr lang="uk-UA" sz="1200" dirty="0"/>
          </a:p>
          <a:p>
            <a:r>
              <a:rPr lang="uk-UA" sz="1200" dirty="0"/>
              <a:t>ЩО ЗНИКАЄ, А ЩО ЛИШАЄТЬСЯ. Головне питання. Більшість скаже «усе зникає».</a:t>
            </a:r>
          </a:p>
          <a:p>
            <a:r>
              <a:rPr lang="uk-UA" sz="1200" dirty="0"/>
              <a:t>Питаю: а характер? Він теж лежить у списку. Якщо стерти все, помічник забуде,</a:t>
            </a:r>
          </a:p>
          <a:p>
            <a:r>
              <a:rPr lang="uk-UA" sz="1200" dirty="0"/>
              <a:t>ким він є, і відповідатиме як звичайний ChatGPT. Ось і виходить правило:</a:t>
            </a:r>
          </a:p>
          <a:p>
            <a:r>
              <a:rPr lang="uk-UA" sz="1200" dirty="0"/>
              <a:t>стираємо все, крім першого елемента.</a:t>
            </a:r>
          </a:p>
          <a:p>
            <a:endParaRPr lang="uk-UA" sz="1200" dirty="0"/>
          </a:p>
          <a:p>
            <a:r>
              <a:rPr lang="uk-UA" sz="1200" dirty="0"/>
              <a:t>ЧОМУ НЕ ПЕРЕЗАПУСТИТИ. Практична відповідь: перезапуск закриє програму, і на</a:t>
            </a:r>
          </a:p>
          <a:p>
            <a:r>
              <a:rPr lang="uk-UA" sz="1200" dirty="0"/>
              <a:t>уроці 8 це буде вже ціле вікно, яке відкривати наново незручно. Кажу і другу</a:t>
            </a:r>
          </a:p>
          <a:p>
            <a:r>
              <a:rPr lang="uk-UA" sz="1200" dirty="0"/>
              <a:t>причину, дорослішу: програма має вміти лікувати себе сама, не змушуючи людину</a:t>
            </a:r>
          </a:p>
          <a:p>
            <a:r>
              <a:rPr lang="uk-UA" sz="1200" dirty="0"/>
              <a:t>її вбивати.</a:t>
            </a:r>
          </a:p>
          <a:p>
            <a:endParaRPr lang="uk-UA" sz="1200" dirty="0"/>
          </a:p>
          <a:p>
            <a:r>
              <a:rPr lang="uk-UA" sz="1200" dirty="0"/>
              <a:t>Далі показ, і на ньому з'явиться зріз — коротка й дуже корисна річ.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Короткий блок із новим інструментом — зрізом списку. Він знадобиться ще й у</a:t>
            </a:r>
          </a:p>
          <a:p>
            <a:r>
              <a:rPr lang="uk-UA" sz="1200" dirty="0"/>
              <a:t>наступному блоці, тому пояснюю ретельно.</a:t>
            </a:r>
          </a:p>
          <a:p>
            <a:endParaRPr lang="uk-UA" sz="1200" dirty="0"/>
          </a:p>
          <a:p>
            <a:r>
              <a:rPr lang="uk-UA" sz="1200" dirty="0"/>
              <a:t>Кажу навіщо: розмова буває заплутується. Помічник учепився за тему, повторює</a:t>
            </a:r>
          </a:p>
          <a:p>
            <a:r>
              <a:rPr lang="uk-UA" sz="1200" dirty="0"/>
              <a:t>одне й те саме, або просто хочеться почати спочатку. Перезапускати програму</a:t>
            </a:r>
          </a:p>
          <a:p>
            <a:r>
              <a:rPr lang="uk-UA" sz="1200" dirty="0"/>
              <a:t>незручно — має бути команда.</a:t>
            </a:r>
          </a:p>
          <a:p>
            <a:endParaRPr lang="uk-UA" sz="1200" dirty="0"/>
          </a:p>
          <a:p>
            <a:r>
              <a:rPr lang="uk-UA" sz="1200" dirty="0"/>
              <a:t>messages[:1] — зріз. Пояснюю на пальцях: квадратні дужки з двокрапкою беруть</a:t>
            </a:r>
          </a:p>
          <a:p>
            <a:r>
              <a:rPr lang="uk-UA" sz="1200" dirty="0"/>
              <a:t>шматок списку. Ліворуч від двокрапки — звідки почати, праворуч — до якого</a:t>
            </a:r>
          </a:p>
          <a:p>
            <a:r>
              <a:rPr lang="uk-UA" sz="1200" dirty="0"/>
              <a:t>елемента, не включаючи його. Порожньо ліворуч означає «з початку». Тому [:1] —</a:t>
            </a:r>
          </a:p>
          <a:p>
            <a:r>
              <a:rPr lang="uk-UA" sz="1200" dirty="0"/>
              <a:t>це «з початку до першого, не включаючи другий», тобто рівно один елемент.</a:t>
            </a:r>
          </a:p>
          <a:p>
            <a:endParaRPr lang="uk-UA" sz="1200" dirty="0"/>
          </a:p>
          <a:p>
            <a:r>
              <a:rPr lang="uk-UA" sz="1200" dirty="0"/>
              <a:t>Чому саме перший? Бо перший — системний промт. Ми хочемо стерти розмову, але</a:t>
            </a:r>
          </a:p>
          <a:p>
            <a:r>
              <a:rPr lang="uk-UA" sz="1200" dirty="0"/>
              <a:t>не характер. Прошу групу сказати, що станеться при messages = [] — помічник</a:t>
            </a:r>
          </a:p>
          <a:p>
            <a:r>
              <a:rPr lang="uk-UA" sz="1200" dirty="0"/>
              <a:t>забуде і хто він, і почне відповідати як стандартний бот.</a:t>
            </a:r>
          </a:p>
          <a:p>
            <a:endParaRPr lang="uk-UA" sz="1200" dirty="0"/>
          </a:p>
          <a:p>
            <a:r>
              <a:rPr lang="uk-UA" sz="1200" dirty="0"/>
              <a:t>continue — нове слово. Воно каже циклу: «на цьому проході більше нічого не</a:t>
            </a:r>
          </a:p>
          <a:p>
            <a:r>
              <a:rPr lang="uk-UA" sz="1200" dirty="0"/>
              <a:t>роби, починай наступний». Без нього після очищення програма пішла б далі й</a:t>
            </a:r>
          </a:p>
          <a:p>
            <a:r>
              <a:rPr lang="uk-UA" sz="1200" dirty="0"/>
              <a:t>надіслала б у мережу запит зі словом «очисти». Показую різницю обома способами</a:t>
            </a:r>
          </a:p>
          <a:p>
            <a:r>
              <a:rPr lang="uk-UA" sz="1200" dirty="0"/>
              <a:t>на телевізорі. Програма на слайді ціла й запускається без ключа: замість</a:t>
            </a:r>
          </a:p>
          <a:p>
            <a:r>
              <a:rPr lang="uk-UA" sz="1200" dirty="0"/>
              <a:t>моделі в ній мок з уроку 4, ask_mock, а лічильник показує, що робить зріз —</a:t>
            </a:r>
          </a:p>
          <a:p>
            <a:r>
              <a:rPr lang="uk-UA" sz="1200" dirty="0"/>
              <a:t>3, 5, «очисти», і наступне питання знову дає 3. Без continue після «очисти»</a:t>
            </a:r>
          </a:p>
          <a:p>
            <a:r>
              <a:rPr lang="uk-UA" sz="1200" dirty="0"/>
              <a:t>одразу друкується «Почула: очисти» і 3: слово поїхало в ask_mock, як поїхало б</a:t>
            </a:r>
          </a:p>
          <a:p>
            <a:r>
              <a:rPr lang="uk-UA" sz="1200" dirty="0"/>
              <a:t>у мережу.</a:t>
            </a:r>
          </a:p>
          <a:p>
            <a:endParaRPr lang="uk-UA" sz="1200" dirty="0"/>
          </a:p>
          <a:p>
            <a:r>
              <a:rPr lang="uk-UA" sz="1200" dirty="0"/>
              <a:t>Про перевірку через in, а не ==, кажу окремо: «очисти пам'ять» пишуть і без</a:t>
            </a:r>
          </a:p>
          <a:p>
            <a:r>
              <a:rPr lang="uk-UA" sz="1200" dirty="0"/>
              <a:t>апострофа, і з великої літери, і просто «очисти». in з .lower() ловить усі</a:t>
            </a:r>
          </a:p>
          <a:p>
            <a:r>
              <a:rPr lang="uk-UA" sz="1200" dirty="0"/>
              <a:t>варіанти — це рівно ті два інструменти з уроку 2.</a:t>
            </a:r>
          </a:p>
          <a:p>
            <a:endParaRPr lang="uk-UA" sz="1200" dirty="0"/>
          </a:p>
          <a:p>
            <a:r>
              <a:rPr lang="uk-UA" sz="1200" dirty="0"/>
              <a:t>Де плутаються: пишуть messages = messages[1:] і стирають рівно навпаки —</a:t>
            </a:r>
          </a:p>
          <a:p>
            <a:r>
              <a:rPr lang="uk-UA" sz="1200" dirty="0"/>
              <a:t>характер; забувають continue.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цикл цілком, разом із цим блоком.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Зберегти chat4.py як chat5.py і дописати чотири рядки в цикл, між break і</a:t>
            </a:r>
          </a:p>
          <a:p>
            <a:r>
              <a:rPr lang="uk-UA" sz="1200" dirty="0"/>
              <a:t>останнім print. Більше нічого не міняється.</a:t>
            </a:r>
          </a:p>
          <a:p>
            <a:endParaRPr lang="uk-UA" sz="1200" dirty="0"/>
          </a:p>
          <a:p>
            <a:r>
              <a:rPr lang="uk-UA" sz="1200" dirty="0"/>
              <a:t>ДЕ САМЕ ВОНИ СТОЯТЬ — головне питання цього блоку. У циклі, не у функції.</a:t>
            </a:r>
          </a:p>
          <a:p>
            <a:r>
              <a:rPr lang="uk-UA" sz="1200" dirty="0"/>
              <a:t>Хто покладе рядок messages = messages[:1] усередину ask, дістане</a:t>
            </a:r>
          </a:p>
          <a:p>
            <a:r>
              <a:rPr lang="uk-UA" sz="1200" dirty="0"/>
              <a:t>UnboundLocalError — і це гарна нагода сказати чому: присвоєння всередині</a:t>
            </a:r>
          </a:p>
          <a:p>
            <a:r>
              <a:rPr lang="uk-UA" sz="1200" dirty="0"/>
              <a:t>функції робить ім'я місцевим. Зауважую заразом, чому append усередині</a:t>
            </a:r>
          </a:p>
          <a:p>
            <a:r>
              <a:rPr lang="uk-UA" sz="1200" dirty="0"/>
              <a:t>функції працює: він нічого не присвоює, він міняє той самий список.</a:t>
            </a:r>
          </a:p>
          <a:p>
            <a:endParaRPr lang="uk-UA" sz="1200" dirty="0"/>
          </a:p>
          <a:p>
            <a:r>
              <a:rPr lang="uk-UA" sz="1200" dirty="0"/>
              <a:t>ТРИ РЕЧІ, ЯКІ ТРЕБА ПРОГОВОРИТИ:</a:t>
            </a:r>
          </a:p>
          <a:p>
            <a:endParaRPr lang="uk-UA" sz="1200" dirty="0"/>
          </a:p>
          <a:p>
            <a:r>
              <a:rPr lang="uk-UA" sz="1200" dirty="0"/>
              <a:t>1. messages[:1] — зріз, перший на курсі. Бере від початку й ДО першого,</a:t>
            </a:r>
          </a:p>
          <a:p>
            <a:r>
              <a:rPr lang="uk-UA" sz="1200" dirty="0"/>
              <a:t>   тобто рівно один елемент — системний промт. Малюю на дошці список</a:t>
            </a:r>
          </a:p>
          <a:p>
            <a:r>
              <a:rPr lang="uk-UA" sz="1200" dirty="0"/>
              <a:t>   із семи квадратиків і закреслюю шість.</a:t>
            </a:r>
          </a:p>
          <a:p>
            <a:r>
              <a:rPr lang="uk-UA" sz="1200" dirty="0"/>
              <a:t>2. continue — перше на курсі. Кажу: «цей прохід закінчився, питай далі».</a:t>
            </a:r>
          </a:p>
          <a:p>
            <a:r>
              <a:rPr lang="uk-UA" sz="1200" dirty="0"/>
              <a:t>   Без нього слово «очисти» поїде в модель і вона чемно відповість.</a:t>
            </a:r>
          </a:p>
          <a:p>
            <a:r>
              <a:rPr lang="uk-UA" sz="1200" dirty="0"/>
              <a:t>   Це не теорія: просять прибрати рядок і побачити самі.</a:t>
            </a:r>
          </a:p>
          <a:p>
            <a:r>
              <a:rPr lang="uk-UA" sz="1200" dirty="0"/>
              <a:t>3. Чому лишаємо перший, а не стираємо все: без системного промту</a:t>
            </a:r>
          </a:p>
          <a:p>
            <a:r>
              <a:rPr lang="uk-UA" sz="1200" dirty="0"/>
              <a:t>   помічник втратить характер, який ми щойно йому дали.</a:t>
            </a:r>
          </a:p>
          <a:p>
            <a:endParaRPr lang="uk-UA" sz="1200" dirty="0"/>
          </a:p>
          <a:p>
            <a:r>
              <a:rPr lang="uk-UA" sz="1200" dirty="0"/>
              <a:t>ПЕРЕВІРКА ЛАНЦЮЖКОМ, диктую вголос: назвись — спитай ім'я — очисти —</a:t>
            </a:r>
          </a:p>
          <a:p>
            <a:r>
              <a:rPr lang="uk-UA" sz="1200" dirty="0"/>
              <a:t>спитай ім'я знову. Чотири кроки, тридцять секунд, і відповідь очевидна.</a:t>
            </a:r>
          </a:p>
          <a:p>
            <a:r>
              <a:rPr lang="uk-UA" sz="1200" dirty="0"/>
              <a:t>Окремо прошу помітити, що тон після очищення не змінився.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зробить другу команду за тим самим зразком —</a:t>
            </a:r>
          </a:p>
          <a:p>
            <a:r>
              <a:rPr lang="uk-UA" sz="1200" dirty="0"/>
              <a:t>«хто ти», яка друкує messages[0]["content"] і теж кінчається continue.</a:t>
            </a:r>
          </a:p>
          <a:p>
            <a:r>
              <a:rPr lang="uk-UA" sz="1200" dirty="0"/>
              <a:t>Три рядки, і вона показує те, що пережило «очисти».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chat5.py</a:t>
            </a:r>
          </a:p>
          <a:p>
            <a:endParaRPr lang="uk-UA" sz="1200" dirty="0"/>
          </a:p>
          <a:p>
            <a:r>
              <a:rPr lang="uk-UA" sz="1200" dirty="0"/>
              <a:t>Ти: Мене звати Марта</a:t>
            </a:r>
          </a:p>
          <a:p>
            <a:r>
              <a:rPr lang="uk-UA" sz="1200" dirty="0"/>
              <a:t>АІДА: Дуже приємно, Марто! 🙂</a:t>
            </a:r>
          </a:p>
          <a:p>
            <a:r>
              <a:rPr lang="uk-UA" sz="1200" dirty="0"/>
              <a:t>Ти: Як мене звати?</a:t>
            </a:r>
          </a:p>
          <a:p>
            <a:r>
              <a:rPr lang="uk-UA" sz="1200" dirty="0"/>
              <a:t>АІДА: Марта, звісно!</a:t>
            </a:r>
          </a:p>
          <a:p>
            <a:r>
              <a:rPr lang="uk-UA" sz="1200" dirty="0"/>
              <a:t>Ти: очисти</a:t>
            </a:r>
          </a:p>
          <a:p>
            <a:r>
              <a:rPr lang="uk-UA" sz="1200" dirty="0"/>
              <a:t>АІДА: Забула все, крім себе.</a:t>
            </a:r>
          </a:p>
          <a:p>
            <a:r>
              <a:rPr lang="uk-UA" sz="1200" dirty="0"/>
              <a:t>Ти: Як мене звати?</a:t>
            </a:r>
          </a:p>
          <a:p>
            <a:r>
              <a:rPr lang="uk-UA" sz="1200" dirty="0"/>
              <a:t>АІДА: Не знаю — ти ще не називалася. Скажи, і я запам'ятаю!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Головне: імені більше немає, а тон і характер ті самі. Саме заради</a:t>
            </a:r>
          </a:p>
          <a:p>
            <a:r>
              <a:rPr lang="uk-UA" sz="1200" dirty="0"/>
              <a:t>цього ми лишаємо перший елемент списку.</a:t>
            </a:r>
          </a:p>
          <a:p>
            <a:endParaRPr lang="uk-UA" sz="1200" dirty="0"/>
          </a:p>
          <a:p>
            <a:r>
              <a:rPr lang="uk-UA" sz="1200" dirty="0"/>
              <a:t>Команда не поїхала в мережу взагалі: відповідь прийшла миттєво,</a:t>
            </a:r>
          </a:p>
          <a:p>
            <a:r>
              <a:rPr lang="uk-UA" sz="1200" dirty="0"/>
              <a:t>без паузи. Це й є робота continue.</a:t>
            </a:r>
          </a:p>
          <a:p>
            <a:endParaRPr lang="uk-UA" sz="1200" dirty="0"/>
          </a:p>
          <a:p>
            <a:r>
              <a:rPr lang="uk-UA" sz="1200" dirty="0"/>
              <a:t>Якщо після «очисти» була пауза й звичайна відповідь моделі —</a:t>
            </a:r>
          </a:p>
          <a:p>
            <a:r>
              <a:rPr lang="uk-UA" sz="1200" dirty="0"/>
              <a:t>забули continue, і слово «очисти» поїхало в запит.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Одна хвилина перед фіналом уроку. Питання ведуть до єдиної думки: список, який</a:t>
            </a:r>
          </a:p>
          <a:p>
            <a:r>
              <a:rPr lang="uk-UA" sz="1200" dirty="0"/>
              <a:t>тільки росте, рано чи пізно стає проблемою.</a:t>
            </a:r>
          </a:p>
          <a:p>
            <a:endParaRPr lang="uk-UA" sz="1200" dirty="0"/>
          </a:p>
          <a:p>
            <a:r>
              <a:rPr lang="uk-UA" sz="1200" dirty="0"/>
              <a:t>ЩО БУДЕ ЗІ СПИСКОМ. Кажуть: стане великим. Питаю, чим це погано. Витягую два</a:t>
            </a:r>
          </a:p>
          <a:p>
            <a:r>
              <a:rPr lang="uk-UA" sz="1200" dirty="0"/>
              <a:t>наслідки: повільніше й дорожче. Обидва правильні.</a:t>
            </a:r>
          </a:p>
          <a:p>
            <a:endParaRPr lang="uk-UA" sz="1200" dirty="0"/>
          </a:p>
          <a:p>
            <a:r>
              <a:rPr lang="uk-UA" sz="1200" dirty="0"/>
              <a:t>ХТО ПЛАТИТЬ. Повертаємось до уроку 4: платить власник ключа, і платить за все,</a:t>
            </a:r>
          </a:p>
          <a:p>
            <a:r>
              <a:rPr lang="uk-UA" sz="1200" dirty="0"/>
              <a:t>що поїхало в конверті. А в конверті тепер уся розмова. Отже, сота репліка</a:t>
            </a:r>
          </a:p>
          <a:p>
            <a:r>
              <a:rPr lang="uk-UA" sz="1200" dirty="0"/>
              <a:t>коштує більше за першу — і це не метафора, а арифметика.</a:t>
            </a:r>
          </a:p>
          <a:p>
            <a:endParaRPr lang="uk-UA" sz="1200" dirty="0"/>
          </a:p>
          <a:p>
            <a:r>
              <a:rPr lang="uk-UA" sz="1200" dirty="0"/>
              <a:t>ЩО МОЖНА ВІДРІЗАТИ. Правильна відповідь: найстаріше. А що не можна — системний</a:t>
            </a:r>
          </a:p>
          <a:p>
            <a:r>
              <a:rPr lang="uk-UA" sz="1200" dirty="0"/>
              <a:t>промт, бо без нього зникне характер. Якщо хтось скаже це сам, хвалю: це рівно</a:t>
            </a:r>
          </a:p>
          <a:p>
            <a:r>
              <a:rPr lang="uk-UA" sz="1200" dirty="0"/>
              <a:t>той рядок коду, який зараз буде на слайді.</a:t>
            </a:r>
          </a:p>
          <a:p>
            <a:endParaRPr lang="uk-UA" sz="1200" dirty="0"/>
          </a:p>
          <a:p>
            <a:r>
              <a:rPr lang="uk-UA" sz="1200" dirty="0"/>
              <a:t>Одна хвилина — і показ. Далі три рядки, і урок закінчено.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Останній блок уроку, і він про інженерну чесність: у пам'яті є ціна.</a:t>
            </a:r>
          </a:p>
          <a:p>
            <a:endParaRPr lang="uk-UA" sz="1200" dirty="0"/>
          </a:p>
          <a:p>
            <a:r>
              <a:rPr lang="uk-UA" sz="1200" dirty="0"/>
              <a:t>Нагадую механіку: у кожному запиті ми надсилаємо ВЕСЬ список. Тобто на</a:t>
            </a:r>
          </a:p>
          <a:p>
            <a:r>
              <a:rPr lang="uk-UA" sz="1200" dirty="0"/>
              <a:t>п'ятдесятій репліці ми щоразу надсилаємо всі попередні сорок дев'ять. Звідси</a:t>
            </a:r>
          </a:p>
          <a:p>
            <a:r>
              <a:rPr lang="uk-UA" sz="1200" dirty="0"/>
              <a:t>три наслідки, які варто назвати вголос:</a:t>
            </a:r>
          </a:p>
          <a:p>
            <a:r>
              <a:rPr lang="uk-UA" sz="1200" dirty="0"/>
              <a:t>    відповідь приходить повільніше;</a:t>
            </a:r>
          </a:p>
          <a:p>
            <a:r>
              <a:rPr lang="uk-UA" sz="1200" dirty="0"/>
              <a:t>    запит коштує дорожче;</a:t>
            </a:r>
          </a:p>
          <a:p>
            <a:r>
              <a:rPr lang="uk-UA" sz="1200" dirty="0"/>
              <a:t>    у моделі є межа, скільки тексту вона взагалі здатна прочитати за раз.</a:t>
            </a:r>
          </a:p>
          <a:p>
            <a:endParaRPr lang="uk-UA" sz="1200" dirty="0"/>
          </a:p>
          <a:p>
            <a:r>
              <a:rPr lang="uk-UA" sz="1200" dirty="0"/>
              <a:t>Тому історію підрізають. Код на слайді читаємо разом.</a:t>
            </a:r>
          </a:p>
          <a:p>
            <a:endParaRPr lang="uk-UA" sz="1200" dirty="0"/>
          </a:p>
          <a:p>
            <a:r>
              <a:rPr lang="uk-UA" sz="1200" dirty="0"/>
              <a:t>messages[:1] + messages[1:][-6:] — два зрізи, склеєні плюсом. Перший бере</a:t>
            </a:r>
          </a:p>
          <a:p>
            <a:r>
              <a:rPr lang="uk-UA" sz="1200" dirty="0"/>
              <a:t>системний промт, це вже було в попередньому блоці. Другий — останні шість</a:t>
            </a:r>
          </a:p>
          <a:p>
            <a:r>
              <a:rPr lang="uk-UA" sz="1200" dirty="0"/>
              <a:t>реплік: [1:] відкидає характер, [-6:] бере шість із кінця — мінус означає</a:t>
            </a:r>
          </a:p>
          <a:p>
            <a:r>
              <a:rPr lang="uk-UA" sz="1200" dirty="0"/>
              <a:t>«рахуючи з кінця». Плюс між списками склеює їх в один — так само, як склеював</a:t>
            </a:r>
          </a:p>
          <a:p>
            <a:r>
              <a:rPr lang="uk-UA" sz="1200" dirty="0"/>
              <a:t>рядки на уроці 1. Шість не священне число, важлива ідея.</a:t>
            </a:r>
          </a:p>
          <a:p>
            <a:endParaRPr lang="uk-UA" sz="1200" dirty="0"/>
          </a:p>
          <a:p>
            <a:r>
              <a:rPr lang="uk-UA" sz="1200" dirty="0"/>
              <a:t>Програма на слайді ціла й запускається без ключа: замість моделі в ній мок з</a:t>
            </a:r>
          </a:p>
          <a:p>
            <a:r>
              <a:rPr lang="uk-UA" sz="1200" dirty="0"/>
              <a:t>уроку 4. Набираю на телевізорі чотири репліки й показую два рядки під кожною:</a:t>
            </a:r>
          </a:p>
          <a:p>
            <a:r>
              <a:rPr lang="uk-UA" sz="1200" dirty="0"/>
              <a:t>лічильник росте 3, 5, 7 і стає, а «найстаріше» на четвертій репліці міняється —</a:t>
            </a:r>
          </a:p>
          <a:p>
            <a:r>
              <a:rPr lang="uk-UA" sz="1200" dirty="0"/>
              <a:t>перша репліка випала з пам'яті.</a:t>
            </a:r>
          </a:p>
          <a:p>
            <a:endParaRPr lang="uk-UA" sz="1200" dirty="0"/>
          </a:p>
          <a:p>
            <a:r>
              <a:rPr lang="uk-UA" sz="1200" dirty="0"/>
              <a:t>Окремо кажу, ДЕ цей рядок стоїть: у циклі, а не всередині ask_ai. Причина</a:t>
            </a:r>
          </a:p>
          <a:p>
            <a:r>
              <a:rPr lang="uk-UA" sz="1200" dirty="0"/>
              <a:t>дуже конкретна: messages = ... усередині функції створює нову місцеву змінну,</a:t>
            </a:r>
          </a:p>
          <a:p>
            <a:r>
              <a:rPr lang="uk-UA" sz="1200" dirty="0"/>
              <a:t>і програма падає з UnboundLocalError ще на першому append. Показую це живцем —</a:t>
            </a:r>
          </a:p>
          <a:p>
            <a:r>
              <a:rPr lang="uk-UA" sz="1200" dirty="0"/>
              <a:t>краще побачити помилку тут, ніж шукати її вдома.</a:t>
            </a:r>
          </a:p>
          <a:p>
            <a:endParaRPr lang="uk-UA" sz="1200" dirty="0"/>
          </a:p>
          <a:p>
            <a:r>
              <a:rPr lang="uk-UA" sz="1200" dirty="0"/>
              <a:t>Прошу групу сказати, що ми втрачаємо. Правильна відповідь: початок розмови.</a:t>
            </a:r>
          </a:p>
          <a:p>
            <a:r>
              <a:rPr lang="uk-UA" sz="1200" dirty="0"/>
              <a:t>Тобто якщо назватися й наговорити сорок реплік, ім'я випаде з пам'яті. Це не</a:t>
            </a:r>
          </a:p>
          <a:p>
            <a:r>
              <a:rPr lang="uk-UA" sz="1200" dirty="0"/>
              <a:t>поломка, а компроміс — і саме тому важливі речі кладуть у системний промт.</a:t>
            </a:r>
          </a:p>
          <a:p>
            <a:endParaRPr lang="uk-UA" sz="1200" dirty="0"/>
          </a:p>
          <a:p>
            <a:r>
              <a:rPr lang="uk-UA" sz="1200" dirty="0"/>
              <a:t>І останнє, чим закриваю урок: історія живе, поки програма відкрита. Хочемо,</a:t>
            </a:r>
          </a:p>
          <a:p>
            <a:r>
              <a:rPr lang="uk-UA" sz="1200" dirty="0"/>
              <a:t>щоб розмова пережила закриття, — треба зберегти messages у файл, а це рівно</a:t>
            </a:r>
          </a:p>
          <a:p>
            <a:r>
              <a:rPr lang="uk-UA" sz="1200" dirty="0"/>
              <a:t>json.dump з уроку 3. Сьогодні ми цього не робимо, але знати варто.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межу й лічильник, який її показує.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≈6 хв · набирають</a:t>
            </a:r>
          </a:p>
          <a:p>
            <a:endParaRPr lang="uk-UA" sz="1200" dirty="0"/>
          </a:p>
          <a:p>
            <a:r>
              <a:rPr lang="uk-UA" sz="1200" dirty="0"/>
              <a:t>Остання практика пари. Зберегти chat5.py як chat6.py і дописати два рядки</a:t>
            </a:r>
          </a:p>
          <a:p>
            <a:r>
              <a:rPr lang="uk-UA" sz="1200" dirty="0"/>
              <a:t>у самий кінець циклу — саме в цикл, не в функцію, і та сама причина, що в</a:t>
            </a:r>
          </a:p>
          <a:p>
            <a:r>
              <a:rPr lang="uk-UA" sz="1200" dirty="0"/>
              <a:t>блоці 5: тут присвоєння.</a:t>
            </a:r>
          </a:p>
          <a:p>
            <a:endParaRPr lang="uk-UA" sz="1200" dirty="0"/>
          </a:p>
          <a:p>
            <a:r>
              <a:rPr lang="uk-UA" sz="1200" dirty="0"/>
              <a:t>ЗРІЗ, ЯКИЙ НАБИРАЮТЬ, розбираю на дошці до того, як група його набере:</a:t>
            </a:r>
          </a:p>
          <a:p>
            <a:r>
              <a:rPr lang="uk-UA" sz="1200" dirty="0"/>
              <a:t>    messages[:1]      — системний промт, той самий зріз, що в «очисти»</a:t>
            </a:r>
          </a:p>
          <a:p>
            <a:r>
              <a:rPr lang="uk-UA" sz="1200" dirty="0"/>
              <a:t>    messages[1:]      — уся розмова без нього</a:t>
            </a:r>
          </a:p>
          <a:p>
            <a:r>
              <a:rPr lang="uk-UA" sz="1200" dirty="0"/>
              <a:t>    [-6:]             — останні шість із неї</a:t>
            </a:r>
          </a:p>
          <a:p>
            <a:r>
              <a:rPr lang="uk-UA" sz="1200" dirty="0"/>
              <a:t>Складені плюсом, вони дають «характер плюс хвіст розмови». Малюю це</a:t>
            </a:r>
          </a:p>
          <a:p>
            <a:r>
              <a:rPr lang="uk-UA" sz="1200" dirty="0"/>
              <a:t>квадратиками: один зелений, десять білих, шість останніх обводжу.</a:t>
            </a:r>
          </a:p>
          <a:p>
            <a:endParaRPr lang="uk-UA" sz="1200" dirty="0"/>
          </a:p>
          <a:p>
            <a:r>
              <a:rPr lang="uk-UA" sz="1200" dirty="0"/>
              <a:t>Чому тут немає if len(messages) &gt; ... — бо не потрібно. Коли розмова коротка,</a:t>
            </a:r>
          </a:p>
          <a:p>
            <a:r>
              <a:rPr lang="uk-UA" sz="1200" dirty="0"/>
              <a:t>[-6:] віддає всю розмову, і рядок нічого не міняє. Це варто сказати вголос:</a:t>
            </a:r>
          </a:p>
          <a:p>
            <a:r>
              <a:rPr lang="uk-UA" sz="1200" dirty="0"/>
              <a:t>часто найкоротший код — той, у якому немає if.</a:t>
            </a:r>
          </a:p>
          <a:p>
            <a:endParaRPr lang="uk-UA" sz="1200" dirty="0"/>
          </a:p>
          <a:p>
            <a:r>
              <a:rPr lang="uk-UA" sz="1200" dirty="0"/>
              <a:t>ШІСТЬ, А НЕ ДВАДЦЯТЬ — це рішення методиста, і кажу про нього чесно.</a:t>
            </a:r>
          </a:p>
          <a:p>
            <a:r>
              <a:rPr lang="uk-UA" sz="1200" dirty="0"/>
              <a:t>При двадцяти дітям довелось би написати десять реплік, щоб побачити</a:t>
            </a:r>
          </a:p>
          <a:p>
            <a:r>
              <a:rPr lang="uk-UA" sz="1200" dirty="0"/>
              <a:t>хоч щось, — це вся практика й ніякого висновку. При шести межа видна</a:t>
            </a:r>
          </a:p>
          <a:p>
            <a:r>
              <a:rPr lang="uk-UA" sz="1200" dirty="0"/>
              <a:t>на четвертій репліці.</a:t>
            </a:r>
          </a:p>
          <a:p>
            <a:endParaRPr lang="uk-UA" sz="1200" dirty="0"/>
          </a:p>
          <a:p>
            <a:r>
              <a:rPr lang="uk-UA" sz="1200" dirty="0"/>
              <a:t>ГОЛОВНИЙ ДОСЛІД БЛОКУ, диктую п'ять реплік вголос: назвись, потім</a:t>
            </a:r>
          </a:p>
          <a:p>
            <a:r>
              <a:rPr lang="uk-UA" sz="1200" dirty="0"/>
              <a:t>три будь-які речення про себе, потім спитай ім'я. Імені вже немає — воно</a:t>
            </a:r>
          </a:p>
          <a:p>
            <a:r>
              <a:rPr lang="uk-UA" sz="1200" dirty="0"/>
              <a:t>виїхало за хвіст. Це найсильніша хвилина блоку: діти самі зламали</a:t>
            </a:r>
          </a:p>
          <a:p>
            <a:r>
              <a:rPr lang="uk-UA" sz="1200" dirty="0"/>
              <a:t>пам'ять, яку самі зробили, і точно знають чому.</a:t>
            </a:r>
          </a:p>
          <a:p>
            <a:endParaRPr lang="uk-UA" sz="1200" dirty="0"/>
          </a:p>
          <a:p>
            <a:r>
              <a:rPr lang="uk-UA" sz="1200" dirty="0"/>
              <a:t>Звідси висновок пари, і він важливіший за код: пам'ять помічника — це не</a:t>
            </a:r>
          </a:p>
          <a:p>
            <a:r>
              <a:rPr lang="uk-UA" sz="1200" dirty="0"/>
              <a:t>чарівництво, а список, який хтось веде руками й за який хтось платить.</a:t>
            </a:r>
          </a:p>
          <a:p>
            <a:r>
              <a:rPr lang="uk-UA" sz="1200" dirty="0"/>
              <a:t>Саме тому у великих чатах буває «нова розмова».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поставить 2 замість 6 і подивиться, як швидко</a:t>
            </a:r>
          </a:p>
          <a:p>
            <a:r>
              <a:rPr lang="uk-UA" sz="1200" dirty="0"/>
              <a:t>помічник починає губити нитку розмови. Потім хай поверне 6.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chat6.py</a:t>
            </a:r>
          </a:p>
          <a:p>
            <a:endParaRPr lang="uk-UA" sz="1200" dirty="0"/>
          </a:p>
          <a:p>
            <a:r>
              <a:rPr lang="uk-UA" sz="1200" dirty="0"/>
              <a:t>Ти: Мене звати Марта</a:t>
            </a:r>
          </a:p>
          <a:p>
            <a:r>
              <a:rPr lang="uk-UA" sz="1200" dirty="0"/>
              <a:t>АІДА: Дуже приємно, Марто!</a:t>
            </a:r>
          </a:p>
          <a:p>
            <a:r>
              <a:rPr lang="uk-UA" sz="1200" dirty="0"/>
              <a:t>[у пам'яті] 3 повідомлень</a:t>
            </a:r>
          </a:p>
          <a:p>
            <a:r>
              <a:rPr lang="uk-UA" sz="1200" dirty="0"/>
              <a:t>Ти: Люблю космос</a:t>
            </a:r>
          </a:p>
          <a:p>
            <a:r>
              <a:rPr lang="uk-UA" sz="1200" dirty="0"/>
              <a:t>АІДА: Космос — це чудово!</a:t>
            </a:r>
          </a:p>
          <a:p>
            <a:r>
              <a:rPr lang="uk-UA" sz="1200" dirty="0"/>
              <a:t>[у пам'яті] 5 повідомлень</a:t>
            </a:r>
          </a:p>
          <a:p>
            <a:r>
              <a:rPr lang="uk-UA" sz="1200" dirty="0"/>
              <a:t>Ти: У мене є кіт</a:t>
            </a:r>
          </a:p>
          <a:p>
            <a:r>
              <a:rPr lang="uk-UA" sz="1200" dirty="0"/>
              <a:t>АІДА: Як його звати?</a:t>
            </a:r>
          </a:p>
          <a:p>
            <a:r>
              <a:rPr lang="uk-UA" sz="1200" dirty="0"/>
              <a:t>[у пам'яті] 7 повідомлень</a:t>
            </a:r>
          </a:p>
          <a:p>
            <a:r>
              <a:rPr lang="uk-UA" sz="1200" dirty="0"/>
              <a:t>Ти: Люблю морозиво</a:t>
            </a:r>
          </a:p>
          <a:p>
            <a:r>
              <a:rPr lang="uk-UA" sz="1200" dirty="0"/>
              <a:t>АІДА: Яке смакує найбільше?</a:t>
            </a:r>
          </a:p>
          <a:p>
            <a:r>
              <a:rPr lang="uk-UA" sz="1200" dirty="0"/>
              <a:t>[у пам'яті] 7 повідомлень        &lt;- стало на місці!</a:t>
            </a:r>
          </a:p>
          <a:p>
            <a:r>
              <a:rPr lang="uk-UA" sz="1200" dirty="0"/>
              <a:t>Ти: Як мене звати?</a:t>
            </a:r>
          </a:p>
          <a:p>
            <a:r>
              <a:rPr lang="uk-UA" sz="1200" dirty="0"/>
              <a:t>АІДА: Не знаю — ти не називалася.</a:t>
            </a:r>
          </a:p>
          <a:p>
            <a:r>
              <a:rPr lang="uk-UA" sz="1200" dirty="0"/>
              <a:t>[у пам'яті] 7 повідомлень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Головне три. Число росте 3, 5, 7 — і стає: старе почало відрізатись.</a:t>
            </a:r>
          </a:p>
          <a:p>
            <a:r>
              <a:rPr lang="uk-UA" sz="1200" dirty="0"/>
              <a:t>Ім'я забулось на п'ятій репліці — це не поломка, це ціна межі.</a:t>
            </a:r>
          </a:p>
          <a:p>
            <a:r>
              <a:rPr lang="uk-UA" sz="1200" dirty="0"/>
              <a:t>А характер лишився: системний промт зріз не чіпає ніколи.</a:t>
            </a:r>
          </a:p>
          <a:p>
            <a:endParaRPr lang="uk-UA" sz="1200" dirty="0"/>
          </a:p>
          <a:p>
            <a:r>
              <a:rPr lang="uk-UA" sz="1200" dirty="0"/>
              <a:t>Шість тут маленьке навмисно — щоб межу було видно на парі.</a:t>
            </a:r>
          </a:p>
          <a:p>
            <a:r>
              <a:rPr lang="uk-UA" sz="1200" dirty="0"/>
              <a:t>У справжніх програмах там стоять сотні.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домашнє</a:t>
            </a:r>
          </a:p>
          <a:p>
            <a:endParaRPr lang="uk-UA" sz="1200" dirty="0"/>
          </a:p>
          <a:p>
            <a:r>
              <a:rPr lang="uk-UA" sz="1200" dirty="0"/>
              <a:t>Читаю вголос і не розбираю. Одне речення все ж кажу окремо й натиском:</a:t>
            </a:r>
          </a:p>
          <a:p>
            <a:r>
              <a:rPr lang="uk-UA" sz="1200" dirty="0"/>
              <a:t>це перша домашня, яку пишуть З НУЛЯ, а не правлять готове. Файли уроку</a:t>
            </a:r>
          </a:p>
          <a:p>
            <a:r>
              <a:rPr lang="uk-UA" sz="1200" dirty="0"/>
              <a:t>не відкривати, поки програма не запрацює. Потім — звіряти скільки завгодно:</a:t>
            </a:r>
          </a:p>
          <a:p>
            <a:r>
              <a:rPr lang="uk-UA" sz="1200" dirty="0"/>
              <a:t>звіряти після — це навчання, списати до — ні.</a:t>
            </a:r>
          </a:p>
          <a:p>
            <a:endParaRPr lang="uk-UA" sz="1200" dirty="0"/>
          </a:p>
          <a:p>
            <a:r>
              <a:rPr lang="uk-UA" sz="1200" dirty="0"/>
              <a:t>Чому саме вікторина, а не «ще один помічник». Рахунок неможливо вести без</a:t>
            </a:r>
          </a:p>
          <a:p>
            <a:r>
              <a:rPr lang="uk-UA" sz="1200" dirty="0"/>
              <a:t>пам'яті. Дитина або побачить «Рахунок 3 з 5», або не побачить — і це рівно</a:t>
            </a:r>
          </a:p>
          <a:p>
            <a:r>
              <a:rPr lang="uk-UA" sz="1200" dirty="0"/>
              <a:t>та сама перевірка, яку ми робили іменем Марти, тільки без підказки з мого</a:t>
            </a:r>
          </a:p>
          <a:p>
            <a:r>
              <a:rPr lang="uk-UA" sz="1200" dirty="0"/>
              <a:t>боку. Заразом тема вільна — космос, Minecraft, футбол, аніме: два однакові</a:t>
            </a:r>
          </a:p>
          <a:p>
            <a:r>
              <a:rPr lang="uk-UA" sz="1200" dirty="0"/>
              <a:t>рішення на групу робляться помітними самі собою.</a:t>
            </a:r>
          </a:p>
          <a:p>
            <a:endParaRPr lang="uk-UA" sz="1200" dirty="0"/>
          </a:p>
          <a:p>
            <a:r>
              <a:rPr lang="uk-UA" sz="1200" dirty="0"/>
              <a:t>КЛЮЧ УДОМА. Кажу прямо, чи лишається ключ у них після пари. Якщо ні —</a:t>
            </a:r>
          </a:p>
          <a:p>
            <a:r>
              <a:rPr lang="uk-UA" sz="1200" dirty="0"/>
              <a:t>хай напишуть програму вдома й перевірять через python без мережі</a:t>
            </a:r>
          </a:p>
          <a:p>
            <a:r>
              <a:rPr lang="uk-UA" sz="1200" dirty="0"/>
              <a:t>(FileNotFoundError: key.txt означає, що до цього місця код дойшов чисто),</a:t>
            </a:r>
          </a:p>
          <a:p>
            <a:r>
              <a:rPr lang="uk-UA" sz="1200" dirty="0"/>
              <a:t>а запустимо перші п'ять хвилин наступної пари.</a:t>
            </a:r>
          </a:p>
          <a:p>
            <a:endParaRPr lang="uk-UA" sz="1200" dirty="0"/>
          </a:p>
          <a:p>
            <a:r>
              <a:rPr lang="uk-UA" sz="1200" dirty="0"/>
              <a:t>ЕТАЛОННЕ РІШЕННЯ — щоб було з чим звіряти на наступній парі:</a:t>
            </a:r>
          </a:p>
          <a:p>
            <a:endParaRPr lang="uk-UA" sz="1200" dirty="0"/>
          </a:p>
          <a:p>
            <a:r>
              <a:rPr lang="uk-UA" sz="1200" dirty="0"/>
              <a:t>import requests</a:t>
            </a:r>
          </a:p>
          <a:p>
            <a:r>
              <a:rPr lang="uk-UA" sz="1200" dirty="0"/>
              <a:t>KEY = open("key.txt", encoding="utf-8").read().strip()</a:t>
            </a:r>
          </a:p>
          <a:p>
            <a:r>
              <a:rPr lang="uk-UA" sz="1200" dirty="0"/>
              <a:t>URL = "https://api.openai.com/v1/chat/completions"</a:t>
            </a:r>
          </a:p>
          <a:p>
            <a:r>
              <a:rPr lang="uk-UA" sz="1200" dirty="0"/>
              <a:t>HEAD = {"Authorization": "Bearer " + KEY}</a:t>
            </a:r>
          </a:p>
          <a:p>
            <a:r>
              <a:rPr lang="uk-UA" sz="1200" dirty="0"/>
              <a:t>messages = [{"role": "system", "content":</a:t>
            </a:r>
          </a:p>
          <a:p>
            <a:r>
              <a:rPr lang="uk-UA" sz="1200" dirty="0"/>
              <a:t>             "Ти ведеш вікторину про космос. Став по одному питанню за раз, "</a:t>
            </a:r>
          </a:p>
          <a:p>
            <a:r>
              <a:rPr lang="uk-UA" sz="1200" dirty="0"/>
              <a:t>             "чекай на відповідь, кажи «правильно» чи «ні» і веди рахунок."}]</a:t>
            </a:r>
          </a:p>
          <a:p>
            <a:endParaRPr lang="uk-UA" sz="1200" dirty="0"/>
          </a:p>
          <a:p>
            <a:r>
              <a:rPr lang="uk-UA" sz="1200" dirty="0"/>
              <a:t>def ask(text):</a:t>
            </a:r>
          </a:p>
          <a:p>
            <a:r>
              <a:rPr lang="uk-UA" sz="1200" dirty="0"/>
              <a:t>    messages.append({"role": "user", "content": text})</a:t>
            </a:r>
          </a:p>
          <a:p>
            <a:r>
              <a:rPr lang="uk-UA" sz="1200" dirty="0"/>
              <a:t>    data = {"model": "gpt-4o-mini", "messages": messages}</a:t>
            </a:r>
          </a:p>
          <a:p>
            <a:r>
              <a:rPr lang="uk-UA" sz="1200" dirty="0"/>
              <a:t>    r = requests.post(URL, headers=HEAD, json=data)</a:t>
            </a:r>
          </a:p>
          <a:p>
            <a:r>
              <a:rPr lang="uk-UA" sz="1200" dirty="0"/>
              <a:t>    if r.status_code != 200:</a:t>
            </a:r>
          </a:p>
          <a:p>
            <a:r>
              <a:rPr lang="uk-UA" sz="1200" dirty="0"/>
              <a:t>        return "Помилка. Код: " + str(r.status_code)</a:t>
            </a:r>
          </a:p>
          <a:p>
            <a:r>
              <a:rPr lang="uk-UA" sz="1200" dirty="0"/>
              <a:t>    answer = r.json()["choices"][0]["message"]["content"]</a:t>
            </a:r>
          </a:p>
          <a:p>
            <a:r>
              <a:rPr lang="uk-UA" sz="1200" dirty="0"/>
              <a:t>    messages.append({"role": "assistant", "content": answer})</a:t>
            </a:r>
          </a:p>
          <a:p>
            <a:r>
              <a:rPr lang="uk-UA" sz="1200" dirty="0"/>
              <a:t>    return answer</a:t>
            </a:r>
          </a:p>
          <a:p>
            <a:endParaRPr lang="uk-UA" sz="1200" dirty="0"/>
          </a:p>
          <a:p>
            <a:r>
              <a:rPr lang="uk-UA" sz="1200" dirty="0"/>
              <a:t>print("Ведучий:", ask("Починаємо вікторину."))</a:t>
            </a:r>
          </a:p>
          <a:p>
            <a:r>
              <a:rPr lang="uk-UA" sz="1200" dirty="0"/>
              <a:t>while True:</a:t>
            </a:r>
          </a:p>
          <a:p>
            <a:r>
              <a:rPr lang="uk-UA" sz="1200" dirty="0"/>
              <a:t>    q = input("Ти: ")</a:t>
            </a:r>
          </a:p>
          <a:p>
            <a:r>
              <a:rPr lang="uk-UA" sz="1200" dirty="0"/>
              <a:t>    if q == "стоп":</a:t>
            </a:r>
          </a:p>
          <a:p>
            <a:r>
              <a:rPr lang="uk-UA" sz="1200" dirty="0"/>
              <a:t>        break</a:t>
            </a:r>
          </a:p>
          <a:p>
            <a:r>
              <a:rPr lang="uk-UA" sz="1200" dirty="0"/>
              <a:t>    if q == "рахунок":</a:t>
            </a:r>
          </a:p>
          <a:p>
            <a:r>
              <a:rPr lang="uk-UA" sz="1200" dirty="0"/>
              <a:t>        print("[у пам'яті]", len(messages), "повідомлень")</a:t>
            </a:r>
          </a:p>
          <a:p>
            <a:r>
              <a:rPr lang="uk-UA" sz="1200" dirty="0"/>
              <a:t>        continue</a:t>
            </a:r>
          </a:p>
          <a:p>
            <a:r>
              <a:rPr lang="uk-UA" sz="1200" dirty="0"/>
              <a:t>    print("Ведучий:", ask(q))</a:t>
            </a:r>
          </a:p>
          <a:p>
            <a:endParaRPr lang="uk-UA" sz="1200" dirty="0"/>
          </a:p>
          <a:p>
            <a:r>
              <a:rPr lang="uk-UA" sz="1200" dirty="0"/>
              <a:t>ТРИ МІСЦЯ, ДЕ ВОНИ СТАНУТЬ — і всі три варто розібрати на початку</a:t>
            </a:r>
          </a:p>
          <a:p>
            <a:r>
              <a:rPr lang="uk-UA" sz="1200" dirty="0"/>
              <a:t>наступної пари, бо кожне з них — це думка, а не друк:</a:t>
            </a:r>
          </a:p>
          <a:p>
            <a:endParaRPr lang="uk-UA" sz="1200" dirty="0"/>
          </a:p>
          <a:p>
            <a:r>
              <a:rPr lang="uk-UA" sz="1200" dirty="0"/>
              <a:t>1. Вікторина не починається: програма чекає на input, а ведучий мовчить.</a:t>
            </a:r>
          </a:p>
          <a:p>
            <a:r>
              <a:rPr lang="uk-UA" sz="1200" dirty="0"/>
              <a:t>   Розв'язок — рядок print("Ведучий:", ask(...)) ПЕРЕД циклом. Або ж перше</a:t>
            </a:r>
          </a:p>
          <a:p>
            <a:r>
              <a:rPr lang="uk-UA" sz="1200" dirty="0"/>
              <a:t>   питання пише сама дитина («починаємо») — це теж правильно, не чепляюсь.</a:t>
            </a:r>
          </a:p>
          <a:p>
            <a:r>
              <a:rPr lang="uk-UA" sz="1200" dirty="0"/>
              <a:t>2. Системний промт на два рядки: два тексти в лапках один під одним</a:t>
            </a:r>
          </a:p>
          <a:p>
            <a:r>
              <a:rPr lang="uk-UA" sz="1200" dirty="0"/>
              <a:t>   склеюються самі — показати це варто, вони цього ще не бачили. Хто</a:t>
            </a:r>
          </a:p>
          <a:p>
            <a:r>
              <a:rPr lang="uk-UA" sz="1200" dirty="0"/>
              <a:t>   написав одним довгим рядком — теж правильно.</a:t>
            </a:r>
          </a:p>
          <a:p>
            <a:r>
              <a:rPr lang="uk-UA" sz="1200" dirty="0"/>
              <a:t>3. Команда «рахунок» без continue — і слово їде в модель, яка починає</a:t>
            </a:r>
          </a:p>
          <a:p>
            <a:r>
              <a:rPr lang="uk-UA" sz="1200" dirty="0"/>
              <a:t>   чемно називати рахунок сама. Це рівно та сама помилка, що в блоці 5.</a:t>
            </a:r>
          </a:p>
          <a:p>
            <a:endParaRPr lang="uk-UA" sz="1200" dirty="0"/>
          </a:p>
          <a:p>
            <a:r>
              <a:rPr lang="uk-UA" sz="1200" dirty="0"/>
              <a:t>НА НАСТУПНІЙ ПАРІ беру дві-три роботи й запускаю на телевізорі — різні</a:t>
            </a:r>
          </a:p>
          <a:p>
            <a:r>
              <a:rPr lang="uk-UA" sz="1200" dirty="0"/>
              <a:t>теми вікторин виглядають як різні програми, хоч код практично однаковий.</a:t>
            </a:r>
          </a:p>
          <a:p>
            <a:r>
              <a:rPr lang="uk-UA" sz="1200" dirty="0"/>
              <a:t>Це й є висновок: вони написали не «ще одне домашнє», а свою програму.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Так має виглядати запуск — текст у ведучого буде свій:</a:t>
            </a:r>
          </a:p>
          <a:p>
            <a:endParaRPr lang="uk-UA" sz="1200" dirty="0"/>
          </a:p>
          <a:p>
            <a:r>
              <a:rPr lang="uk-UA" sz="1200" dirty="0"/>
              <a:t>Ведучий: Питання 1. Яка планета найближча до Сонця?</a:t>
            </a:r>
          </a:p>
          <a:p>
            <a:r>
              <a:rPr lang="uk-UA" sz="1200" dirty="0"/>
              <a:t>Ти: Меркурій</a:t>
            </a:r>
          </a:p>
          <a:p>
            <a:r>
              <a:rPr lang="uk-UA" sz="1200" dirty="0"/>
              <a:t>Ведучий: Правильно! Рахунок 1 з 1.</a:t>
            </a:r>
          </a:p>
          <a:p>
            <a:r>
              <a:rPr lang="uk-UA" sz="1200" dirty="0"/>
              <a:t>Питання 2. Скільки супутників у Марса?</a:t>
            </a:r>
          </a:p>
          <a:p>
            <a:r>
              <a:rPr lang="uk-UA" sz="1200" dirty="0"/>
              <a:t>Ти: п'ять</a:t>
            </a:r>
          </a:p>
          <a:p>
            <a:r>
              <a:rPr lang="uk-UA" sz="1200" dirty="0"/>
              <a:t>Ведучий: Ні, у Марса два. Рахунок 1 з 2.</a:t>
            </a:r>
          </a:p>
          <a:p>
            <a:r>
              <a:rPr lang="uk-UA" sz="1200" dirty="0"/>
              <a:t>Питання 3. Що більше: Земля чи Юпітер?</a:t>
            </a:r>
          </a:p>
          <a:p>
            <a:r>
              <a:rPr lang="uk-UA" sz="1200" dirty="0"/>
              <a:t>Ти: Юпітер</a:t>
            </a:r>
          </a:p>
          <a:p>
            <a:r>
              <a:rPr lang="uk-UA" sz="1200" dirty="0"/>
              <a:t>Ведучий: Правильно! Рахунок 2 з 3.</a:t>
            </a:r>
          </a:p>
          <a:p>
            <a:r>
              <a:rPr lang="uk-UA" sz="1200" dirty="0"/>
              <a:t>Ти: рахунок</a:t>
            </a:r>
          </a:p>
          <a:p>
            <a:r>
              <a:rPr lang="uk-UA" sz="1200" dirty="0"/>
              <a:t>[у пам'яті] 9 повідомлень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Головне — слово «Рахунок» у відповідях ведучого. Вести його він може</a:t>
            </a:r>
          </a:p>
          <a:p>
            <a:r>
              <a:rPr lang="uk-UA" sz="1200" dirty="0"/>
              <a:t>тільки тому, що бачить усю розмову. Вікторина без пам'яті не складається —</a:t>
            </a:r>
          </a:p>
          <a:p>
            <a:r>
              <a:rPr lang="uk-UA" sz="1200" dirty="0"/>
              <a:t>вона для того в цій домашній і стоїть.</a:t>
            </a:r>
          </a:p>
          <a:p>
            <a:endParaRPr lang="uk-UA" sz="1200" dirty="0"/>
          </a:p>
          <a:p>
            <a:r>
              <a:rPr lang="uk-UA" sz="1200" dirty="0"/>
              <a:t>Перевірти себе можна так: умисно прибери другий append і запусти ще</a:t>
            </a:r>
          </a:p>
          <a:p>
            <a:r>
              <a:rPr lang="uk-UA" sz="1200" dirty="0"/>
              <a:t>раз. Рахунок почне починатись з одиниці щоразу. Потім верни його на</a:t>
            </a:r>
          </a:p>
          <a:p>
            <a:r>
              <a:rPr lang="uk-UA" sz="1200" dirty="0"/>
              <a:t>місце.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блок: іде тільки якщо лишився час. Дві хвилини питань, і всі про</a:t>
            </a:r>
          </a:p>
          <a:p>
            <a:r>
              <a:rPr lang="uk-UA" sz="1200" dirty="0"/>
              <a:t>список, який діти щойно навчились наповнювати.</a:t>
            </a:r>
          </a:p>
          <a:p>
            <a:endParaRPr lang="uk-UA" sz="1200" dirty="0"/>
          </a:p>
          <a:p>
            <a:r>
              <a:rPr lang="uk-UA" sz="1200" dirty="0"/>
              <a:t>ЯК ПЕРЕКОНАТИСЬ. Кажуть: подивитись. Питаю як. Хтось згадає print(messages) —</a:t>
            </a:r>
          </a:p>
          <a:p>
            <a:r>
              <a:rPr lang="uk-UA" sz="1200" dirty="0"/>
              <a:t>і це правильна відповідь, тільки вивід буде страшний. Кажу, що зараз зробимо</a:t>
            </a:r>
          </a:p>
          <a:p>
            <a:r>
              <a:rPr lang="uk-UA" sz="1200" dirty="0"/>
              <a:t>той самий друк, але для людських очей.</a:t>
            </a:r>
          </a:p>
          <a:p>
            <a:endParaRPr lang="uk-UA" sz="1200" dirty="0"/>
          </a:p>
          <a:p>
            <a:r>
              <a:rPr lang="uk-UA" sz="1200" dirty="0"/>
              <a:t>У ЯКОМУ ВИГЛЯДІ. Витягую: по рядку на репліку, з підписом, хто це сказав. Це</a:t>
            </a:r>
          </a:p>
          <a:p>
            <a:r>
              <a:rPr lang="uk-UA" sz="1200" dirty="0"/>
              <a:t>рівно те, що вони робили у файлі roles.py на початку пари, — і про цю</a:t>
            </a:r>
          </a:p>
          <a:p>
            <a:r>
              <a:rPr lang="uk-UA" sz="1200" dirty="0"/>
              <a:t>паралель варто нагадати вголос.</a:t>
            </a:r>
          </a:p>
          <a:p>
            <a:endParaRPr lang="uk-UA" sz="1200" dirty="0"/>
          </a:p>
          <a:p>
            <a:r>
              <a:rPr lang="uk-UA" sz="1200" dirty="0"/>
              <a:t>ЧИ ПОКАЗУВАТИ СИСТЕМНИЙ ПРОМТ. Думки розділяться, і обидві правильні. Кажу</a:t>
            </a:r>
          </a:p>
          <a:p>
            <a:r>
              <a:rPr lang="uk-UA" sz="1200" dirty="0"/>
              <a:t>своє рішення: показувати розмову без нього, бо характер не є реплікою. Але</a:t>
            </a:r>
          </a:p>
          <a:p>
            <a:r>
              <a:rPr lang="uk-UA" sz="1200" dirty="0"/>
              <a:t>покажу, як його дістати окремо, — це один рядок.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показ, чотири хвилини. Нічого принципово нового тут немає — є два</a:t>
            </a:r>
          </a:p>
          <a:p>
            <a:r>
              <a:rPr lang="uk-UA" sz="1200" dirty="0"/>
              <a:t>знайомі шматки, складені разом.</a:t>
            </a:r>
          </a:p>
          <a:p>
            <a:endParaRPr lang="uk-UA" sz="1200" dirty="0"/>
          </a:p>
          <a:p>
            <a:r>
              <a:rPr lang="uk-UA" sz="1200" dirty="0"/>
              <a:t>СЛОВНИК NAMES. Пишу на телевізорі й кажу: це рівно той самий словник, що</a:t>
            </a:r>
          </a:p>
          <a:p>
            <a:r>
              <a:rPr lang="uk-UA" sz="1200" dirty="0"/>
              <a:t>ANSWERS на уроці 2, тільки перекладає він не тему у відповідь, а роль у людське</a:t>
            </a:r>
          </a:p>
          <a:p>
            <a:r>
              <a:rPr lang="uk-UA" sz="1200" dirty="0"/>
              <a:t>слово. Три пари, більше ролей не буває.</a:t>
            </a:r>
          </a:p>
          <a:p>
            <a:endParaRPr lang="uk-UA" sz="1200" dirty="0"/>
          </a:p>
          <a:p>
            <a:r>
              <a:rPr lang="uk-UA" sz="1200" dirty="0"/>
              <a:t>ЗРІЗ ІЗ ОДИНИЦІ. Нагадую messages[:1] з блоку 5: там ми брали перший елемент.</a:t>
            </a:r>
          </a:p>
          <a:p>
            <a:r>
              <a:rPr lang="uk-UA" sz="1200" dirty="0"/>
              <a:t>Тепер навпаки — усе, крім першого. Малюю на дошці список із п'яти квадратиків і</a:t>
            </a:r>
          </a:p>
          <a:p>
            <a:r>
              <a:rPr lang="uk-UA" sz="1200" dirty="0"/>
              <a:t>показую пальцем, які беруться в обох випадках. Цей малюнок економить п'ять</a:t>
            </a:r>
          </a:p>
          <a:p>
            <a:r>
              <a:rPr lang="uk-UA" sz="1200" dirty="0"/>
              <a:t>хвилин пояснень.</a:t>
            </a:r>
          </a:p>
          <a:p>
            <a:endParaRPr lang="uk-UA" sz="1200" dirty="0"/>
          </a:p>
          <a:p>
            <a:r>
              <a:rPr lang="uk-UA" sz="1200" dirty="0"/>
              <a:t>ЦИКЛ ПО СПИСКУ. Той самий for, що у файлі roles.py. Прошу когось згадати</a:t>
            </a:r>
          </a:p>
          <a:p>
            <a:r>
              <a:rPr lang="uk-UA" sz="1200" dirty="0"/>
              <a:t>вголос, що робив той файл. Якщо згадають — далі можна не пояснювати нічого.</a:t>
            </a:r>
          </a:p>
          <a:p>
            <a:endParaRPr lang="uk-UA" sz="1200" dirty="0"/>
          </a:p>
          <a:p>
            <a:r>
              <a:rPr lang="uk-UA" sz="1200" dirty="0"/>
              <a:t>МІНУС ОДИН. Кажу: у списку є системний промт, і він не репліка. Тому в</a:t>
            </a:r>
          </a:p>
          <a:p>
            <a:r>
              <a:rPr lang="uk-UA" sz="1200" dirty="0"/>
              <a:t>лічильнику стоїть мінус один. Прошу перевірити це очима після запуску: рядків</a:t>
            </a:r>
          </a:p>
          <a:p>
            <a:r>
              <a:rPr lang="uk-UA" sz="1200" dirty="0"/>
              <a:t>на екрані має бути стільки ж, скільки скаже число.</a:t>
            </a:r>
          </a:p>
          <a:p>
            <a:endParaRPr lang="uk-UA" sz="1200" dirty="0"/>
          </a:p>
          <a:p>
            <a:r>
              <a:rPr lang="uk-UA" sz="1200" dirty="0"/>
              <a:t>ДЕ СТАВИТИ. Показую пальцем: словник NAMES — нагорі, поруч із messages; сам</a:t>
            </a:r>
          </a:p>
          <a:p>
            <a:r>
              <a:rPr lang="uk-UA" sz="1200" dirty="0"/>
              <a:t>блок команди — у циклі, поруч із «очисти», і теж із continue.</a:t>
            </a:r>
          </a:p>
          <a:p>
            <a:endParaRPr lang="uk-UA" sz="1200" dirty="0"/>
          </a:p>
          <a:p>
            <a:r>
              <a:rPr lang="uk-UA" sz="1200" dirty="0"/>
              <a:t>Наступний слайд: два шматки.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≤11 хв · бонус 1, тільки якщо група впоралась швидше</a:t>
            </a:r>
          </a:p>
          <a:p>
            <a:endParaRPr lang="uk-UA" sz="1200" dirty="0"/>
          </a:p>
          <a:p>
            <a:r>
              <a:rPr lang="uk-UA" sz="1200" dirty="0"/>
              <a:t>Бонусні програми стоять на базі блоку 3 (chat3.py), а не на chat6.py — кожна</a:t>
            </a:r>
          </a:p>
          <a:p>
            <a:r>
              <a:rPr lang="uk-UA" sz="1200" dirty="0"/>
              <a:t>про одне, і брати їх можна в будь-якому порядку або не брати взагалі.</a:t>
            </a:r>
          </a:p>
          <a:p>
            <a:r>
              <a:rPr lang="uk-UA" sz="1200" dirty="0"/>
              <a:t>На слайді — увесь файл, тож хто загубився на парі, починає з чистого.</a:t>
            </a:r>
          </a:p>
          <a:p>
            <a:endParaRPr lang="uk-UA" sz="1200" dirty="0"/>
          </a:p>
          <a:p>
            <a:r>
              <a:rPr lang="uk-UA" sz="1200" dirty="0"/>
              <a:t>Два нових місця. Перше: NAMES — словник, який перекладає роль у людське</a:t>
            </a:r>
          </a:p>
          <a:p>
            <a:r>
              <a:rPr lang="uk-UA" sz="1200" dirty="0"/>
              <a:t>слово; це той самий словник, що ANSWERS на уроці 2. Друге: шість рядків</a:t>
            </a:r>
          </a:p>
          <a:p>
            <a:r>
              <a:rPr lang="uk-UA" sz="1200" dirty="0"/>
              <a:t>у циклі, за тим самим зразком, що «очисти»: if — тіло — continue.</a:t>
            </a:r>
          </a:p>
          <a:p>
            <a:endParaRPr lang="uk-UA" sz="1200" dirty="0"/>
          </a:p>
          <a:p>
            <a:r>
              <a:rPr lang="uk-UA" sz="1200" dirty="0"/>
              <a:t>Відступи тут трирівневі, і це найчастіша помилка бонуса: if — чотири</a:t>
            </a:r>
          </a:p>
          <a:p>
            <a:r>
              <a:rPr lang="uk-UA" sz="1200" dirty="0"/>
              <a:t>пробіли, for — вісім, print усередині for — дванадцять. Малюю сходинки</a:t>
            </a:r>
          </a:p>
          <a:p>
            <a:r>
              <a:rPr lang="uk-UA" sz="1200" dirty="0"/>
              <a:t>на дошці, перш ніж вони почнуть набирати.</a:t>
            </a:r>
          </a:p>
          <a:p>
            <a:endParaRPr lang="uk-UA" sz="1200" dirty="0"/>
          </a:p>
          <a:p>
            <a:r>
              <a:rPr lang="uk-UA" sz="1200" dirty="0"/>
              <a:t>continue наприкінці обов'язковий — інакше слово «історія» поїде в модель і</a:t>
            </a:r>
          </a:p>
          <a:p>
            <a:r>
              <a:rPr lang="uk-UA" sz="1200" dirty="0"/>
              <a:t>вона почне розповідати про історію як предмет. Смішно й повчально.</a:t>
            </a:r>
          </a:p>
          <a:p>
            <a:endParaRPr lang="uk-UA" sz="1200" dirty="0"/>
          </a:p>
          <a:p>
            <a:r>
              <a:rPr lang="uk-UA" sz="1200" dirty="0"/>
              <a:t>Звідси думка, заради якої бонус і потрібен: пам'ять можна не тільки</a:t>
            </a:r>
          </a:p>
          <a:p>
            <a:r>
              <a:rPr lang="uk-UA" sz="1200" dirty="0"/>
              <a:t>накопичувати, а й подивитись на неї. Діти вперше бачать увесь конверт</a:t>
            </a:r>
          </a:p>
          <a:p>
            <a:r>
              <a:rPr lang="uk-UA" sz="1200" dirty="0"/>
              <a:t>цілком — саме те, що щоразу їде в мережу.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bonus1.py</a:t>
            </a:r>
          </a:p>
          <a:p>
            <a:endParaRPr lang="uk-UA" sz="1200" dirty="0"/>
          </a:p>
          <a:p>
            <a:r>
              <a:rPr lang="uk-UA" sz="1200" dirty="0"/>
              <a:t>Ти: Мене звати Марта</a:t>
            </a:r>
          </a:p>
          <a:p>
            <a:r>
              <a:rPr lang="uk-UA" sz="1200" dirty="0"/>
              <a:t>АІДА: Дуже приємно, Марто!</a:t>
            </a:r>
          </a:p>
          <a:p>
            <a:r>
              <a:rPr lang="uk-UA" sz="1200" dirty="0"/>
              <a:t>Ти: Люблю космос</a:t>
            </a:r>
          </a:p>
          <a:p>
            <a:r>
              <a:rPr lang="uk-UA" sz="1200" dirty="0"/>
              <a:t>АІДА: Космос — це чудово! Що саме цікавить?</a:t>
            </a:r>
          </a:p>
          <a:p>
            <a:r>
              <a:rPr lang="uk-UA" sz="1200" dirty="0"/>
              <a:t>Ти: історія</a:t>
            </a:r>
          </a:p>
          <a:p>
            <a:r>
              <a:rPr lang="uk-UA" sz="1200" dirty="0"/>
              <a:t>Ти -&gt; Мене звати Марта</a:t>
            </a:r>
          </a:p>
          <a:p>
            <a:r>
              <a:rPr lang="uk-UA" sz="1200" dirty="0"/>
              <a:t>АІДА -&gt; Дуже приємно, Марто!</a:t>
            </a:r>
          </a:p>
          <a:p>
            <a:r>
              <a:rPr lang="uk-UA" sz="1200" dirty="0"/>
              <a:t>Ти -&gt; Люблю космос</a:t>
            </a:r>
          </a:p>
          <a:p>
            <a:r>
              <a:rPr lang="uk-UA" sz="1200" dirty="0"/>
              <a:t>АІДА -&gt; Космос — це чудово! Що саме цікавить?</a:t>
            </a:r>
          </a:p>
          <a:p>
            <a:r>
              <a:rPr lang="uk-UA" sz="1200" dirty="0"/>
              <a:t>Разом реплік: 4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Головне: рядків рівно стільки, скільки каже число, і серед них</a:t>
            </a:r>
          </a:p>
          <a:p>
            <a:r>
              <a:rPr lang="uk-UA" sz="1200" dirty="0"/>
              <a:t>немає системного промту — його відрізав зріз [1:].</a:t>
            </a:r>
          </a:p>
          <a:p>
            <a:r>
              <a:rPr lang="uk-UA" sz="1200" dirty="0"/>
              <a:t>Команда в мережу не ходила: все, що вона друкує, уже лежало в</a:t>
            </a:r>
          </a:p>
          <a:p>
            <a:r>
              <a:rPr lang="uk-UA" sz="1200" dirty="0"/>
              <a:t>пам'яті програми.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блок, дві хвилини. Найвеселіший із чотирьох: після нього помічник</a:t>
            </a:r>
          </a:p>
          <a:p>
            <a:r>
              <a:rPr lang="uk-UA" sz="1200" dirty="0"/>
              <a:t>починає говорити як пірат, і група це запам'ятовує надовго.</a:t>
            </a:r>
          </a:p>
          <a:p>
            <a:endParaRPr lang="uk-UA" sz="1200" dirty="0"/>
          </a:p>
          <a:p>
            <a:r>
              <a:rPr lang="uk-UA" sz="1200" dirty="0"/>
              <a:t>ЩО СТАНЕТЬСЯ. Прошу подумати вголос. Правильна відповідь: наступна відповідь</a:t>
            </a:r>
          </a:p>
          <a:p>
            <a:r>
              <a:rPr lang="uk-UA" sz="1200" dirty="0"/>
              <a:t>буде вже з новим характером, бо системний промт їде в кожному конверті. Це</a:t>
            </a:r>
          </a:p>
          <a:p>
            <a:r>
              <a:rPr lang="uk-UA" sz="1200" dirty="0"/>
              <a:t>безпосередній наслідок того, про що ми говорили в блоці 4, і добре, коли його</a:t>
            </a:r>
          </a:p>
          <a:p>
            <a:r>
              <a:rPr lang="uk-UA" sz="1200" dirty="0"/>
              <a:t>називають діти.</a:t>
            </a:r>
          </a:p>
          <a:p>
            <a:endParaRPr lang="uk-UA" sz="1200" dirty="0"/>
          </a:p>
          <a:p>
            <a:r>
              <a:rPr lang="uk-UA" sz="1200" dirty="0"/>
              <a:t>ЧИ ЗГАДАЄ СТАРЕ. Питання тонше, ніж здається. Так, згадає: репліки лишились у</a:t>
            </a:r>
          </a:p>
          <a:p>
            <a:r>
              <a:rPr lang="uk-UA" sz="1200" dirty="0"/>
              <a:t>списку, ми змінили тільки перший елемент. Тобто помічник пам'ятає розмову, але</a:t>
            </a:r>
          </a:p>
          <a:p>
            <a:r>
              <a:rPr lang="uk-UA" sz="1200" dirty="0"/>
              <a:t>поводиться інакше. Прошу уявити людину, яка так робить, — смішно.</a:t>
            </a:r>
          </a:p>
          <a:p>
            <a:endParaRPr lang="uk-UA" sz="1200" dirty="0"/>
          </a:p>
          <a:p>
            <a:r>
              <a:rPr lang="uk-UA" sz="1200" dirty="0"/>
              <a:t>НАВІЩО ЦЕ. Кажуть: щоб пограти. Кажу і дорослу причину: так перевіряють, який</a:t>
            </a:r>
          </a:p>
          <a:p>
            <a:r>
              <a:rPr lang="uk-UA" sz="1200" dirty="0"/>
              <a:t>характер краще працює, не перезапускаючи все. На уроці 10 ми зробимо з цього</a:t>
            </a:r>
          </a:p>
          <a:p>
            <a:r>
              <a:rPr lang="uk-UA" sz="1200" dirty="0"/>
              <a:t>цілий набір готових характерів.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показ, чотири хвилини. Нова тут одна думка: квадратні дужки працюють</a:t>
            </a:r>
          </a:p>
          <a:p>
            <a:r>
              <a:rPr lang="uk-UA" sz="1200" dirty="0"/>
              <a:t>не лише на читання.</a:t>
            </a:r>
          </a:p>
          <a:p>
            <a:endParaRPr lang="uk-UA" sz="1200" dirty="0"/>
          </a:p>
          <a:p>
            <a:r>
              <a:rPr lang="uk-UA" sz="1200" dirty="0"/>
              <a:t>ЧИТАННЯ І ЗАПИС. Пишу на телевізорі два рядки поруч: один дістає значення,</a:t>
            </a:r>
          </a:p>
          <a:p>
            <a:r>
              <a:rPr lang="uk-UA" sz="1200" dirty="0"/>
              <a:t>другий кладе. Кажу: різниця в тому, з якого боку від дорівнює стоїть дужка.</a:t>
            </a:r>
          </a:p>
          <a:p>
            <a:r>
              <a:rPr lang="uk-UA" sz="1200" dirty="0"/>
              <a:t>Прошу групу сказати вголос, який рядок що робить, — і робимо це двічі, бо</a:t>
            </a:r>
          </a:p>
          <a:p>
            <a:r>
              <a:rPr lang="uk-UA" sz="1200" dirty="0"/>
              <a:t>плутають майже всі.</a:t>
            </a:r>
          </a:p>
          <a:p>
            <a:endParaRPr lang="uk-UA" sz="1200" dirty="0"/>
          </a:p>
          <a:p>
            <a:r>
              <a:rPr lang="uk-UA" sz="1200" dirty="0"/>
              <a:t>ДВІ ДУЖКИ ПОСПІЛЬ. Показую пальцем: перша дужка бере елемент списку за</a:t>
            </a:r>
          </a:p>
          <a:p>
            <a:r>
              <a:rPr lang="uk-UA" sz="1200" dirty="0"/>
              <a:t>номером, друга — поле словника за іменем. Це той самий коридор із дверей, що</a:t>
            </a:r>
          </a:p>
          <a:p>
            <a:r>
              <a:rPr lang="uk-UA" sz="1200" dirty="0"/>
              <a:t>на уроці 4, тільки коротший.</a:t>
            </a:r>
          </a:p>
          <a:p>
            <a:endParaRPr lang="uk-UA" sz="1200" dirty="0"/>
          </a:p>
          <a:p>
            <a:r>
              <a:rPr lang="uk-UA" sz="1200" dirty="0"/>
              <a:t>РОЛЬ НЕ ЧІПАЄМО. Наголошую: у першому елементі лишається system. Якщо змінити</a:t>
            </a:r>
          </a:p>
          <a:p>
            <a:r>
              <a:rPr lang="uk-UA" sz="1200" dirty="0"/>
              <a:t>роль, сервер відповість 400 — це буде вже не той бланк.</a:t>
            </a:r>
          </a:p>
          <a:p>
            <a:endParaRPr lang="uk-UA" sz="1200" dirty="0"/>
          </a:p>
          <a:p>
            <a:r>
              <a:rPr lang="uk-UA" sz="1200" dirty="0"/>
              <a:t>РЕШТА СПИСКУ ЛИШАЄТЬСЯ. Показую живцем: міняю характер і питаю ім'я. Помічник</a:t>
            </a:r>
          </a:p>
          <a:p>
            <a:r>
              <a:rPr lang="uk-UA" sz="1200" dirty="0"/>
              <a:t>називає ім'я, але вже піратською мовою. Це найкраща демонстрація того, що</a:t>
            </a:r>
          </a:p>
          <a:p>
            <a:r>
              <a:rPr lang="uk-UA" sz="1200" dirty="0"/>
              <a:t>характер і пам'ять — різні речі, і вона працює безвідмовно.</a:t>
            </a:r>
          </a:p>
          <a:p>
            <a:endParaRPr lang="uk-UA" sz="1200" dirty="0"/>
          </a:p>
          <a:p>
            <a:r>
              <a:rPr lang="uk-UA" sz="1200" dirty="0"/>
              <a:t>Наступний слайд: п'ять рядків у цикл.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≤11 хв · бонус 2, тільки якщо група впоралась швидше</a:t>
            </a:r>
          </a:p>
          <a:p>
            <a:endParaRPr lang="uk-UA" sz="1200" dirty="0"/>
          </a:p>
          <a:p>
            <a:r>
              <a:rPr lang="uk-UA" sz="1200" dirty="0"/>
              <a:t>Найвеселіший із чотирьох бонусів і найкоротший за набором: чотири нові</a:t>
            </a:r>
          </a:p>
          <a:p>
            <a:r>
              <a:rPr lang="uk-UA" sz="1200" dirty="0"/>
              <a:t>рядки в циклі. Якщо часу зовсім мало — беру саме його.</a:t>
            </a:r>
          </a:p>
          <a:p>
            <a:endParaRPr lang="uk-UA" sz="1200" dirty="0"/>
          </a:p>
          <a:p>
            <a:r>
              <a:rPr lang="uk-UA" sz="1200" dirty="0"/>
              <a:t>Головна думка: список можна не тільки читати й дописувати — його можна</a:t>
            </a:r>
          </a:p>
          <a:p>
            <a:r>
              <a:rPr lang="uk-UA" sz="1200" dirty="0"/>
              <a:t>переписувати всередині. messages[0]["content"] = "..." — та сама квадратна</a:t>
            </a:r>
          </a:p>
          <a:p>
            <a:r>
              <a:rPr lang="uk-UA" sz="1200" dirty="0"/>
              <a:t>дужка, що й на уроці 2, тільки тепер вона стоїть ЛІВОРУЧ від знака</a:t>
            </a:r>
          </a:p>
          <a:p>
            <a:r>
              <a:rPr lang="uk-UA" sz="1200" dirty="0"/>
              <a:t>дорівнює. Ліворуч — куди кладемо, праворуч — що саме.</a:t>
            </a:r>
          </a:p>
          <a:p>
            <a:endParaRPr lang="uk-UA" sz="1200" dirty="0"/>
          </a:p>
          <a:p>
            <a:r>
              <a:rPr lang="uk-UA" sz="1200" dirty="0"/>
              <a:t>Два нолики в рядку варто назвати вголос: [0] — перший елемент списку,</a:t>
            </a:r>
          </a:p>
          <a:p>
            <a:r>
              <a:rPr lang="uk-UA" sz="1200" dirty="0"/>
              <a:t>["content"] — поле всередині словника. Список і словник в одному рядку —</a:t>
            </a:r>
          </a:p>
          <a:p>
            <a:r>
              <a:rPr lang="uk-UA" sz="1200" dirty="0"/>
              <a:t>дехто бачить таке вперше.</a:t>
            </a:r>
          </a:p>
          <a:p>
            <a:endParaRPr lang="uk-UA" sz="1200" dirty="0"/>
          </a:p>
          <a:p>
            <a:r>
              <a:rPr lang="uk-UA" sz="1200" dirty="0"/>
              <a:t>Прошу обов'язково спитати ім'я ДО команди й ПІСЛЯ неї — інакше головне</a:t>
            </a:r>
          </a:p>
          <a:p>
            <a:r>
              <a:rPr lang="uk-UA" sz="1200" dirty="0"/>
              <a:t>пройде повз: характер інший, а пам'ять та сама.</a:t>
            </a:r>
          </a:p>
          <a:p>
            <a:endParaRPr lang="uk-UA" sz="1200" dirty="0"/>
          </a:p>
          <a:p>
            <a:r>
              <a:rPr lang="uk-UA" sz="1200" dirty="0"/>
              <a:t>Далі три хвилини вони пишуть свої характери й читають відповіді вголос.</a:t>
            </a:r>
          </a:p>
          <a:p>
            <a:r>
              <a:rPr lang="uk-UA" sz="1200" dirty="0"/>
              <a:t>Це та сама робота, що в блоці 4 з persona.txt, тільки без перезапуску.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bonus2.py</a:t>
            </a:r>
          </a:p>
          <a:p>
            <a:endParaRPr lang="uk-UA" sz="1200" dirty="0"/>
          </a:p>
          <a:p>
            <a:r>
              <a:rPr lang="uk-UA" sz="1200" dirty="0"/>
              <a:t>Ти: Мене звати Марта</a:t>
            </a:r>
          </a:p>
          <a:p>
            <a:r>
              <a:rPr lang="uk-UA" sz="1200" dirty="0"/>
              <a:t>АІДА: Дуже приємно, Марто! Чим допомогти?</a:t>
            </a:r>
          </a:p>
          <a:p>
            <a:r>
              <a:rPr lang="uk-UA" sz="1200" dirty="0"/>
              <a:t>Ти: будь піратом</a:t>
            </a:r>
          </a:p>
          <a:p>
            <a:r>
              <a:rPr lang="uk-UA" sz="1200" dirty="0"/>
              <a:t>АІДА: Йо-хо-хо! Слухаю, юнго.</a:t>
            </a:r>
          </a:p>
          <a:p>
            <a:r>
              <a:rPr lang="uk-UA" sz="1200" dirty="0"/>
              <a:t>Ти: Як мене звати?</a:t>
            </a:r>
          </a:p>
          <a:p>
            <a:r>
              <a:rPr lang="uk-UA" sz="1200" dirty="0"/>
              <a:t>АІДА: Йо-хо-хо! Звати тебе Марта, юнго!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Головне два. Ім'я він пам'ятає — розмова лишилась у списку. А говорить</a:t>
            </a:r>
          </a:p>
          <a:p>
            <a:r>
              <a:rPr lang="uk-UA" sz="1200" dirty="0"/>
              <a:t>уже інакше — бо перший елемент ми переписали.</a:t>
            </a:r>
          </a:p>
          <a:p>
            <a:endParaRPr lang="uk-UA" sz="1200" dirty="0"/>
          </a:p>
          <a:p>
            <a:r>
              <a:rPr lang="uk-UA" sz="1200" dirty="0"/>
              <a:t>Порівняй із chat5.py: там «очисти» стирає розмову й лишає характер,</a:t>
            </a:r>
          </a:p>
          <a:p>
            <a:r>
              <a:rPr lang="uk-UA" sz="1200" dirty="0"/>
              <a:t>тут — навпаки: лишає розмову й міняє характер. Два кінці одного списку.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блок, дві хвилини. Тут сходяться два уроки: файл із уроку 3 і список</a:t>
            </a:r>
          </a:p>
          <a:p>
            <a:r>
              <a:rPr lang="uk-UA" sz="1200" dirty="0"/>
              <a:t>із сьогоднішнього.</a:t>
            </a:r>
          </a:p>
          <a:p>
            <a:endParaRPr lang="uk-UA" sz="1200" dirty="0"/>
          </a:p>
          <a:p>
            <a:r>
              <a:rPr lang="uk-UA" sz="1200" dirty="0"/>
              <a:t>ЩО СТАНЕТЬСЯ ЗІ СПИСКОМ. Відповідь у них уже є з уроку 3: зникне разом із</a:t>
            </a:r>
          </a:p>
          <a:p>
            <a:r>
              <a:rPr lang="uk-UA" sz="1200" dirty="0"/>
              <a:t>програмою, бо живе в оперативній пам'яті. Прошу сказати це вголос — приємно</a:t>
            </a:r>
          </a:p>
          <a:p>
            <a:r>
              <a:rPr lang="uk-UA" sz="1200" dirty="0"/>
              <a:t>відповідати на питання, відповідь на яке вже знаєш.</a:t>
            </a:r>
          </a:p>
          <a:p>
            <a:endParaRPr lang="uk-UA" sz="1200" dirty="0"/>
          </a:p>
          <a:p>
            <a:r>
              <a:rPr lang="uk-UA" sz="1200" dirty="0"/>
              <a:t>ДЕ ВЧИЛИСЬ ЗБЕРІГАТИ. Урок 3, файл user.json. Питаю, чим тоді зберігали.</a:t>
            </a:r>
          </a:p>
          <a:p>
            <a:r>
              <a:rPr lang="uk-UA" sz="1200" dirty="0"/>
              <a:t>Словами json.dump і json.load. Якщо назвуть — далі показ буде зовсім легким.</a:t>
            </a:r>
          </a:p>
          <a:p>
            <a:endParaRPr lang="uk-UA" sz="1200" dirty="0"/>
          </a:p>
          <a:p>
            <a:r>
              <a:rPr lang="uk-UA" sz="1200" dirty="0"/>
              <a:t>У ЯКОМУ ВИГЛЯДІ. Найкорисніше питання. Кажу: наш список — це список словників,</a:t>
            </a:r>
          </a:p>
          <a:p>
            <a:r>
              <a:rPr lang="uk-UA" sz="1200" dirty="0"/>
              <a:t>а JSON уміє зберігати і те, і те. Тобто нічого перетворювати не треба —</a:t>
            </a:r>
          </a:p>
          <a:p>
            <a:r>
              <a:rPr lang="uk-UA" sz="1200" dirty="0"/>
              <a:t>кладемо як є.</a:t>
            </a:r>
          </a:p>
          <a:p>
            <a:endParaRPr lang="uk-UA" sz="1200" dirty="0"/>
          </a:p>
          <a:p>
            <a:r>
              <a:rPr lang="uk-UA" sz="1200" dirty="0"/>
              <a:t>Кажу заздалегідь про дрібницю, яку діти люблять: після цього блоку помічник</a:t>
            </a:r>
          </a:p>
          <a:p>
            <a:r>
              <a:rPr lang="uk-UA" sz="1200" dirty="0"/>
              <a:t>пам'ятатиме розмову між запусками, і завтра можна буде продовжити з того</a:t>
            </a:r>
          </a:p>
          <a:p>
            <a:r>
              <a:rPr lang="uk-UA" sz="1200" dirty="0"/>
              <a:t>самого місця. Це та річ, заради якої бонус варто дати.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показ, чотири хвилини. Нового коду немає зовсім: усе це було на уроці</a:t>
            </a:r>
          </a:p>
          <a:p>
            <a:r>
              <a:rPr lang="uk-UA" sz="1200" dirty="0"/>
              <a:t>3. Нове — те, що зберігаємо не картку, а розмову.</a:t>
            </a:r>
          </a:p>
          <a:p>
            <a:endParaRPr lang="uk-UA" sz="1200" dirty="0"/>
          </a:p>
          <a:p>
            <a:r>
              <a:rPr lang="uk-UA" sz="1200" dirty="0"/>
              <a:t>DUMP І LOAD. Показую два рядки й кажу: ви їх уже писали. Різниця в тому, що</a:t>
            </a:r>
          </a:p>
          <a:p>
            <a:r>
              <a:rPr lang="uk-UA" sz="1200" dirty="0"/>
              <a:t>тоді у файл їхав словник, а тепер список словників. JSON уміє і те, і те.</a:t>
            </a:r>
          </a:p>
          <a:p>
            <a:endParaRPr lang="uk-UA" sz="1200" dirty="0"/>
          </a:p>
          <a:p>
            <a:r>
              <a:rPr lang="uk-UA" sz="1200" dirty="0"/>
              <a:t>ДЕ ЧИТАТИ. Один раз, на старті, замість створення messages. Показую на</a:t>
            </a:r>
          </a:p>
          <a:p>
            <a:r>
              <a:rPr lang="uk-UA" sz="1200" dirty="0"/>
              <a:t>телевізорі обидві гілки: файл є — читаємо; немає — робимо новий список із</a:t>
            </a:r>
          </a:p>
          <a:p>
            <a:r>
              <a:rPr lang="uk-UA" sz="1200" dirty="0"/>
              <a:t>системним промтом, як робили сьогодні.</a:t>
            </a:r>
          </a:p>
          <a:p>
            <a:endParaRPr lang="uk-UA" sz="1200" dirty="0"/>
          </a:p>
          <a:p>
            <a:r>
              <a:rPr lang="uk-UA" sz="1200" dirty="0"/>
              <a:t>ДЕ ЗБЕРІГАТИ. Після кожної відповіді, у циклі. Питаю групу, чому не в кінці</a:t>
            </a:r>
          </a:p>
          <a:p>
            <a:r>
              <a:rPr lang="uk-UA" sz="1200" dirty="0"/>
              <a:t>програми. Бо програму можуть закрити хрестиком, і кінець не настане. Це</a:t>
            </a:r>
          </a:p>
          <a:p>
            <a:r>
              <a:rPr lang="uk-UA" sz="1200" dirty="0"/>
              <a:t>доросла думка, і діти її розуміють миттєво.</a:t>
            </a:r>
          </a:p>
          <a:p>
            <a:endParaRPr lang="uk-UA" sz="1200" dirty="0"/>
          </a:p>
          <a:p>
            <a:r>
              <a:rPr lang="uk-UA" sz="1200" dirty="0"/>
              <a:t>ПРО СИСТЕМНИЙ ПРОМТ. Кажу чесно про наслідок: якщо розмова прочитана з файла,</a:t>
            </a:r>
          </a:p>
          <a:p>
            <a:r>
              <a:rPr lang="uk-UA" sz="1200" dirty="0"/>
              <a:t>характер теж приїде з файла — учорашній. Змінили persona.txt — треба або</a:t>
            </a:r>
          </a:p>
          <a:p>
            <a:r>
              <a:rPr lang="uk-UA" sz="1200" dirty="0"/>
              <a:t>«очисти», або видалити chat.json. Це не помилка, це чесна плата за пам'ять,</a:t>
            </a:r>
          </a:p>
          <a:p>
            <a:r>
              <a:rPr lang="uk-UA" sz="1200" dirty="0"/>
              <a:t>і краще сказати про неї заздалегідь.</a:t>
            </a:r>
          </a:p>
          <a:p>
            <a:endParaRPr lang="uk-UA" sz="1200" dirty="0"/>
          </a:p>
          <a:p>
            <a:r>
              <a:rPr lang="uk-UA" sz="1200" dirty="0"/>
              <a:t>Наступний слайд: два шматки.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≤11 хв · бонус 3, тільки якщо група впоралась швидше</a:t>
            </a:r>
          </a:p>
          <a:p>
            <a:endParaRPr lang="uk-UA" sz="1200" dirty="0"/>
          </a:p>
          <a:p>
            <a:r>
              <a:rPr lang="uk-UA" sz="1200" dirty="0"/>
              <a:t>Найсильніший із чотирьох бонусів за враженням: програму закрили, а помічник</a:t>
            </a:r>
          </a:p>
          <a:p>
            <a:r>
              <a:rPr lang="uk-UA" sz="1200" dirty="0"/>
              <a:t>пам'ятає. Беру його, якщо група добре пам'ятає json із уроку 3.</a:t>
            </a:r>
          </a:p>
          <a:p>
            <a:endParaRPr lang="uk-UA" sz="1200" dirty="0"/>
          </a:p>
          <a:p>
            <a:r>
              <a:rPr lang="uk-UA" sz="1200" dirty="0"/>
              <a:t>Два нових місця, і обидва варто показати пальцем:</a:t>
            </a:r>
          </a:p>
          <a:p>
            <a:r>
              <a:rPr lang="uk-UA" sz="1200" dirty="0"/>
              <a:t>    нагорі — «чи є файл? є — читаємо його; немає — починаємо з характеру»;</a:t>
            </a:r>
          </a:p>
          <a:p>
            <a:r>
              <a:rPr lang="uk-UA" sz="1200" dirty="0"/>
              <a:t>    внизу — після кожної відповіді переписуємо файл цілком.</a:t>
            </a:r>
          </a:p>
          <a:p>
            <a:r>
              <a:rPr lang="uk-UA" sz="1200" dirty="0"/>
              <a:t>Режим "w" — це саме «цілком», а не «дописати в кінець». Питаю групу, чому</a:t>
            </a:r>
          </a:p>
          <a:p>
            <a:r>
              <a:rPr lang="uk-UA" sz="1200" dirty="0"/>
              <a:t>так можна: бо в списку вже лежить уся розмова, а не лише останнє.</a:t>
            </a:r>
          </a:p>
          <a:p>
            <a:endParaRPr lang="uk-UA" sz="1200" dirty="0"/>
          </a:p>
          <a:p>
            <a:r>
              <a:rPr lang="uk-UA" sz="1200" dirty="0"/>
              <a:t>ensure_ascii=False треба рівно для того, щоб файл було видно очима: без нього</a:t>
            </a:r>
          </a:p>
          <a:p>
            <a:r>
              <a:rPr lang="uk-UA" sz="1200" dirty="0"/>
              <a:t>українські літери ляжуть як Ти. indent=2 — щоб були сходинки.</a:t>
            </a:r>
          </a:p>
          <a:p>
            <a:r>
              <a:rPr lang="uk-UA" sz="1200" dirty="0"/>
              <a:t>Обов'язково відкриваємо chat.json у редакторі й читаємо вголос: те, що весь</a:t>
            </a:r>
          </a:p>
          <a:p>
            <a:r>
              <a:rPr lang="uk-UA" sz="1200" dirty="0"/>
              <a:t>урок було словом «messages», лежить на екрані звичайним текстом.</a:t>
            </a:r>
          </a:p>
          <a:p>
            <a:endParaRPr lang="uk-UA" sz="1200" dirty="0"/>
          </a:p>
          <a:p>
            <a:r>
              <a:rPr lang="uk-UA" sz="1200" dirty="0"/>
              <a:t>Перевірка тільки така: запустити, назватись, вийти «стоп», запустити знову</a:t>
            </a:r>
          </a:p>
          <a:p>
            <a:r>
              <a:rPr lang="uk-UA" sz="1200" dirty="0"/>
              <a:t>й спитати ім'я. Без другого запуску весь бонус не має сенсу.</a:t>
            </a:r>
          </a:p>
          <a:p>
            <a:endParaRPr lang="uk-UA" sz="1200" dirty="0"/>
          </a:p>
          <a:p>
            <a:r>
              <a:rPr lang="uk-UA" sz="1200" dirty="0"/>
              <a:t>Що ловлю: дехто кладе два останні рядки в функцію або за цикл — тоді файл</a:t>
            </a:r>
          </a:p>
          <a:p>
            <a:r>
              <a:rPr lang="uk-UA" sz="1200" dirty="0"/>
              <a:t>або пишеться двічі, або не пишеться взагалі («стоп» виходить раніше).</a:t>
            </a:r>
          </a:p>
          <a:p>
            <a:r>
              <a:rPr lang="uk-UA" sz="1200" dirty="0"/>
              <a:t>Ловиться одним поглядом: чотири пробіли перед with.</a:t>
            </a:r>
          </a:p>
          <a:p>
            <a:endParaRPr lang="uk-UA" sz="1200" dirty="0"/>
          </a:p>
          <a:p>
            <a:r>
              <a:rPr lang="uk-UA" sz="1200" dirty="0"/>
              <a:t>Місток у життя: саме так и зберігає розмови будь-який чат, тільки не у файл,</a:t>
            </a:r>
          </a:p>
          <a:p>
            <a:r>
              <a:rPr lang="uk-UA" sz="1200" dirty="0"/>
              <a:t>а в базу даних. Ідея та сама.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(перший запуск — chat.json ще немає)</a:t>
            </a:r>
          </a:p>
          <a:p>
            <a:r>
              <a:rPr lang="uk-UA" sz="1200" dirty="0"/>
              <a:t>$ python bonus3.py</a:t>
            </a:r>
          </a:p>
          <a:p>
            <a:r>
              <a:rPr lang="uk-UA" sz="1200" dirty="0"/>
              <a:t>Ти: Мене звати Марта</a:t>
            </a:r>
          </a:p>
          <a:p>
            <a:r>
              <a:rPr lang="uk-UA" sz="1200" dirty="0"/>
              <a:t>АІДА: Дуже приємно, Марто!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(другий запуск — програму закривали)</a:t>
            </a:r>
          </a:p>
          <a:p>
            <a:r>
              <a:rPr lang="uk-UA" sz="1200" dirty="0"/>
              <a:t>$ python bonus3.py</a:t>
            </a:r>
          </a:p>
          <a:p>
            <a:r>
              <a:rPr lang="uk-UA" sz="1200" dirty="0"/>
              <a:t>Ти: Як мене звати?</a:t>
            </a:r>
          </a:p>
          <a:p>
            <a:r>
              <a:rPr lang="uk-UA" sz="1200" dirty="0"/>
              <a:t>АІДА: Тебе звати Марта.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У папці лежить chat.json — розмова, яку можна відкрити очима:</a:t>
            </a:r>
          </a:p>
          <a:p>
            <a:r>
              <a:rPr lang="uk-UA" sz="1200" dirty="0"/>
              <a:t>[</a:t>
            </a:r>
          </a:p>
          <a:p>
            <a:r>
              <a:rPr lang="uk-UA" sz="1200" dirty="0"/>
              <a:t>  { "role": "system", "content": "Ти АІДА, весела помічниця." },</a:t>
            </a:r>
          </a:p>
          <a:p>
            <a:r>
              <a:rPr lang="uk-UA" sz="1200" dirty="0"/>
              <a:t>  { "role": "user", "content": "Мене звати Марта" },</a:t>
            </a:r>
          </a:p>
          <a:p>
            <a:r>
              <a:rPr lang="uk-UA" sz="1200" dirty="0"/>
              <a:t>  { "role": "assistant", "content": "Дуже приємно, Марто!" }</a:t>
            </a:r>
          </a:p>
          <a:p>
            <a:r>
              <a:rPr lang="uk-UA" sz="1200" dirty="0"/>
              <a:t>]</a:t>
            </a:r>
          </a:p>
          <a:p>
            <a:endParaRPr lang="uk-UA" sz="1200" dirty="0"/>
          </a:p>
          <a:p>
            <a:r>
              <a:rPr lang="uk-UA" sz="1200" dirty="0"/>
              <a:t>Головне: це рівно той самий список, який ми робили весь урок, —</a:t>
            </a:r>
          </a:p>
          <a:p>
            <a:r>
              <a:rPr lang="uk-UA" sz="1200" dirty="0"/>
              <a:t>тільки тепер він лежить на диску, а не в пам'яті програми.</a:t>
            </a:r>
          </a:p>
          <a:p>
            <a:endParaRPr lang="uk-UA" sz="1200" dirty="0"/>
          </a:p>
          <a:p>
            <a:r>
              <a:rPr lang="uk-UA" sz="1200" dirty="0"/>
              <a:t>Почати з чистого — видалити chat.json.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Останній бонусний блок уроку, дві хвилини. Він практичний: після нього</a:t>
            </a:r>
          </a:p>
          <a:p>
            <a:r>
              <a:rPr lang="uk-UA" sz="1200" dirty="0"/>
              <a:t>відповіді стають коротшими, а розмова — дешевшою.</a:t>
            </a:r>
          </a:p>
          <a:p>
            <a:endParaRPr lang="uk-UA" sz="1200" dirty="0"/>
          </a:p>
          <a:p>
            <a:r>
              <a:rPr lang="uk-UA" sz="1200" dirty="0"/>
              <a:t>КОЛИ ДОВГА ВІДПОВІДЬ ЗАВАЖАЄ. Приклади знаходять швидко: спитав час — отримав</a:t>
            </a:r>
          </a:p>
          <a:p>
            <a:r>
              <a:rPr lang="uk-UA" sz="1200" dirty="0"/>
              <a:t>абзац; спитав одне слово — отримав лекцію. Кажу, що на уроці 8 відповідь</a:t>
            </a:r>
          </a:p>
          <a:p>
            <a:r>
              <a:rPr lang="uk-UA" sz="1200" dirty="0"/>
              <a:t>поїде у вікно, і там довгий текст просто не влізе.</a:t>
            </a:r>
          </a:p>
          <a:p>
            <a:endParaRPr lang="uk-UA" sz="1200" dirty="0"/>
          </a:p>
          <a:p>
            <a:r>
              <a:rPr lang="uk-UA" sz="1200" dirty="0"/>
              <a:t>ЧИ ВМІЄ ЗУПИНИТИСЬ САМ. Питання чесне: у промті можна попросити «коротко», і</a:t>
            </a:r>
          </a:p>
          <a:p>
            <a:r>
              <a:rPr lang="uk-UA" sz="1200" dirty="0"/>
              <a:t>це працює, але не завжди. Кажу, що є ще й тверда межа, яку ставить не прохання,</a:t>
            </a:r>
          </a:p>
          <a:p>
            <a:r>
              <a:rPr lang="uk-UA" sz="1200" dirty="0"/>
              <a:t>а число.</a:t>
            </a:r>
          </a:p>
          <a:p>
            <a:endParaRPr lang="uk-UA" sz="1200" dirty="0"/>
          </a:p>
          <a:p>
            <a:r>
              <a:rPr lang="uk-UA" sz="1200" dirty="0"/>
              <a:t>ЩО ДОРОЖЧЕ. Повертаємось до уроку 4: платять і за питання, і за відповідь.</a:t>
            </a:r>
          </a:p>
          <a:p>
            <a:r>
              <a:rPr lang="uk-UA" sz="1200" dirty="0"/>
              <a:t>Різниця в тому, що питання пишемо ми й воно коротке, а відповідь пише модель, і</a:t>
            </a:r>
          </a:p>
          <a:p>
            <a:r>
              <a:rPr lang="uk-UA" sz="1200" dirty="0"/>
              <a:t>вона буває довга. Тому обмежують саме її.</a:t>
            </a:r>
          </a:p>
          <a:p>
            <a:endParaRPr lang="uk-UA" sz="1200" dirty="0"/>
          </a:p>
          <a:p>
            <a:r>
              <a:rPr lang="uk-UA" sz="1200" dirty="0"/>
              <a:t>Кажу заздалегідь про побічний ефект: відповідь може обірватись на півслові.</a:t>
            </a:r>
          </a:p>
          <a:p>
            <a:r>
              <a:rPr lang="uk-UA" sz="1200" dirty="0"/>
              <a:t>Це не помилка — це і є межа. І саме тому число не роблять зовсім маленьким.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Останній бонусний показ уроку. Чотири хвилини на одне поле запиту й одне поле</a:t>
            </a:r>
          </a:p>
          <a:p>
            <a:r>
              <a:rPr lang="uk-UA" sz="1200" dirty="0"/>
              <a:t>відповіді.</a:t>
            </a:r>
          </a:p>
          <a:p>
            <a:endParaRPr lang="uk-UA" sz="1200" dirty="0"/>
          </a:p>
          <a:p>
            <a:r>
              <a:rPr lang="uk-UA" sz="1200" dirty="0"/>
              <a:t>MAX_TOKENS. Пишу рядок у словнику data поруч із model. Кажу: це не прохання, а</a:t>
            </a:r>
          </a:p>
          <a:p>
            <a:r>
              <a:rPr lang="uk-UA" sz="1200" dirty="0"/>
              <a:t>межа. Модель не знає заздалегідь, що не встигне, — вона просто спиняється, коли</a:t>
            </a:r>
          </a:p>
          <a:p>
            <a:r>
              <a:rPr lang="uk-UA" sz="1200" dirty="0"/>
              <a:t>місце скінчилось.</a:t>
            </a:r>
          </a:p>
          <a:p>
            <a:endParaRPr lang="uk-UA" sz="1200" dirty="0"/>
          </a:p>
          <a:p>
            <a:r>
              <a:rPr lang="uk-UA" sz="1200" dirty="0"/>
              <a:t>СКІЛЬКИ СТАВИТИ. Даю орієнтир на пальцях: сотня токенів — це приблизно два-три</a:t>
            </a:r>
          </a:p>
          <a:p>
            <a:r>
              <a:rPr lang="uk-UA" sz="1200" dirty="0"/>
              <a:t>речення українською. Ставимо 120 і дивимось. Прошу групу після запуску сказати,</a:t>
            </a:r>
          </a:p>
          <a:p>
            <a:r>
              <a:rPr lang="uk-UA" sz="1200" dirty="0"/>
              <a:t>скільки речень вийшло.</a:t>
            </a:r>
          </a:p>
          <a:p>
            <a:endParaRPr lang="uk-UA" sz="1200" dirty="0"/>
          </a:p>
          <a:p>
            <a:r>
              <a:rPr lang="uk-UA" sz="1200" dirty="0"/>
              <a:t>FINISH_REASON. Показую живцем: друкую це поле разом із відповіддю. Спершу з</a:t>
            </a:r>
          </a:p>
          <a:p>
            <a:r>
              <a:rPr lang="uk-UA" sz="1200" dirty="0"/>
              <a:t>великою межею — приїжджає «stop». Потім із маленькою, скажімо двадцять, —</a:t>
            </a:r>
          </a:p>
          <a:p>
            <a:r>
              <a:rPr lang="uk-UA" sz="1200" dirty="0"/>
              <a:t>приїжджає «length», і відповідь обривається на півслові. Це видно очима, і</a:t>
            </a:r>
          </a:p>
          <a:p>
            <a:r>
              <a:rPr lang="uk-UA" sz="1200" dirty="0"/>
              <a:t>пояснювати більше нічого не треба.</a:t>
            </a:r>
          </a:p>
          <a:p>
            <a:endParaRPr lang="uk-UA" sz="1200" dirty="0"/>
          </a:p>
          <a:p>
            <a:r>
              <a:rPr lang="uk-UA" sz="1200" dirty="0"/>
              <a:t>ЧОМУ НЕ СТАВИТИ МАЛО. Кажу вголос: обрізана відповідь гірша за довгу. Межа</a:t>
            </a:r>
          </a:p>
          <a:p>
            <a:r>
              <a:rPr lang="uk-UA" sz="1200" dirty="0"/>
              <a:t>потрібна, щоб стримати балакучість, а не щоб калічити відповідь.</a:t>
            </a:r>
          </a:p>
          <a:p>
            <a:endParaRPr lang="uk-UA" sz="1200" dirty="0"/>
          </a:p>
          <a:p>
            <a:r>
              <a:rPr lang="uk-UA" sz="1200" dirty="0"/>
              <a:t>Наступний слайд: два рядки.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≤11 хв · бонус 4, тільки якщо група впоралась швидше</a:t>
            </a:r>
          </a:p>
          <a:p>
            <a:endParaRPr lang="uk-UA" sz="1200" dirty="0"/>
          </a:p>
          <a:p>
            <a:r>
              <a:rPr lang="uk-UA" sz="1200" dirty="0"/>
              <a:t>Найкоротший бонус і єдиний, де йдеться про гроші. Два нових місця:</a:t>
            </a:r>
          </a:p>
          <a:p>
            <a:r>
              <a:rPr lang="uk-UA" sz="1200" dirty="0"/>
              <a:t>"max_tokens": 120 у словнику data і два рядки про choice.</a:t>
            </a:r>
          </a:p>
          <a:p>
            <a:endParaRPr lang="uk-UA" sz="1200" dirty="0"/>
          </a:p>
          <a:p>
            <a:r>
              <a:rPr lang="uk-UA" sz="1200" dirty="0"/>
              <a:t>Змінна choice з'явилась не заради краси: з однієї відповіді ми беремо тепер</a:t>
            </a:r>
          </a:p>
          <a:p>
            <a:r>
              <a:rPr lang="uk-UA" sz="1200" dirty="0"/>
              <a:t>два поля — finish_reason і message — і писати двічі довгий ланцюжок дужок</a:t>
            </a:r>
          </a:p>
          <a:p>
            <a:r>
              <a:rPr lang="uk-UA" sz="1200" dirty="0"/>
              <a:t>було б дивно. Це гарна нагода сказати про те, навіщо взагалі змінні.</a:t>
            </a:r>
          </a:p>
          <a:p>
            <a:endParaRPr lang="uk-UA" sz="1200" dirty="0"/>
          </a:p>
          <a:p>
            <a:r>
              <a:rPr lang="uk-UA" sz="1200" dirty="0"/>
              <a:t>Кома після 120 обов'язкова — це середня пара словника. Забули — SyntaxError.</a:t>
            </a:r>
          </a:p>
          <a:p>
            <a:endParaRPr lang="uk-UA" sz="1200" dirty="0"/>
          </a:p>
          <a:p>
            <a:r>
              <a:rPr lang="uk-UA" sz="1200" dirty="0"/>
              <a:t>СЦЕНАРІЙ БЛОКУ: запустити зі 120 і спитати «Розкажи про Марс», потім</a:t>
            </a:r>
          </a:p>
          <a:p>
            <a:r>
              <a:rPr lang="uk-UA" sz="1200" dirty="0"/>
              <a:t>закрити, поставити 20 і спитати ТЕ САМЕ. Два запуски обов'язкові: весь</a:t>
            </a:r>
          </a:p>
          <a:p>
            <a:r>
              <a:rPr lang="uk-UA" sz="1200" dirty="0"/>
              <a:t>бонус у різниці між stop і length.</a:t>
            </a:r>
          </a:p>
          <a:p>
            <a:endParaRPr lang="uk-UA" sz="1200" dirty="0"/>
          </a:p>
          <a:p>
            <a:r>
              <a:rPr lang="uk-UA" sz="1200" dirty="0"/>
              <a:t>Чому це важливо, кажу просто: ми платимо і за те, що надіслали — увесь</a:t>
            </a:r>
          </a:p>
          <a:p>
            <a:r>
              <a:rPr lang="uk-UA" sz="1200" dirty="0"/>
              <a:t>список messages, це блок 6, — і за те, що отримали. Блок 6 тримав першу</a:t>
            </a:r>
          </a:p>
          <a:p>
            <a:r>
              <a:rPr lang="uk-UA" sz="1200" dirty="0"/>
              <a:t>половину рахунка, max_tokens тримає другу.</a:t>
            </a:r>
          </a:p>
          <a:p>
            <a:endParaRPr lang="uk-UA" sz="1200" dirty="0"/>
          </a:p>
          <a:p>
            <a:r>
              <a:rPr lang="uk-UA" sz="1200" dirty="0"/>
              <a:t>Попереджаю відразу: 20 — це не 20 слів, а близько 20 шматочків слів, і</a:t>
            </a:r>
          </a:p>
          <a:p>
            <a:r>
              <a:rPr lang="uk-UA" sz="1200" dirty="0"/>
              <a:t>українською їх витрачається більше, ніж англійською. Точного числа слів</a:t>
            </a:r>
          </a:p>
          <a:p>
            <a:r>
              <a:rPr lang="uk-UA" sz="1200" dirty="0"/>
              <a:t>обіцяти не можна, і це нормально.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(max_tokens 120)</a:t>
            </a:r>
          </a:p>
          <a:p>
            <a:r>
              <a:rPr lang="uk-UA" sz="1200" dirty="0"/>
              <a:t>$ python bonus4.py</a:t>
            </a:r>
          </a:p>
          <a:p>
            <a:r>
              <a:rPr lang="uk-UA" sz="1200" dirty="0"/>
              <a:t>Ти: Розкажи про Марс</a:t>
            </a:r>
          </a:p>
          <a:p>
            <a:r>
              <a:rPr lang="uk-UA" sz="1200" dirty="0"/>
              <a:t>[чому спинився] stop</a:t>
            </a:r>
          </a:p>
          <a:p>
            <a:r>
              <a:rPr lang="uk-UA" sz="1200" dirty="0"/>
              <a:t>АІДА: Марс — четверта планета від Сонця. Його називають червоною</a:t>
            </a:r>
          </a:p>
          <a:p>
            <a:r>
              <a:rPr lang="uk-UA" sz="1200" dirty="0"/>
              <a:t>через оксид заліза в ґрунті. Доба там майже така сама, як у нас.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(тепер max_tokens 20)</a:t>
            </a:r>
          </a:p>
          <a:p>
            <a:r>
              <a:rPr lang="uk-UA" sz="1200" dirty="0"/>
              <a:t>$ python bonus4.py</a:t>
            </a:r>
          </a:p>
          <a:p>
            <a:r>
              <a:rPr lang="uk-UA" sz="1200" dirty="0"/>
              <a:t>Ти: Розкажи про Марс</a:t>
            </a:r>
          </a:p>
          <a:p>
            <a:r>
              <a:rPr lang="uk-UA" sz="1200" dirty="0"/>
              <a:t>[чому спинився] length</a:t>
            </a:r>
          </a:p>
          <a:p>
            <a:r>
              <a:rPr lang="uk-UA" sz="1200" dirty="0"/>
              <a:t>АІДА: Марс — четверта планета від Сонця. Його називають червоною</a:t>
            </a:r>
          </a:p>
          <a:p>
            <a:r>
              <a:rPr lang="uk-UA" sz="1200" dirty="0"/>
              <a:t>Ти: стоп</a:t>
            </a:r>
          </a:p>
          <a:p>
            <a:endParaRPr lang="uk-UA" sz="1200" dirty="0"/>
          </a:p>
          <a:p>
            <a:r>
              <a:rPr lang="uk-UA" sz="1200" dirty="0"/>
              <a:t>Головне: у другому разі речення обірване, і поле сказало чому —</a:t>
            </a:r>
          </a:p>
          <a:p>
            <a:r>
              <a:rPr lang="uk-UA" sz="1200" dirty="0"/>
              <a:t>відповідь спинила наша межа, а не сама модель.</a:t>
            </a:r>
          </a:p>
          <a:p>
            <a:endParaRPr lang="uk-UA" sz="1200" dirty="0"/>
          </a:p>
          <a:p>
            <a:r>
              <a:rPr lang="uk-UA" sz="1200" dirty="0"/>
              <a:t>stop — модель договорила сама. length — її спинили ми.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орожні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1" y="308610"/>
            <a:ext cx="7376160" cy="4797544"/>
          </a:xfrm>
          <a:prstGeom prst="roundRect">
            <a:avLst>
              <a:gd name="adj" fmla="val 655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Хай пам'ятає розмову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Минулого разу помічник відповідав розумно, але забував усе за секунду. Сьогодні полагодимо.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260604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25000" lnSpcReduction="20000"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Чому кожне питання для моделі — перше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Три ролі розмови: system, user, assistant — пробуємо всі три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Список messages, який росте, — і є пам'яттю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Системний промт: персона з першого уроку в дії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«Очисти пам'ять» і межа, за яку історія не росте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Шість програм, chat1.py … chat6.py: кожна запускається сама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948151"/>
          </a:xfrm>
          <a:prstGeom prst="roundRect">
            <a:avLst>
              <a:gd name="adj" fmla="val 707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Чому кожне питання — перше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Минулого разу помічник забув ім'я за секунду.</a:t>
            </a:r>
            <a:r>
              <a:rPr lang="en-US" sz="1500" b="0" dirty="0">
                <a:solidFill>
                  <a:srgbClr val="6C6860"/>
                </a:solidFill>
                <a:latin typeface="Onest"/>
                <a:cs typeface="Onest"/>
              </a:rPr>
              <a:t> </a:t>
            </a: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Чия це провина?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Хто саме забув ім'я: модель чи наша програма?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ми поклали в конверт, коли питали вдруге?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Чому ж тоді ChatGPT у браузері пам'ятає розмову?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Хто має зробити пам'ять, якщо сервіс її не робить?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854092"/>
          </a:xfrm>
          <a:prstGeom prst="roundRect">
            <a:avLst>
              <a:gd name="adj" fmla="val 575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Чому кожне питання — перше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Модель бачить рівно те, що ми поклали в цей запит, і нічого більше.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Кожен запит іде окремо, як лист у конверті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У конверті лежало одне повідомлення — наше питання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Модель відповіла й одразу все забула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Пам'ять має зробити наша програма, а не сервіс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71086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80687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02633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ChatGPT у браузері пам'ятає розмову з тієї самої причини: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сайт щоразу надсилає всю переписку разом із новим питанням.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Ми зробимо те саме — і побачимо, що це просто список.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363346" y="339424"/>
            <a:ext cx="8237446" cy="5748176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498121"/>
            <a:ext cx="104851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Набираємо: перший запит і порожній конверт</a:t>
            </a:r>
          </a:p>
        </p:txBody>
      </p:sp>
      <p:sp>
        <p:nvSpPr>
          <p:cNvPr id="6" name="code 6"/>
          <p:cNvSpPr txBox="1"/>
          <p:nvPr/>
        </p:nvSpPr>
        <p:spPr>
          <a:xfrm>
            <a:off x="608393" y="909601"/>
            <a:ext cx="7747352" cy="5177999"/>
          </a:xfrm>
          <a:prstGeom prst="roundRect">
            <a:avLst>
              <a:gd name="adj" fmla="val 2300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KEY = open("key.txt", encoding="utf-8").read().strip()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HEAD = {"Authorization": "Bearer " + KEY}</a:t>
            </a:r>
          </a:p>
          <a:p>
            <a:pPr algn="l">
              <a:lnSpc>
                <a:spcPts val="1920"/>
              </a:lnSpc>
              <a:buNone/>
            </a:pPr>
            <a:endParaRPr lang="uk-UA" sz="1600" dirty="0"/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def ask(text):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messages = [{"role": "user", "content": text}]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print("[конверт]", messages)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data = {"model": "gpt-6-</a:t>
            </a:r>
            <a:r>
              <a:rPr lang="en-US" sz="1600" b="0" dirty="0">
                <a:solidFill>
                  <a:srgbClr val="26241F"/>
                </a:solidFill>
                <a:latin typeface="Courier New"/>
                <a:cs typeface="Courier New"/>
              </a:rPr>
              <a:t>luna</a:t>
            </a: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", "messages": messages}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r = requests.post(URL, headers=HEAD, json=data)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if r.status_code != 200: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"Помилка. Код: " + str(r.status_code)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return r.json()["choices"][0]["message"]["content"]</a:t>
            </a:r>
          </a:p>
          <a:p>
            <a:pPr algn="l">
              <a:lnSpc>
                <a:spcPts val="1920"/>
              </a:lnSpc>
              <a:buNone/>
            </a:pPr>
            <a:endParaRPr lang="uk-UA" sz="1600" dirty="0"/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q = input("Ти: ")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if q == "стоп":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ask(q))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005176"/>
          </a:xfrm>
          <a:prstGeom prst="roundRect">
            <a:avLst>
              <a:gd name="adj" fmla="val 929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Три ролі розмови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У конверт поїде вся розмова. </a:t>
            </a:r>
            <a:r>
              <a:rPr lang="uk-UA" sz="1500" dirty="0">
                <a:solidFill>
                  <a:srgbClr val="6C6860"/>
                </a:solidFill>
                <a:latin typeface="Onest"/>
                <a:cs typeface="Onest"/>
              </a:rPr>
              <a:t>Я</a:t>
            </a: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к модель зрозуміє, хто що казав?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у переписці видно, де ваші слова, а де чужі?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Скільки різних авторів буває в розмові з помічником?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Хто автор у того рядка, який задає характер помічника?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854092"/>
          </a:xfrm>
          <a:prstGeom prst="roundRect">
            <a:avLst>
              <a:gd name="adj" fmla="val 575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Три ролі розмови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У кожного повідомлення є автор. Модель розрізняє їх за роллю.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system — ким має бути помічник, задаємо один раз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user — те, що написала людина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assistant — те, що відповіла модель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Ролі кажуть моделі, хто що казав, і вона це враховує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71086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80687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02633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system — це той самий промт з уроку 1, тільки постійний: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модель читає його перед кожною відповіддю. Ролі user і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assistant заповнюємо ми, поки триває розмова.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271577"/>
            <a:ext cx="10011926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Набираємо: три ролі в одному конверті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Новий файл chat2.py, перші чотири рядки — з chat1.py. Тут немає input: програма шле готову розмову.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096594"/>
            <a:ext cx="9376976" cy="5489829"/>
          </a:xfrm>
          <a:prstGeom prst="roundRect">
            <a:avLst>
              <a:gd name="adj" fmla="val 2313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 fontScale="77500" lnSpcReduction="20000"/>
          </a:bodyPr>
          <a:lstStyle/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KEY = open("key.txt", encoding="utf-8").read().strip()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HEAD = {"Authorization": "Bearer " + KEY}</a:t>
            </a:r>
          </a:p>
          <a:p>
            <a:pPr algn="l">
              <a:lnSpc>
                <a:spcPts val="1920"/>
              </a:lnSpc>
              <a:buNone/>
            </a:pPr>
            <a:endParaRPr lang="uk-UA" sz="1600" dirty="0"/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messages = [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{"role": "system", "content": "Ти АІДА. Відповідай одним словом."},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{"role": "user", "content": "Скільки буде 5 на 6?"},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{"role": "assistant", "content": "Тридцять."},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{"role": "user", "content": "А якщо подвоїти?"},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]</a:t>
            </a:r>
          </a:p>
          <a:p>
            <a:pPr algn="l">
              <a:lnSpc>
                <a:spcPts val="1920"/>
              </a:lnSpc>
              <a:buNone/>
            </a:pPr>
            <a:endParaRPr lang="uk-UA" sz="1600" dirty="0"/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for m in messages: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print(m["role"], "-&gt;", m["content"])</a:t>
            </a:r>
          </a:p>
          <a:p>
            <a:pPr algn="l">
              <a:lnSpc>
                <a:spcPts val="1920"/>
              </a:lnSpc>
              <a:buNone/>
            </a:pPr>
            <a:endParaRPr lang="uk-UA" sz="1600" dirty="0"/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data = {"model": "</a:t>
            </a:r>
            <a:r>
              <a:rPr lang="uk-UA" sz="1600" b="0" dirty="0" err="1">
                <a:solidFill>
                  <a:srgbClr val="26241F"/>
                </a:solidFill>
                <a:latin typeface="Courier New"/>
                <a:cs typeface="Courier New"/>
              </a:rPr>
              <a:t>gpt</a:t>
            </a: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600" b="0" dirty="0">
                <a:solidFill>
                  <a:srgbClr val="26241F"/>
                </a:solidFill>
                <a:latin typeface="Courier New"/>
                <a:cs typeface="Courier New"/>
              </a:rPr>
              <a:t>6</a:t>
            </a: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600" b="0" dirty="0">
                <a:solidFill>
                  <a:srgbClr val="26241F"/>
                </a:solidFill>
                <a:latin typeface="Courier New"/>
                <a:cs typeface="Courier New"/>
              </a:rPr>
              <a:t>luna</a:t>
            </a: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", "messages": messages}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r = requests.post(URL, headers=HEAD, json=data)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if r.status_code != 200: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print("Помилка. Код:", r.status_code)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else:</a:t>
            </a:r>
          </a:p>
          <a:p>
            <a:pPr algn="l">
              <a:lnSpc>
                <a:spcPts val="192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    print("assistant -&gt;", r.json()["choices"][0]["message"]["content"])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328873"/>
          </a:xfrm>
          <a:prstGeom prst="roundRect">
            <a:avLst>
              <a:gd name="adj" fmla="val 839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Список, який росте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Ролі є, список є. Що з ним робити після кожної репліки?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7289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Скільки повідомлень треба дописати після одного питання?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станеться, якщо дописати тільки питання, а відповідь — ні?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Де має жити цей список: усередині функції чи поза нею?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386583" y="232486"/>
            <a:ext cx="8721203" cy="6393028"/>
          </a:xfrm>
          <a:prstGeom prst="roundRect">
            <a:avLst>
              <a:gd name="adj" fmla="val 4370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Список, який росте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Ось і вся пам'ять: після кожної репліки дописуємо її в кінець списку.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590890" y="1124026"/>
            <a:ext cx="8308667" cy="4255389"/>
          </a:xfrm>
          <a:prstGeom prst="roundRect">
            <a:avLst>
              <a:gd name="adj" fmla="val 2984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KEY = open("key.txt", encoding="utf-8").read().strip()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HEAD = {"Authorization": "Bearer " + KEY}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messages = [{"role": "system", "content": "Ти АІДА, весела помічниця."}]</a:t>
            </a:r>
          </a:p>
          <a:p>
            <a:pPr algn="l">
              <a:lnSpc>
                <a:spcPts val="1800"/>
              </a:lnSpc>
              <a:buNone/>
            </a:pPr>
            <a:endParaRPr lang="uk-UA" sz="1400" dirty="0"/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def ask(text):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"user", "content": text})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data = {"model": "</a:t>
            </a:r>
            <a:r>
              <a:rPr lang="uk-UA" sz="1400" b="0" dirty="0" err="1">
                <a:solidFill>
                  <a:srgbClr val="26241F"/>
                </a:solidFill>
                <a:latin typeface="Courier New"/>
                <a:cs typeface="Courier New"/>
              </a:rPr>
              <a:t>gpt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400" b="0" dirty="0">
                <a:solidFill>
                  <a:srgbClr val="26241F"/>
                </a:solidFill>
                <a:latin typeface="Courier New"/>
                <a:cs typeface="Courier New"/>
              </a:rPr>
              <a:t>6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400" b="0" dirty="0">
                <a:solidFill>
                  <a:srgbClr val="26241F"/>
                </a:solidFill>
                <a:latin typeface="Courier New"/>
                <a:cs typeface="Courier New"/>
              </a:rPr>
              <a:t>luna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", "messages": messages}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r = requests.post(URL, headers=HEAD, json=data)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answer = r.json()["choices"][0]["message"]["content"]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"assistant", "content": answer})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return answer</a:t>
            </a:r>
          </a:p>
          <a:p>
            <a:pPr algn="l">
              <a:lnSpc>
                <a:spcPts val="1800"/>
              </a:lnSpc>
              <a:buNone/>
            </a:pPr>
            <a:endParaRPr lang="uk-UA" sz="1400" dirty="0"/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print(ask("Мене звати Марта"))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print(ask("Як мене звати?"))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print(len(messages), "повідомлень у списку")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5544007"/>
            <a:ext cx="7919368" cy="945032"/>
          </a:xfrm>
          <a:prstGeom prst="roundRect">
            <a:avLst>
              <a:gd name="adj" fmla="val 13439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5640019"/>
            <a:ext cx="1011936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5859475"/>
            <a:ext cx="10119360" cy="61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append дописує в кінець списку. Дописуємо ОБИДВІ репліки —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і питання, і відповідь. Наступного разу модель побачить усе.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212598"/>
            <a:ext cx="9197114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Набираємо: пам'ять із двох append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68096"/>
            <a:ext cx="10485120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Збережи chat1.py як chat3.py і доведи до цього вигляду. messages тепер ПОЗА функцією.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572782" y="1155573"/>
            <a:ext cx="8770394" cy="5520690"/>
          </a:xfrm>
          <a:prstGeom prst="roundRect">
            <a:avLst>
              <a:gd name="adj" fmla="val 2300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KEY = open("key.txt", encoding="utf-8").read().strip()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HEAD = {"Authorization": "Bearer " + KEY}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messages = [{"role": "system", "content": "Ти АІДА, весела помічниця."}]</a:t>
            </a:r>
          </a:p>
          <a:p>
            <a:pPr algn="l">
              <a:lnSpc>
                <a:spcPts val="1800"/>
              </a:lnSpc>
              <a:buNone/>
            </a:pPr>
            <a:endParaRPr lang="uk-UA" sz="1500" dirty="0"/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def ask(text):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"user", "content": text})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data = {"model": "</a:t>
            </a:r>
            <a:r>
              <a:rPr lang="uk-UA" sz="1500" b="0" dirty="0" err="1">
                <a:solidFill>
                  <a:srgbClr val="26241F"/>
                </a:solidFill>
                <a:latin typeface="Courier New"/>
                <a:cs typeface="Courier New"/>
              </a:rPr>
              <a:t>gpt</a:t>
            </a: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500" b="0" dirty="0">
                <a:solidFill>
                  <a:srgbClr val="26241F"/>
                </a:solidFill>
                <a:latin typeface="Courier New"/>
                <a:cs typeface="Courier New"/>
              </a:rPr>
              <a:t>6</a:t>
            </a: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500" b="0" dirty="0">
                <a:solidFill>
                  <a:srgbClr val="26241F"/>
                </a:solidFill>
                <a:latin typeface="Courier New"/>
                <a:cs typeface="Courier New"/>
              </a:rPr>
              <a:t>luna</a:t>
            </a: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", "messages": messages}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r = requests.post(URL, headers=HEAD, json=data)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if r.status_code != 200: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"Помилка. Код: " + str(r.status_code)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answer = r.json()["choices"][0]["message"]["content"]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"assistant", "content": answer})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return answer</a:t>
            </a:r>
          </a:p>
          <a:p>
            <a:pPr algn="l">
              <a:lnSpc>
                <a:spcPts val="1800"/>
              </a:lnSpc>
              <a:buNone/>
            </a:pPr>
            <a:endParaRPr lang="uk-UA" sz="1500" dirty="0"/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q = input("Ти: ")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if q == "стоп":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ask(q))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print("[у конверті]", len(messages), "повідомлень")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90722"/>
          </a:xfrm>
          <a:prstGeom prst="roundRect">
            <a:avLst>
              <a:gd name="adj" fmla="val 800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Системний промт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Пам'ять є. </a:t>
            </a:r>
            <a:r>
              <a:rPr lang="uk-UA" sz="1500" dirty="0">
                <a:solidFill>
                  <a:srgbClr val="6C6860"/>
                </a:solidFill>
                <a:latin typeface="Onest"/>
                <a:cs typeface="Onest"/>
              </a:rPr>
              <a:t>З</a:t>
            </a: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відки візьметься характер?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Пам'ятаєте файл persona.txt із першого уроку?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Чим системний промт відрізняється від звичайного питання?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Скільки разів модель має його прочитати за розмову?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буде, якщо характер описати двома словами?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23330"/>
          </a:xfrm>
          <a:prstGeom prst="roundRect">
            <a:avLst>
              <a:gd name="adj" fmla="val 428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Системний промт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Один рядок вирішує, як звучатимуть усі відповіді. Сюди їде персона з першого уроку.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37742"/>
            <a:ext cx="10485120" cy="3803447"/>
          </a:xfrm>
          <a:prstGeom prst="roundRect">
            <a:avLst>
              <a:gd name="adj" fmla="val 3339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20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20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KEY = open("key.txt", encoding="utf-8").read().strip()</a:t>
            </a:r>
          </a:p>
          <a:p>
            <a:pPr algn="l">
              <a:lnSpc>
                <a:spcPts val="20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20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HEAD = {"Authorization": "Bearer " + KEY}</a:t>
            </a:r>
          </a:p>
          <a:p>
            <a:pPr algn="l">
              <a:lnSpc>
                <a:spcPts val="2080"/>
              </a:lnSpc>
              <a:buNone/>
            </a:pPr>
            <a:endParaRPr lang="uk-UA" sz="1400" dirty="0"/>
          </a:p>
          <a:p>
            <a:pPr algn="l">
              <a:lnSpc>
                <a:spcPts val="20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persona = open("persona.txt", encoding="utf-8").read()</a:t>
            </a:r>
          </a:p>
          <a:p>
            <a:pPr algn="l">
              <a:lnSpc>
                <a:spcPts val="20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messages = [{"role": "system", "content": persona}]</a:t>
            </a:r>
          </a:p>
          <a:p>
            <a:pPr algn="l">
              <a:lnSpc>
                <a:spcPts val="2080"/>
              </a:lnSpc>
              <a:buNone/>
            </a:pPr>
            <a:endParaRPr lang="uk-UA" sz="1400" dirty="0"/>
          </a:p>
          <a:p>
            <a:pPr algn="l">
              <a:lnSpc>
                <a:spcPts val="20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question = "Що робити, коли не хочеться робити уроки?"</a:t>
            </a:r>
          </a:p>
          <a:p>
            <a:pPr algn="l">
              <a:lnSpc>
                <a:spcPts val="20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messages.append({"role": "user", "content": question})</a:t>
            </a:r>
          </a:p>
          <a:p>
            <a:pPr algn="l">
              <a:lnSpc>
                <a:spcPts val="20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data = {"model": "</a:t>
            </a:r>
            <a:r>
              <a:rPr lang="uk-UA" sz="1400" b="0" dirty="0" err="1">
                <a:solidFill>
                  <a:srgbClr val="26241F"/>
                </a:solidFill>
                <a:latin typeface="Courier New"/>
                <a:cs typeface="Courier New"/>
              </a:rPr>
              <a:t>gpt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400" b="0" dirty="0">
                <a:solidFill>
                  <a:srgbClr val="26241F"/>
                </a:solidFill>
                <a:latin typeface="Courier New"/>
                <a:cs typeface="Courier New"/>
              </a:rPr>
              <a:t>6-luna</a:t>
            </a: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", "messages": messages}</a:t>
            </a:r>
          </a:p>
          <a:p>
            <a:pPr algn="l">
              <a:lnSpc>
                <a:spcPts val="20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r = requests.post(URL, headers=HEAD, json=data)</a:t>
            </a:r>
          </a:p>
          <a:p>
            <a:pPr algn="l">
              <a:lnSpc>
                <a:spcPts val="208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print(r.json()["choices"][0]["message"]["content"])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853440" y="5050917"/>
            <a:ext cx="4714646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PERSONA.TXT — ТОЙ САМИЙ ФАЙЛ, ЩО Й НА УРОЦІ 1</a:t>
            </a:r>
          </a:p>
        </p:txBody>
      </p:sp>
      <p:sp>
        <p:nvSpPr>
          <p:cNvPr id="9" name="code 9"/>
          <p:cNvSpPr txBox="1"/>
          <p:nvPr/>
        </p:nvSpPr>
        <p:spPr>
          <a:xfrm>
            <a:off x="853440" y="5325237"/>
            <a:ext cx="4714646" cy="1294105"/>
          </a:xfrm>
          <a:prstGeom prst="roundRect">
            <a:avLst>
              <a:gd name="adj" fmla="val 9814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 fontScale="25000" lnSpcReduction="20000"/>
          </a:bodyPr>
          <a:lstStyle/>
          <a:p>
            <a:pPr algn="l">
              <a:lnSpc>
                <a:spcPts val="182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Ім'я: [АІДА]</a:t>
            </a:r>
          </a:p>
          <a:p>
            <a:pPr algn="l">
              <a:lnSpc>
                <a:spcPts val="182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Вдача: [весела, терпляча, трохи зухвала]</a:t>
            </a:r>
          </a:p>
          <a:p>
            <a:pPr algn="l">
              <a:lnSpc>
                <a:spcPts val="182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Стиль мови: [коротко, на «ти», з жартом]</a:t>
            </a:r>
          </a:p>
          <a:p>
            <a:pPr algn="l">
              <a:lnSpc>
                <a:spcPts val="182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Чого не робить: [не вигадує, коли не знає]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860694" y="5050917"/>
            <a:ext cx="5477866" cy="1266673"/>
          </a:xfrm>
          <a:prstGeom prst="roundRect">
            <a:avLst>
              <a:gd name="adj" fmla="val 10026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11" name="text 11"/>
          <p:cNvSpPr txBox="1"/>
          <p:nvPr/>
        </p:nvSpPr>
        <p:spPr>
          <a:xfrm>
            <a:off x="6043574" y="5146929"/>
            <a:ext cx="5112106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6043574" y="5366385"/>
            <a:ext cx="5112106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Модель читає цей рядок перед кожною відповіддю — і перед першою, і перед двадцятою. Квадратні дужки в файлі прибирай.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Набираємо: персона в системному промті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68096"/>
            <a:ext cx="10485120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Збережи chat3.py як chat4.py. Поруч має лежати persona.txt — той самий, що з уроку 1.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24712"/>
            <a:ext cx="10485120" cy="5520690"/>
          </a:xfrm>
          <a:prstGeom prst="roundRect">
            <a:avLst>
              <a:gd name="adj" fmla="val 2300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KEY = open("key.txt", encoding="utf-8").read().strip()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HEAD = {"Authorization": "Bearer " + KEY}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persona = open("persona.txt", encoding="utf-8").read()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messages = [{"role": "system", "content": persona}]</a:t>
            </a:r>
          </a:p>
          <a:p>
            <a:pPr algn="l">
              <a:lnSpc>
                <a:spcPts val="1800"/>
              </a:lnSpc>
              <a:buNone/>
            </a:pPr>
            <a:endParaRPr lang="uk-UA" sz="1500" dirty="0"/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def ask(text):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"user", "content": text})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data = {"model": "</a:t>
            </a:r>
            <a:r>
              <a:rPr lang="uk-UA" sz="1500" b="0" dirty="0" err="1">
                <a:solidFill>
                  <a:srgbClr val="26241F"/>
                </a:solidFill>
                <a:latin typeface="Courier New"/>
                <a:cs typeface="Courier New"/>
              </a:rPr>
              <a:t>gpt</a:t>
            </a: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500" b="0" dirty="0">
                <a:solidFill>
                  <a:srgbClr val="26241F"/>
                </a:solidFill>
                <a:latin typeface="Courier New"/>
                <a:cs typeface="Courier New"/>
              </a:rPr>
              <a:t>6</a:t>
            </a: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500" b="0" dirty="0">
                <a:solidFill>
                  <a:srgbClr val="26241F"/>
                </a:solidFill>
                <a:latin typeface="Courier New"/>
                <a:cs typeface="Courier New"/>
              </a:rPr>
              <a:t>luna</a:t>
            </a: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", "messages": messages}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r = requests.post(URL, headers=HEAD, json=data)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if r.status_code != 200: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"Помилка. Код: " + str(r.status_code)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answer = r.json()["choices"][0]["message"]["content"]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"assistant", "content": answer})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return answer</a:t>
            </a:r>
          </a:p>
          <a:p>
            <a:pPr algn="l">
              <a:lnSpc>
                <a:spcPts val="1800"/>
              </a:lnSpc>
              <a:buNone/>
            </a:pPr>
            <a:endParaRPr lang="uk-UA" sz="1500" dirty="0"/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q = input("Ти: ")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if q == "стоп":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5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ask(q))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005176"/>
          </a:xfrm>
          <a:prstGeom prst="roundRect">
            <a:avLst>
              <a:gd name="adj" fmla="val 929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Очисти пам'ять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Розмова буває заходить не туди. </a:t>
            </a:r>
            <a:r>
              <a:rPr lang="uk-UA" sz="1500" dirty="0">
                <a:solidFill>
                  <a:srgbClr val="6C6860"/>
                </a:solidFill>
                <a:latin typeface="Onest"/>
                <a:cs typeface="Onest"/>
              </a:rPr>
              <a:t>Я</a:t>
            </a: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к почати спочатку?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Коли вам хотілось почати розмову з чистого аркуша?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при цьому має зникнути, а що лишитись?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Чому не досить просто перезапустити програму?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271641"/>
          </a:xfrm>
          <a:prstGeom prst="roundRect">
            <a:avLst>
              <a:gd name="adj" fmla="val 4455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Очисти пам'ять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Розмова заплуталась або зайшла не туди — має бути кнопка «почати спочатку».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37742"/>
            <a:ext cx="10485120" cy="4133317"/>
          </a:xfrm>
          <a:prstGeom prst="roundRect">
            <a:avLst>
              <a:gd name="adj" fmla="val 3073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 fontScale="25000" lnSpcReduction="20000"/>
          </a:bodyPr>
          <a:lstStyle/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messages = [{"role": "system", "content": "Ти АІДА, весела помічниця."}]</a:t>
            </a:r>
          </a:p>
          <a:p>
            <a:pPr algn="l">
              <a:lnSpc>
                <a:spcPts val="1560"/>
              </a:lnSpc>
              <a:buNone/>
            </a:pPr>
            <a:endParaRPr lang="uk-UA" sz="1300"/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# мок з уроку 4: відповідає без мережі й без ключа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def ask_mock(text):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"user", "content": text})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answer = "Почула: " + text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"assistant", "content": answer})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return answer</a:t>
            </a:r>
          </a:p>
          <a:p>
            <a:pPr algn="l">
              <a:lnSpc>
                <a:spcPts val="1560"/>
              </a:lnSpc>
              <a:buNone/>
            </a:pPr>
            <a:endParaRPr lang="uk-UA" sz="1300"/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q = input("Ти: 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q == "стоп":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q == "очисти":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messages = messages[:1]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Забула все, крім себе.")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continue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ask_mock(q))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print("[у конверті]", len(messages), "повідомлень")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5422621"/>
            <a:ext cx="10485120" cy="945032"/>
          </a:xfrm>
          <a:prstGeom prst="roundRect">
            <a:avLst>
              <a:gd name="adj" fmla="val 13439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5518633"/>
            <a:ext cx="1011936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5738089"/>
            <a:ext cx="10119360" cy="6158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messages[:1] — зріз: бере лише перший елемент, тобто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системний промт. Уся розмова зникає, а характер лишається.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Набираємо: команда «очисти»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68096"/>
            <a:ext cx="10485120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Збережи chat4.py як chat5.py. Нові тут чотири рядки в циклі — і вони саме в циклі, не в функції.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24712"/>
            <a:ext cx="10485120" cy="5520690"/>
          </a:xfrm>
          <a:prstGeom prst="roundRect">
            <a:avLst>
              <a:gd name="adj" fmla="val 2300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KEY = open("key.txt", encoding="utf-8").read().strip()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HEAD = {"Authorization": "Bearer " + KEY}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persona = open("persona.txt", encoding="utf-8").read()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messages = [{"role": "system", "content": persona}]</a:t>
            </a:r>
          </a:p>
          <a:p>
            <a:pPr algn="l">
              <a:lnSpc>
                <a:spcPts val="1560"/>
              </a:lnSpc>
              <a:buNone/>
            </a:pPr>
            <a:endParaRPr lang="uk-UA" sz="1200" dirty="0"/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def ask(text):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"user", "content": text})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data = {"model": "</a:t>
            </a:r>
            <a:r>
              <a:rPr lang="uk-UA" sz="1200" b="0" dirty="0" err="1">
                <a:solidFill>
                  <a:srgbClr val="26241F"/>
                </a:solidFill>
                <a:latin typeface="Courier New"/>
                <a:cs typeface="Courier New"/>
              </a:rPr>
              <a:t>gpt</a:t>
            </a: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-</a:t>
            </a:r>
            <a:r>
              <a:rPr lang="en-US" sz="1200" b="0" dirty="0">
                <a:solidFill>
                  <a:srgbClr val="26241F"/>
                </a:solidFill>
                <a:latin typeface="Courier New"/>
                <a:cs typeface="Courier New"/>
              </a:rPr>
              <a:t>6-luna</a:t>
            </a: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", "messages": messages}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r = requests.post(URL, headers=HEAD, json=data)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r.status_code != 200: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"Помилка. Код: " + str(r.status_code)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answer = r.json()["choices"][0]["message"]["content"]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"assistant", "content": answer})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return answer</a:t>
            </a:r>
          </a:p>
          <a:p>
            <a:pPr algn="l">
              <a:lnSpc>
                <a:spcPts val="1560"/>
              </a:lnSpc>
              <a:buNone/>
            </a:pPr>
            <a:endParaRPr lang="uk-UA" sz="1200" dirty="0"/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q = input("Ти: 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q == "стоп":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q == "очисти":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messages = messages[:1]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Забула все, крім себе.")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continue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ask(q))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291154"/>
          </a:xfrm>
          <a:prstGeom prst="roundRect">
            <a:avLst>
              <a:gd name="adj" fmla="val 848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Питання: Пам'ять не безмежна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Останній блок пари. Що станеться зі списком через годину розмови?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буде зі списком, який тільки росте?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Хто платить за повідомлення, які їдуть у кожному конверті?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з розмови можна відрізати, а що ні?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340221"/>
          </a:xfrm>
          <a:prstGeom prst="roundRect">
            <a:avLst>
              <a:gd name="adj" fmla="val 4407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Пам'ять не безмежна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Уся розмова їде в кожному запиті. Що довша історія, то повільніше й дорожче.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37742"/>
            <a:ext cx="10485120" cy="3935806"/>
          </a:xfrm>
          <a:prstGeom prst="roundRect">
            <a:avLst>
              <a:gd name="adj" fmla="val 3227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 fontScale="25000" lnSpcReduction="20000"/>
          </a:bodyPr>
          <a:lstStyle/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messages = [{"role": "system", "content": "Ти АІДА, весела помічниця."}]</a:t>
            </a:r>
          </a:p>
          <a:p>
            <a:pPr algn="l">
              <a:lnSpc>
                <a:spcPts val="1560"/>
              </a:lnSpc>
              <a:buNone/>
            </a:pPr>
            <a:endParaRPr lang="uk-UA" sz="1300"/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# мок з уроку 4: відповідає без мережі й без ключа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def ask_mock(text):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"user", "content": text})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answer = "Почула: " + text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"assistant", "content": answer})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return answer</a:t>
            </a:r>
          </a:p>
          <a:p>
            <a:pPr algn="l">
              <a:lnSpc>
                <a:spcPts val="1560"/>
              </a:lnSpc>
              <a:buNone/>
            </a:pPr>
            <a:endParaRPr lang="uk-UA" sz="1300"/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q = input("Ти: 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q == "стоп":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ask_mock(q))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# характер плюс останні шість реплік розмови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messages = messages[:1] + messages[1:][-6:]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print("[у пам'яті]", len(messages), "повідомлень")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print("[найстаріше]", messages[1]["content"])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5224424"/>
            <a:ext cx="10485120" cy="1211809"/>
          </a:xfrm>
          <a:prstGeom prst="roundRect">
            <a:avLst>
              <a:gd name="adj" fmla="val 10480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5320436"/>
            <a:ext cx="1011936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ЧОМУ ЦЕ ВАЖЛИВО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5539892"/>
            <a:ext cx="1011936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Модель читає весь список щоразу заново, і платимо ми теж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за весь список. Тому старе відрізаємо, а системний промт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лишаємо завжди — без нього помічник втратить характер.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Набираємо: межа пам'яті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68096"/>
            <a:ext cx="10485120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Збережи chat5.py як chat6.py. Два останні рядки — готовий помічник уроку.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24712"/>
            <a:ext cx="10485120" cy="5520690"/>
          </a:xfrm>
          <a:prstGeom prst="roundRect">
            <a:avLst>
              <a:gd name="adj" fmla="val 2300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KEY = open("key.txt", encoding="utf-8").read().strip()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HEAD = {"Authorization": "Bearer " + KEY}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persona = open("persona.txt", encoding="utf-8").read()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messages = [{"role": "system", "content": persona}]</a:t>
            </a:r>
          </a:p>
          <a:p>
            <a:pPr algn="l">
              <a:lnSpc>
                <a:spcPts val="1440"/>
              </a:lnSpc>
              <a:buNone/>
            </a:pPr>
            <a:endParaRPr lang="uk-UA" sz="1200" dirty="0"/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def ask(text):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"user", "content": text})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data = {"model": "gpt-6-</a:t>
            </a:r>
            <a:r>
              <a:rPr lang="en-US" sz="1200" b="0" dirty="0">
                <a:solidFill>
                  <a:srgbClr val="26241F"/>
                </a:solidFill>
                <a:latin typeface="Courier New"/>
                <a:cs typeface="Courier New"/>
              </a:rPr>
              <a:t>luna</a:t>
            </a: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", "messages": messages}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r = requests.post(URL, headers=HEAD, json=data)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r.status_code != 200: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"Помилка. Код: " + str(r.status_code)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answer = r.json()["choices"][0]["message"]["content"]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"assistant", "content": answer})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return answer</a:t>
            </a:r>
          </a:p>
          <a:p>
            <a:pPr algn="l">
              <a:lnSpc>
                <a:spcPts val="1440"/>
              </a:lnSpc>
              <a:buNone/>
            </a:pPr>
            <a:endParaRPr lang="uk-UA" sz="1200" dirty="0"/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q = input("Ти: ")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q == "стоп":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q == "очисти":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messages = messages[:1]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Забула все, крім себе.")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continue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ask(q))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messages = messages[:1] + messages[1:][-6:]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print("[у пам'яті]", len(messages), "повідомлень")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240030"/>
            <a:ext cx="7802880" cy="3262122"/>
          </a:xfrm>
          <a:prstGeom prst="roundRect">
            <a:avLst>
              <a:gd name="adj" fmla="val 5738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48006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Домашнє завдання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853440" y="1165860"/>
            <a:ext cx="6949440" cy="2098548"/>
          </a:xfrm>
          <a:prstGeom prst="roundRect">
            <a:avLst>
              <a:gd name="adj" fmla="val 3343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1036320" y="1316736"/>
            <a:ext cx="6583680" cy="17556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A" sz="1400" dirty="0"/>
              <a:t>Напишіть з нуля вікторину на тему, яка вам цікава.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A" sz="1400" dirty="0"/>
              <a:t>Ведучий має ставити по одному питанню, перевіряти ваші відповіді та вести рахунок. Зберігайте в історії і ваші повідомлення, і відповіді ведучого.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A" sz="1400" dirty="0"/>
              <a:t>Додайте команди "стоп" для виходу та "рахунок" для показу кількості повідомлень у пам'яті. Перевірте вікторину на кількох відповідях.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48583"/>
          </a:xfrm>
          <a:prstGeom prst="roundRect">
            <a:avLst>
              <a:gd name="adj" fmla="val 745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Показати всю розмову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Пам'ять є, але її не видно. Питаю, як подивитись, що саме помічник пам'ятає.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переконатись, що в пам'яті лежить те, що ми думаємо?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У якому вигляді список зручно показати людині?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треба показувати системний промт разом із розмовою?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310835"/>
          </a:xfrm>
          <a:prstGeom prst="roundRect">
            <a:avLst>
              <a:gd name="adj" fmla="val 5261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Розмова людськими словами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Той самий цикл, що на початку пари, тільки ролі перекладені українською.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NAMES — словник, який перекладає роль у людське слово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messages[1:] — зріз: усе, крім першого елемента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for m in messages[1:]: — по одній репліці за раз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len(messages) - 1 — скільки реплік, не рахуючи характеру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16760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26361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48307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Зріз messages[1:] читається як «з першого й до кінця»: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перший елемент має номер нуль, тому одиниця пропускає саме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системний промт. Це той самий зріз, що й messages[:1].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Бонус. Набираємо: команда «історія»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68096"/>
            <a:ext cx="10485120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Новий файл bonus1.py — або збережи як нього chat3.py. Нове тут — NAMES і шість рядків у циклі.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24712"/>
            <a:ext cx="10485120" cy="5520690"/>
          </a:xfrm>
          <a:prstGeom prst="roundRect">
            <a:avLst>
              <a:gd name="adj" fmla="val 2300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 fontScale="25000" lnSpcReduction="20000"/>
          </a:bodyPr>
          <a:lstStyle/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KEY = open("key.txt", encoding="utf-8").read().strip()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HEAD = {"Authorization": "Bearer " + KEY}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NAMES = {"system": "Характер", "user": "Ти", "assistant": "АІДА"}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messages = [{"role": "system", "content": "Ти АІДА, весела помічниця."}]</a:t>
            </a:r>
          </a:p>
          <a:p>
            <a:pPr algn="l">
              <a:lnSpc>
                <a:spcPts val="1500"/>
              </a:lnSpc>
              <a:buNone/>
            </a:pPr>
            <a:endParaRPr lang="uk-UA" sz="1200"/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def ask(text):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"user", "content": text})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data = {"model": "gpt-4o-mini", "messages": messages}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r = requests.post(URL, headers=HEAD, json=data)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r.status_code != 200: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"Помилка. Код: " + str(r.status_code)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answer = r.json()["choices"][0]["message"]["content"]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"assistant", "content": answer})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return answer</a:t>
            </a:r>
          </a:p>
          <a:p>
            <a:pPr algn="l">
              <a:lnSpc>
                <a:spcPts val="1500"/>
              </a:lnSpc>
              <a:buNone/>
            </a:pPr>
            <a:endParaRPr lang="uk-UA" sz="1200"/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q = input("Ти: ")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q == "стоп":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q == "історія":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for m in messages[1:]: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    print(NAMES[m["role"]], "-&gt;", m["content"])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print("Разом реплік:", len(messages) - 1)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continue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ask(q))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072280"/>
          </a:xfrm>
          <a:prstGeom prst="roundRect">
            <a:avLst>
              <a:gd name="adj" fmla="val 6861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Змінити характер на льоту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Характер лежить у першому елементі списку. Питаю, чи можна його переписати.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72890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станеться, якщо змінити перший елемент прямо під час розмови?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згадає помічник те, що казав зі старим характером?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Навіщо взагалі міняти характер, не перезапускаючи програму?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920511"/>
          </a:xfrm>
          <a:prstGeom prst="roundRect">
            <a:avLst>
              <a:gd name="adj" fmla="val 471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Перший елемент можна переписати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Список можна не тільки читати. Один рядок міняє характер посеред розмови.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2214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messages[0] — перший елемент; це словник із role і content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messages[0]["content"] = "..." — кладемо новий текст на місце старого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Роль лишається system — міняється тільки опис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Решта списку не чіпається: розмова пам'ятається далі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777283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873295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5092751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Це та сама квадратна дужка, що й у ANSWERS на уроці 2, —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тільки тепер вона не дістає значення, а кладе нове. Ліворуч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від знака дорівнює — куди кладемо, праворуч — що саме.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Бонус. Набираємо: команда «будь піратом»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68096"/>
            <a:ext cx="10485120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Новий файл bonus2.py. Текст характеру в лапках заміни на свій — це тут головне.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24712"/>
            <a:ext cx="10485120" cy="5520690"/>
          </a:xfrm>
          <a:prstGeom prst="roundRect">
            <a:avLst>
              <a:gd name="adj" fmla="val 2300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KEY = open("key.txt", encoding="utf-8").read().strip()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HEAD = {"Authorization": "Bearer " + KEY}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messages = [{"role": "system", "content": "Ти АІДА, весела помічниця."}]</a:t>
            </a:r>
          </a:p>
          <a:p>
            <a:pPr algn="l">
              <a:lnSpc>
                <a:spcPts val="1625"/>
              </a:lnSpc>
              <a:buNone/>
            </a:pPr>
            <a:endParaRPr lang="uk-UA" sz="1300"/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def ask(text):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"user", "content": text})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data = {"model": "gpt-4o-mini", "messages": messages}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r = requests.post(URL, headers=HEAD, json=data)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r.status_code != 200: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"Помилка. Код: " + str(r.status_code)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answer = r.json()["choices"][0]["message"]["content"]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"assistant", "content": answer})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return answer</a:t>
            </a:r>
          </a:p>
          <a:p>
            <a:pPr algn="l">
              <a:lnSpc>
                <a:spcPts val="1625"/>
              </a:lnSpc>
              <a:buNone/>
            </a:pPr>
            <a:endParaRPr lang="uk-UA" sz="1300"/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q = input("Ти: ")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q == "стоп":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if q == "будь піратом":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messages[0]["content"] = "Ти старий пірат. Кажи «йо-хо-хо», клич мене юнгою."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Йо-хо-хо! Слухаю, юнго.")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    continue</a:t>
            </a:r>
          </a:p>
          <a:p>
            <a:pPr algn="l">
              <a:lnSpc>
                <a:spcPts val="1625"/>
              </a:lnSpc>
              <a:buNone/>
            </a:pPr>
            <a:r>
              <a:rPr lang="uk-UA" sz="13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ask(q))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62604"/>
          </a:xfrm>
          <a:prstGeom prst="roundRect">
            <a:avLst>
              <a:gd name="adj" fmla="val 806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Розмова після закриття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Пам'ять є, поки програма працює. Питаю, як зберегти її до завтра.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станеться зі списком, коли програму закрити?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Де ми вже вчились зберігати щось надовго?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У якому вигляді список зручно покласти у файл?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634533"/>
          </a:xfrm>
          <a:prstGeom prst="roundRect">
            <a:avLst>
              <a:gd name="adj" fmla="val 495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chat.json — розмова у файлі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Список словників лягає у файл як є. Ті самі dump і load, що на уроці 3.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2214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json.dump(messages, f, ...) кладе весь список у файл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json.load(f) вертає його назад — саме списком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os.path.exists каже, чи є що читати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Зберігаємо після кожної відповіді, читаємо один раз на старті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49130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58731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80677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Системний промт при читанні приїде з файла — той, що був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учора. Якщо persona.txt відтоді змінили, зміну буде видно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тільки після «очисти» або після видалення chat.json.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Бонус. Набираємо: пам'ять у файлі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68096"/>
            <a:ext cx="10485120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Новий файл bonus3.py. Запусти двічі: другий раз — після того, як закриєш програму.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24712"/>
            <a:ext cx="10485120" cy="5520690"/>
          </a:xfrm>
          <a:prstGeom prst="roundRect">
            <a:avLst>
              <a:gd name="adj" fmla="val 2300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 fontScale="25000" lnSpcReduction="20000"/>
          </a:bodyPr>
          <a:lstStyle/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requests, json, os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KEY = open("key.txt", encoding="utf-8").read().strip()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HEAD = {"Authorization": "Bearer " + KEY}</a:t>
            </a:r>
          </a:p>
          <a:p>
            <a:pPr algn="l">
              <a:lnSpc>
                <a:spcPts val="1500"/>
              </a:lnSpc>
              <a:buNone/>
            </a:pPr>
            <a:endParaRPr lang="uk-UA" sz="1200"/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if os.path.exists("chat.json"):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messages = json.load(open("chat.json", encoding="utf-8"))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else: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messages = [{"role": "system", "content": "Ти АІДА, весела помічниця."}]</a:t>
            </a:r>
          </a:p>
          <a:p>
            <a:pPr algn="l">
              <a:lnSpc>
                <a:spcPts val="1500"/>
              </a:lnSpc>
              <a:buNone/>
            </a:pPr>
            <a:endParaRPr lang="uk-UA" sz="1200"/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def ask(text):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"user", "content": text})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data = {"model": "gpt-4o-mini", "messages": messages}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r = requests.post(URL, headers=HEAD, json=data)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r.status_code != 200: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"Помилка. Код: " + str(r.status_code)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answer = r.json()["choices"][0]["message"]["content"]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"assistant", "content": answer})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return answer</a:t>
            </a:r>
          </a:p>
          <a:p>
            <a:pPr algn="l">
              <a:lnSpc>
                <a:spcPts val="1500"/>
              </a:lnSpc>
              <a:buNone/>
            </a:pPr>
            <a:endParaRPr lang="uk-UA" sz="1200"/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q = input("Ти: ")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q == "стоп":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ask(q))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with open("chat.json", "w", encoding="utf-8") as f:</a:t>
            </a:r>
          </a:p>
          <a:p>
            <a:pPr algn="l">
              <a:lnSpc>
                <a:spcPts val="150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json.dump(messages, f, ensure_ascii=False, indent=2)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62604"/>
          </a:xfrm>
          <a:prstGeom prst="roundRect">
            <a:avLst>
              <a:gd name="adj" fmla="val 806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Питання: Коротші й дешевші відповіді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Останній запасний блок. Питаю, чи можна попросити модель бути коротшою.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12598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Коли довга відповідь заважає, а не допомагає?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вміє помічник сам зупинитись на потрібній довжині?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коштує дорожче: довге питання чи довга відповідь?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854092"/>
          </a:xfrm>
          <a:prstGeom prst="roundRect">
            <a:avLst>
              <a:gd name="adj" fmla="val 575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Бонус. max_tokens у запиті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Ще одне число в тілі запиту — тверда межа для довжини відповіді.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max_tokens — скільки шматків слів дозволено у відповіді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Ставиться в той самий словник data, поруч із model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Модель зупиниться на межі, навіть якщо не договорила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finish_reason у відповіді скаже, чому вона спинилась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71086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80687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02633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«stop» означає, що модель договорила сама; «length» — що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її спинила наша межа. Друге видно й очима: відповідь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обривається посеред речення.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549390"/>
          </a:xfrm>
          <a:prstGeom prst="roundRect">
            <a:avLst>
              <a:gd name="adj" fmla="val 426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4114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Бонус. Набираємо: межа довжини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68096"/>
            <a:ext cx="10485120" cy="30175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Новий файл bonus4.py. Запусти з max_tokens 120, потім постав 20 і запусти знову.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24712"/>
            <a:ext cx="10485120" cy="5520690"/>
          </a:xfrm>
          <a:prstGeom prst="roundRect">
            <a:avLst>
              <a:gd name="adj" fmla="val 2300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 fontScale="25000" lnSpcReduction="20000"/>
          </a:bodyPr>
          <a:lstStyle/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import requests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KEY = open("key.txt", encoding="utf-8").read().strip()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URL = "https://api.openai.com/v1/chat/completions"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HEAD = {"Authorization": "Bearer " + KEY}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messages = [{"role": "system", "content": "Ти АІДА, весела помічниця."}]</a:t>
            </a:r>
          </a:p>
          <a:p>
            <a:pPr algn="l">
              <a:lnSpc>
                <a:spcPts val="1750"/>
              </a:lnSpc>
              <a:buNone/>
            </a:pPr>
            <a:endParaRPr lang="uk-UA" sz="1400"/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def ask(text):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"user", "content": text})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data = {"model": "gpt-4o-mini", "max_tokens": 120, "messages": messages}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r = requests.post(URL, headers=HEAD, json=data)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r.status_code != 200: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return "Помилка. Код: " + str(r.status_code)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choice = r.json()["choices"][0]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print("[чому спинився]", choice["finish_reason"])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answer = choice["message"]["content"]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messages.append({"role": "assistant", "content": answer})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return answer</a:t>
            </a:r>
          </a:p>
          <a:p>
            <a:pPr algn="l">
              <a:lnSpc>
                <a:spcPts val="1750"/>
              </a:lnSpc>
              <a:buNone/>
            </a:pPr>
            <a:endParaRPr lang="uk-UA" sz="1400"/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q = input("Ти: ")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q == "стоп":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75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print("АІДА:", ask(q))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Уроки">
  <a:themeElements>
    <a:clrScheme name="Уроки">
      <a:dk1>
        <a:srgbClr val="1B1A17"/>
      </a:dk1>
      <a:lt1>
        <a:srgbClr val="FFFFFF"/>
      </a:lt1>
      <a:dk2>
        <a:srgbClr val="2B2823"/>
      </a:dk2>
      <a:lt2>
        <a:srgbClr val="F1EFE8"/>
      </a:lt2>
      <a:accent1>
        <a:srgbClr val="14513C"/>
      </a:accent1>
      <a:accent2>
        <a:srgbClr val="B9862F"/>
      </a:accent2>
      <a:accent3>
        <a:srgbClr val="9E4A3A"/>
      </a:accent3>
      <a:accent4>
        <a:srgbClr val="6C6860"/>
      </a:accent4>
      <a:accent5>
        <a:srgbClr val="E9EFE9"/>
      </a:accent5>
      <a:accent6>
        <a:srgbClr val="FFF6E3"/>
      </a:accent6>
      <a:hlink>
        <a:srgbClr val="14513C"/>
      </a:hlink>
      <a:folHlink>
        <a:srgbClr val="6C6860"/>
      </a:folHlink>
    </a:clrScheme>
    <a:fontScheme name="Уроки">
      <a:majorFont>
        <a:latin typeface="Onest"/>
        <a:ea typeface=""/>
        <a:cs typeface=""/>
      </a:majorFont>
      <a:minorFont>
        <a:latin typeface="Onest"/>
        <a:ea typeface=""/>
        <a:cs typeface=""/>
      </a:minorFont>
    </a:fontScheme>
    <a:fmtScheme name="Уроки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</TotalTime>
  <Words>14874</Words>
  <Application>Microsoft Macintosh PowerPoint</Application>
  <PresentationFormat>Widescreen</PresentationFormat>
  <Paragraphs>1597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Courier New</vt:lpstr>
      <vt:lpstr>Onest</vt:lpstr>
      <vt:lpstr>Уроки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Дмитро Штефан</cp:lastModifiedBy>
  <cp:revision>2</cp:revision>
  <dcterms:modified xsi:type="dcterms:W3CDTF">2026-10-27T13:46:30Z</dcterms:modified>
</cp:coreProperties>
</file>

<file path=docProps/core0.xml><?xml version="1.0" encoding="utf-8"?>
<cp:coreProperties xmlns:cp="http://schemas.openxmlformats.org/package/2006/metadata/core-properties" xmlns:dc="http://purl.org/dc/elements/1.1/" xmlns:xsi="http://www.w3.org/2001/XMLSchema-instance">
  <dc:title>Інтеграція з ChatGPT API. Частина 2: розумний асистент</dc:title>
  <dc:subject>Справжній розум: ChatGPT API · AI Assistant: створення помічника</dc:subject>
</cp:coreProperties>
</file>