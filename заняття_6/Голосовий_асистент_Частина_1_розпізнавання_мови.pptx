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перекличка і план</a:t>
            </a:r>
          </a:p>
          <a:p>
            <a:endParaRPr lang="uk-UA" sz="1200" dirty="0"/>
          </a:p>
          <a:p>
            <a:r>
              <a:rPr lang="uk-UA" sz="1200" dirty="0"/>
              <a:t>Цей слайд висить на екрані, поки я роблю перекличку. Група читає план сама —</a:t>
            </a:r>
          </a:p>
          <a:p>
            <a:r>
              <a:rPr lang="uk-UA" sz="1200" dirty="0"/>
              <a:t>мені говорити нічого не треба, і п'ять хвилин не пропадають.</a:t>
            </a:r>
          </a:p>
          <a:p>
            <a:endParaRPr lang="uk-UA" sz="1200" dirty="0"/>
          </a:p>
          <a:p>
            <a:r>
              <a:rPr lang="uk-UA" sz="1200" dirty="0"/>
              <a:t>Коли перекличка скінчилась, кажу головну думку уроку, і саме її варто сказати</a:t>
            </a:r>
          </a:p>
          <a:p>
            <a:r>
              <a:rPr lang="uk-UA" sz="1200" dirty="0"/>
              <a:t>першою, бо вона знімає страх: логіку помічника ми сьогодні не чіпаємо взагалі.</a:t>
            </a:r>
          </a:p>
          <a:p>
            <a:r>
              <a:rPr lang="uk-UA" sz="1200" dirty="0"/>
              <a:t>Ми міняємо одне джерело тексту на інше. Було input() з клавіатури — стане</a:t>
            </a:r>
          </a:p>
          <a:p>
            <a:r>
              <a:rPr lang="uk-UA" sz="1200" dirty="0"/>
              <a:t>голос із мікрофона. Усе, що писали п'ять уроків, — ANSWERS, ask_ai, пам'ять,</a:t>
            </a:r>
          </a:p>
          <a:p>
            <a:r>
              <a:rPr lang="uk-UA" sz="1200" dirty="0"/>
              <a:t>персона — працює далі як працювало.</a:t>
            </a:r>
          </a:p>
          <a:p>
            <a:endParaRPr lang="uk-UA" sz="1200" dirty="0"/>
          </a:p>
          <a:p>
            <a:r>
              <a:rPr lang="uk-UA" sz="1200" dirty="0"/>
              <a:t>Показую це на пальцях: помічник — це коробка, у яку заходить текст і з якої</a:t>
            </a:r>
          </a:p>
          <a:p>
            <a:r>
              <a:rPr lang="uk-UA" sz="1200" dirty="0"/>
              <a:t>виходить текст. Сьогодні міняємо двері на вході. Наступного разу — двері на</a:t>
            </a:r>
          </a:p>
          <a:p>
            <a:r>
              <a:rPr lang="uk-UA" sz="1200" dirty="0"/>
              <a:t>виході, коли він заговорить.</a:t>
            </a:r>
          </a:p>
          <a:p>
            <a:endParaRPr lang="uk-UA" sz="1200" dirty="0"/>
          </a:p>
          <a:p>
            <a:r>
              <a:rPr lang="uk-UA" sz="1200" dirty="0"/>
              <a:t>Як іде пара, кажу одразу, бо це знімає половину питань: шість однакових</a:t>
            </a:r>
          </a:p>
          <a:p>
            <a:r>
              <a:rPr lang="uk-UA" sz="1200" dirty="0"/>
              <a:t>кроків. Спершу я показую на телевізорі й пояснюю — усі дивляться, ніхто нічого</a:t>
            </a:r>
          </a:p>
          <a:p>
            <a:r>
              <a:rPr lang="uk-UA" sz="1200" dirty="0"/>
              <a:t>не набирає. Потім на екрані з'являється те, що треба набрати, — і набирають</a:t>
            </a:r>
          </a:p>
          <a:p>
            <a:r>
              <a:rPr lang="uk-UA" sz="1200" dirty="0"/>
              <a:t>усі. Вигадувати нічого не треба, усе буде на екрані.</a:t>
            </a:r>
          </a:p>
          <a:p>
            <a:endParaRPr lang="uk-UA" sz="1200" dirty="0"/>
          </a:p>
          <a:p>
            <a:r>
              <a:rPr lang="uk-UA" sz="1200" dirty="0"/>
              <a:t>Чесно попереджаю про початок: найнудніша частина сьогодні перша — установка</a:t>
            </a:r>
          </a:p>
          <a:p>
            <a:r>
              <a:rPr lang="uk-UA" sz="1200" dirty="0"/>
              <a:t>бібліотек. У когось стане за хвилину, у когось не стане взагалі, і це</a:t>
            </a:r>
          </a:p>
          <a:p>
            <a:r>
              <a:rPr lang="uk-UA" sz="1200" dirty="0"/>
              <a:t>нормально; вау-ефект одразу після неї.</a:t>
            </a:r>
          </a:p>
          <a:p>
            <a:endParaRPr lang="uk-UA" sz="1200" dirty="0"/>
          </a:p>
          <a:p>
            <a:r>
              <a:rPr lang="uk-UA" sz="1200" dirty="0"/>
              <a:t>Технічна підготовка ДО заняття: перевірити мікрофони на всіх машинах,</a:t>
            </a:r>
          </a:p>
          <a:p>
            <a:r>
              <a:rPr lang="uk-UA" sz="1200" dirty="0"/>
              <a:t>поставити PyAudio заздалегідь, мати одну-дві запасні гарнітури і готовий файл,</a:t>
            </a:r>
          </a:p>
          <a:p>
            <a:r>
              <a:rPr lang="uk-UA" sz="1200" dirty="0"/>
              <a:t>де listen() підмінено на input(). Якщо мікрофонів немає взагалі — веду</a:t>
            </a:r>
          </a:p>
          <a:p>
            <a:r>
              <a:rPr lang="uk-UA" sz="1200" dirty="0"/>
              <a:t>демонстраційно на своєму комп'ютері, а група набирає ту саму програму й</a:t>
            </a:r>
          </a:p>
          <a:p>
            <a:r>
              <a:rPr lang="uk-UA" sz="1200" dirty="0"/>
              <a:t>перевіряє її з клавіатури.</a:t>
            </a:r>
          </a:p>
          <a:p>
            <a:endParaRPr lang="uk-UA" sz="1200" dirty="0"/>
          </a:p>
          <a:p>
            <a:r>
              <a:rPr lang="uk-UA" sz="1200" dirty="0"/>
              <a:t>Ще одне кажу заздалегідь: розпізнавання ходить в інтернет, як і ChatGPT. Немає</a:t>
            </a:r>
          </a:p>
          <a:p>
            <a:r>
              <a:rPr lang="uk-UA" sz="1200" dirty="0"/>
              <a:t>мережі — немає голосу. Це не поломка коду.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на початку уроку. Питання ведуть до головної думки пари: голосовий</a:t>
            </a:r>
          </a:p>
          <a:p>
            <a:r>
              <a:rPr lang="uk-UA" sz="1200" dirty="0"/>
              <a:t>помічник — це той самий помічник із перекладачем на вході.</a:t>
            </a:r>
          </a:p>
          <a:p>
            <a:endParaRPr lang="uk-UA" sz="1200" dirty="0"/>
          </a:p>
          <a:p>
            <a:r>
              <a:rPr lang="uk-UA" sz="1200" dirty="0"/>
              <a:t>ЩО РОБИТЬ ЗІ ЗВУКОМ. Кажуть: записує. Питаю у що. Правильна відповідь — у</a:t>
            </a:r>
          </a:p>
          <a:p>
            <a:r>
              <a:rPr lang="uk-UA" sz="1200" dirty="0"/>
              <a:t>числа; якщо не звучить, кажу сам одним реченням. Довго тут не стою.</a:t>
            </a:r>
          </a:p>
          <a:p>
            <a:endParaRPr lang="uk-UA" sz="1200" dirty="0"/>
          </a:p>
          <a:p>
            <a:r>
              <a:rPr lang="uk-UA" sz="1200" dirty="0"/>
              <a:t>ЧИ РОЗУМІЄ ЗВУК ЯК ТЕКСТ. Відповідь: ні. Кажу, що весь наш код з уроків 2–5</a:t>
            </a:r>
          </a:p>
          <a:p>
            <a:r>
              <a:rPr lang="uk-UA" sz="1200" dirty="0"/>
              <a:t>працює з рядками, і жоден рядок не вміє слухати. Отже, звук треба перекласти в</a:t>
            </a:r>
          </a:p>
          <a:p>
            <a:r>
              <a:rPr lang="uk-UA" sz="1200" dirty="0"/>
              <a:t>рядок — і на цьому місці урок закінчується, решта деталі.</a:t>
            </a:r>
          </a:p>
          <a:p>
            <a:endParaRPr lang="uk-UA" sz="1200" dirty="0"/>
          </a:p>
          <a:p>
            <a:r>
              <a:rPr lang="uk-UA" sz="1200" dirty="0"/>
              <a:t>ХТО ПЕРЕКЛАДАЄ. Найкорисніше питання. Кажуть: наша програма. Кажу: ні, ми</a:t>
            </a:r>
          </a:p>
          <a:p>
            <a:r>
              <a:rPr lang="uk-UA" sz="1200" dirty="0"/>
              <a:t>надішлемо запис туди, де це вміють, — рівно як питання на уроці 4. Паралель із</a:t>
            </a:r>
          </a:p>
          <a:p>
            <a:r>
              <a:rPr lang="uk-UA" sz="1200" dirty="0"/>
              <a:t>віконцем видачі варто назвати вголос: сьогодні у віконце подають не текст, а</a:t>
            </a:r>
          </a:p>
          <a:p>
            <a:r>
              <a:rPr lang="uk-UA" sz="1200" dirty="0"/>
              <a:t>звук.</a:t>
            </a:r>
          </a:p>
          <a:p>
            <a:endParaRPr lang="uk-UA" sz="1200" dirty="0"/>
          </a:p>
          <a:p>
            <a:r>
              <a:rPr lang="uk-UA" sz="1200" dirty="0"/>
              <a:t>ЩО ЗМІНИТЬСЯ В ПОМІЧНИКОВІ. Правильна відповідь дивує: один рядок. Замість</a:t>
            </a:r>
          </a:p>
          <a:p>
            <a:r>
              <a:rPr lang="uk-UA" sz="1200" dirty="0"/>
              <a:t>input буде listen. Кажу це заздалегідь — далі весь урок читається спокійніше,</a:t>
            </a:r>
          </a:p>
          <a:p>
            <a:r>
              <a:rPr lang="uk-UA" sz="1200" dirty="0"/>
              <a:t>бо видно, куди він іде.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Рамка всього уроку. Розповідаю сам, група слухає й нічого не набирає — про це</a:t>
            </a:r>
          </a:p>
          <a:p>
            <a:r>
              <a:rPr lang="uk-UA" sz="1200" dirty="0"/>
              <a:t>попереджаю окремо, інакше половина вже полізе в клавіатуру.</a:t>
            </a:r>
          </a:p>
          <a:p>
            <a:endParaRPr lang="uk-UA" sz="1200" dirty="0"/>
          </a:p>
          <a:p>
            <a:r>
              <a:rPr lang="uk-UA" sz="1200" dirty="0"/>
              <a:t>Кажу по кроках, малюючи ланцюжок на дошці: голос — мікрофон — запис — сервіс —</a:t>
            </a:r>
          </a:p>
          <a:p>
            <a:r>
              <a:rPr lang="uk-UA" sz="1200" dirty="0"/>
              <a:t>текст — наша програма.</a:t>
            </a:r>
          </a:p>
          <a:p>
            <a:endParaRPr lang="uk-UA" sz="1200" dirty="0"/>
          </a:p>
          <a:p>
            <a:r>
              <a:rPr lang="uk-UA" sz="1200" dirty="0"/>
              <a:t>МІКРОФОН. Він не «чує слова». Він міряє коливання повітря багато тисяч разів на</a:t>
            </a:r>
          </a:p>
          <a:p>
            <a:r>
              <a:rPr lang="uk-UA" sz="1200" dirty="0"/>
              <a:t>секунду й перетворює їх на числа. Запис — це довгий список чисел, і в ньому</a:t>
            </a:r>
          </a:p>
          <a:p>
            <a:r>
              <a:rPr lang="uk-UA" sz="1200" dirty="0"/>
              <a:t>жодних слів у ньому немає.</a:t>
            </a:r>
          </a:p>
          <a:p>
            <a:endParaRPr lang="uk-UA" sz="1200" dirty="0"/>
          </a:p>
          <a:p>
            <a:r>
              <a:rPr lang="uk-UA" sz="1200" dirty="0"/>
              <a:t>СЕРВІС РОЗПІЗНАВАННЯ. Саме він перетворює числа на текст. Це велика навчена</a:t>
            </a:r>
          </a:p>
          <a:p>
            <a:r>
              <a:rPr lang="uk-UA" sz="1200" dirty="0"/>
              <a:t>модель, така сама чужа програма на чужому сервері, як ChatGPT. Наголошую: це</a:t>
            </a:r>
          </a:p>
          <a:p>
            <a:r>
              <a:rPr lang="uk-UA" sz="1200" dirty="0"/>
              <a:t>знову запит через інтернет — з усіма наслідками з уроку 4.</a:t>
            </a:r>
          </a:p>
          <a:p>
            <a:endParaRPr lang="uk-UA" sz="1200" dirty="0"/>
          </a:p>
          <a:p>
            <a:r>
              <a:rPr lang="uk-UA" sz="1200" dirty="0"/>
              <a:t>НАША ПРОГРАМА. Вона отримує звичайний рядок і працює з ним рівно так, як</a:t>
            </a:r>
          </a:p>
          <a:p>
            <a:r>
              <a:rPr lang="uk-UA" sz="1200" dirty="0"/>
              <a:t>працювала з тим, що набрали з клавіатури.</a:t>
            </a:r>
          </a:p>
          <a:p>
            <a:endParaRPr lang="uk-UA" sz="1200" dirty="0"/>
          </a:p>
          <a:p>
            <a:r>
              <a:rPr lang="uk-UA" sz="1200" dirty="0"/>
              <a:t>Найважливіше речення блоку: голосовий помічник — це той самий помічник із</a:t>
            </a:r>
          </a:p>
          <a:p>
            <a:r>
              <a:rPr lang="uk-UA" sz="1200" dirty="0"/>
              <a:t>перекладачем на вході. Прошу групу згадати урок 1, де ми казали, що голосовий і</a:t>
            </a:r>
          </a:p>
          <a:p>
            <a:r>
              <a:rPr lang="uk-UA" sz="1200" dirty="0"/>
              <a:t>текстовий помічники всередині однакові. Ось воно, підтвердилось.</a:t>
            </a:r>
          </a:p>
          <a:p>
            <a:endParaRPr lang="uk-UA" sz="1200" dirty="0"/>
          </a:p>
          <a:p>
            <a:r>
              <a:rPr lang="uk-UA" sz="1200" dirty="0"/>
              <a:t>Питання, яке буде обов'язково: чи можна розпізнавати без інтернету? Можна, є</a:t>
            </a:r>
          </a:p>
          <a:p>
            <a:r>
              <a:rPr lang="uk-UA" sz="1200" dirty="0"/>
              <a:t>офлайн-моделі (Vosk), але вони важчі й точність нижча. Сьогодні беремо онлайн.</a:t>
            </a:r>
          </a:p>
          <a:p>
            <a:endParaRPr lang="uk-UA" sz="1200" dirty="0"/>
          </a:p>
          <a:p>
            <a:r>
              <a:rPr lang="uk-UA" sz="1200" dirty="0"/>
              <a:t>Друге питання: чи чує нас Google весь час? Ні. Запис іде тільки тоді, коли</a:t>
            </a:r>
          </a:p>
          <a:p>
            <a:r>
              <a:rPr lang="uk-UA" sz="1200" dirty="0"/>
              <a:t>програма викликала listen, і тільки та фраза, яку вона записала. Але кажу чесно:</a:t>
            </a:r>
          </a:p>
          <a:p>
            <a:r>
              <a:rPr lang="uk-UA" sz="1200" dirty="0"/>
              <a:t>цей звук справді їде на чужий сервер, тому вголос при мікрофоні не називають</a:t>
            </a:r>
          </a:p>
          <a:p>
            <a:r>
              <a:rPr lang="uk-UA" sz="1200" dirty="0"/>
              <a:t>паролі й особисте.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дві команди, які принесуть перекладач у нашу папку.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Найнудніші сім хвилин уроку, і я кажу про це групі чесно: зараз буде технічна</a:t>
            </a:r>
          </a:p>
          <a:p>
            <a:r>
              <a:rPr lang="uk-UA" sz="1200" dirty="0"/>
              <a:t>частина, після неї помічник почує.</a:t>
            </a:r>
          </a:p>
          <a:p>
            <a:endParaRPr lang="uk-UA" sz="1200" dirty="0"/>
          </a:p>
          <a:p>
            <a:r>
              <a:rPr lang="uk-UA" sz="1200" dirty="0"/>
              <a:t>Диктую вголос по одній команді й чекаю, поки в класі затихне клавіатура.</a:t>
            </a:r>
          </a:p>
          <a:p>
            <a:endParaRPr lang="uk-UA" sz="1200" dirty="0"/>
          </a:p>
          <a:p>
            <a:r>
              <a:rPr lang="uk-UA" sz="1200" dirty="0"/>
              <a:t>pip install SpeechRecognition — бібліотека, яка вміє надсилати запис на сервіс і</a:t>
            </a:r>
          </a:p>
          <a:p>
            <a:r>
              <a:rPr lang="uk-UA" sz="1200" dirty="0"/>
              <a:t>читати відповідь. Наголошую на написанні: велика S, велика R, разом, без</a:t>
            </a:r>
          </a:p>
          <a:p>
            <a:r>
              <a:rPr lang="uk-UA" sz="1200" dirty="0"/>
              <a:t>пробілу й без дефіса. Це найчастіша помилка рядка.</a:t>
            </a:r>
          </a:p>
          <a:p>
            <a:endParaRPr lang="uk-UA" sz="1200" dirty="0"/>
          </a:p>
          <a:p>
            <a:r>
              <a:rPr lang="uk-UA" sz="1200" dirty="0"/>
              <a:t>pip install PyAudio — те, що дає програмі доступ до мікрофона. Це найпроблемніша</a:t>
            </a:r>
          </a:p>
          <a:p>
            <a:r>
              <a:rPr lang="uk-UA" sz="1200" dirty="0"/>
              <a:t>установка на курсі: усередині там не Python, а код, зібраний під конкретну</a:t>
            </a:r>
          </a:p>
          <a:p>
            <a:r>
              <a:rPr lang="uk-UA" sz="1200" dirty="0"/>
              <a:t>систему. Тому на слайді одразу лежить обхідний шлях для Windows. Хай набирають</a:t>
            </a:r>
          </a:p>
          <a:p>
            <a:r>
              <a:rPr lang="uk-UA" sz="1200" dirty="0"/>
              <a:t>його тільки ті, у кого перша команда впала червоним.</a:t>
            </a:r>
          </a:p>
          <a:p>
            <a:endParaRPr lang="uk-UA" sz="1200" dirty="0"/>
          </a:p>
          <a:p>
            <a:r>
              <a:rPr lang="uk-UA" sz="1200" dirty="0"/>
              <a:t>Останній рядок — тиха перевірка. python -c означає «виконай оцей один рядок і</a:t>
            </a:r>
          </a:p>
          <a:p>
            <a:r>
              <a:rPr lang="uk-UA" sz="1200" dirty="0"/>
              <a:t>вийди». Якщо бібліотека на місці, він не надрукує нічого. Кажу це заздалегідь,</a:t>
            </a:r>
          </a:p>
          <a:p>
            <a:r>
              <a:rPr lang="uk-UA" sz="1200" dirty="0"/>
              <a:t>бо мовчання екрана діти читають як «не спрацювало».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SpeechRecognition написали з пробілом або з малої — команда не знаходить</a:t>
            </a:r>
          </a:p>
          <a:p>
            <a:r>
              <a:rPr lang="uk-UA" sz="1200" dirty="0"/>
              <a:t>    пакета й пише could not find a version;</a:t>
            </a:r>
          </a:p>
          <a:p>
            <a:r>
              <a:rPr lang="uk-UA" sz="1200" dirty="0"/>
              <a:t>    pip не знайдено взагалі — тоді python -m pip install SpeechRecognition;</a:t>
            </a:r>
          </a:p>
          <a:p>
            <a:r>
              <a:rPr lang="uk-UA" sz="1200" dirty="0"/>
              <a:t>    PyAudio падає довгим червоним текстом зі словом wheel — це той самий</a:t>
            </a:r>
          </a:p>
          <a:p>
            <a:r>
              <a:rPr lang="uk-UA" sz="1200" dirty="0"/>
              <a:t>    випадок, для якого на слайді стоять pipwin і pipwin install pyaudio;</a:t>
            </a:r>
          </a:p>
          <a:p>
            <a:r>
              <a:rPr lang="uk-UA" sz="1200" dirty="0"/>
              <a:t>    після pipwin теж червоне — саджу в пару із сусідом, у кого стало. Це не</a:t>
            </a:r>
          </a:p>
          <a:p>
            <a:r>
              <a:rPr lang="uk-UA" sz="1200" dirty="0"/>
              <a:t>    поразка: «один набирає, другий перевіряє голосом» — нормальний розподіл.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набере ще один рядок — pip show SpeechRecognition — і</a:t>
            </a:r>
          </a:p>
          <a:p>
            <a:r>
              <a:rPr lang="uk-UA" sz="1200" dirty="0"/>
              <a:t>прочитає вголос номер версії.</a:t>
            </a:r>
          </a:p>
          <a:p>
            <a:endParaRPr lang="uk-UA" sz="1200" dirty="0"/>
          </a:p>
          <a:p>
            <a:r>
              <a:rPr lang="uk-UA" sz="1200" dirty="0"/>
              <a:t>Наступний блок — перевіримо, чи бачить програма мікрофон.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&gt; pip install SpeechRecognition</a:t>
            </a:r>
          </a:p>
          <a:p>
            <a:r>
              <a:rPr lang="uk-UA" sz="1200" dirty="0"/>
              <a:t>Collecting SpeechRecognition</a:t>
            </a:r>
          </a:p>
          <a:p>
            <a:r>
              <a:rPr lang="uk-UA" sz="1200" dirty="0"/>
              <a:t>Successfully installed SpeechRecognition-3.10.4</a:t>
            </a:r>
          </a:p>
          <a:p>
            <a:endParaRPr lang="uk-UA" sz="1200" dirty="0"/>
          </a:p>
          <a:p>
            <a:r>
              <a:rPr lang="uk-UA" sz="1200" dirty="0"/>
              <a:t>&gt; pip install PyAudio</a:t>
            </a:r>
          </a:p>
          <a:p>
            <a:r>
              <a:rPr lang="uk-UA" sz="1200" dirty="0"/>
              <a:t>Successfully installed PyAudio-0.2.14</a:t>
            </a:r>
          </a:p>
          <a:p>
            <a:endParaRPr lang="uk-UA" sz="1200" dirty="0"/>
          </a:p>
          <a:p>
            <a:r>
              <a:rPr lang="uk-UA" sz="1200" dirty="0"/>
              <a:t>&gt; python -c "import speech_recognition"</a:t>
            </a:r>
          </a:p>
          <a:p>
            <a:r>
              <a:rPr lang="uk-UA" sz="1200" dirty="0"/>
              <a:t>(жодного рядка у відповідь)</a:t>
            </a:r>
          </a:p>
          <a:p>
            <a:endParaRPr lang="uk-UA" sz="1200" dirty="0"/>
          </a:p>
          <a:p>
            <a:r>
              <a:rPr lang="uk-UA" sz="1200" dirty="0"/>
              <a:t>Головне: остання команда МОВЧИТЬ. Мовчання тут означає «бібліотека</a:t>
            </a:r>
          </a:p>
          <a:p>
            <a:r>
              <a:rPr lang="uk-UA" sz="1200" dirty="0"/>
              <a:t>на місці». Якщо вона написала ModuleNotFoundError — перша команда</a:t>
            </a:r>
          </a:p>
          <a:p>
            <a:r>
              <a:rPr lang="uk-UA" sz="1200" dirty="0"/>
              <a:t>не пройшла, і треба повторити її.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перевіркою мікрофона. Ці питання економлять двадцять хвилин</a:t>
            </a:r>
          </a:p>
          <a:p>
            <a:r>
              <a:rPr lang="uk-UA" sz="1200" dirty="0"/>
              <a:t>пари, тому їх варто поставити навіть тим групам, де все працює.</a:t>
            </a:r>
          </a:p>
          <a:p>
            <a:endParaRPr lang="uk-UA" sz="1200" dirty="0"/>
          </a:p>
          <a:p>
            <a:r>
              <a:rPr lang="uk-UA" sz="1200" dirty="0"/>
              <a:t>ЧИ МОЖЕ НЕ ПРАЦЮВАТИ. Кажуть: так, у мене на зумі не працював. Прошу розповісти</a:t>
            </a:r>
          </a:p>
          <a:p>
            <a:r>
              <a:rPr lang="uk-UA" sz="1200" dirty="0"/>
              <a:t>— історія знайдеться в кожній групі. Кажу вголос: мікрофон у ноутбуці є завжди,</a:t>
            </a:r>
          </a:p>
          <a:p>
            <a:r>
              <a:rPr lang="uk-UA" sz="1200" dirty="0"/>
              <a:t>а от чи дозволено ним користуватись цій програмі — окреме питання.</a:t>
            </a:r>
          </a:p>
          <a:p>
            <a:endParaRPr lang="uk-UA" sz="1200" dirty="0"/>
          </a:p>
          <a:p>
            <a:r>
              <a:rPr lang="uk-UA" sz="1200" dirty="0"/>
              <a:t>ХТО МІГ ЗАЙНЯТИ. Найпрактичніше питання уроку. Відповіді: браузер із відкритим</a:t>
            </a:r>
          </a:p>
          <a:p>
            <a:r>
              <a:rPr lang="uk-UA" sz="1200" dirty="0"/>
              <a:t>дзвінком, Discord, Zoom, диктофон. Прошу одразу закрити все, що назвали, — це</a:t>
            </a:r>
          </a:p>
          <a:p>
            <a:r>
              <a:rPr lang="uk-UA" sz="1200" dirty="0"/>
              <a:t>рівно та дія, яка полагодить половину проблем сьогодні.</a:t>
            </a:r>
          </a:p>
          <a:p>
            <a:endParaRPr lang="uk-UA" sz="1200" dirty="0"/>
          </a:p>
          <a:p>
            <a:r>
              <a:rPr lang="uk-UA" sz="1200" dirty="0"/>
              <a:t>КОД ЧИ ПЕРЕВІРКА. Правильна відповідь: перевірка. Кажу дорослу річ: коли щось</a:t>
            </a:r>
          </a:p>
          <a:p>
            <a:r>
              <a:rPr lang="uk-UA" sz="1200" dirty="0"/>
              <a:t>не працює, спершу перевіряють найпростіше й найнижче — чи є пристрій, чи є</a:t>
            </a:r>
          </a:p>
          <a:p>
            <a:r>
              <a:rPr lang="uk-UA" sz="1200" dirty="0"/>
              <a:t>мережа, чи той файл. Це називається перевіряти згори вниз, і це економить</a:t>
            </a:r>
          </a:p>
          <a:p>
            <a:r>
              <a:rPr lang="uk-UA" sz="1200" dirty="0"/>
              <a:t>години.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буде рівно шість рядків перевірки.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Короткий блок, який рятує другу половину уроку. Без нього діти шукатимуть</a:t>
            </a:r>
          </a:p>
          <a:p>
            <a:r>
              <a:rPr lang="uk-UA" sz="1200" dirty="0"/>
              <a:t>помилку в коді розпізнавання тоді, коли мікрофон просто вимкнений.</a:t>
            </a:r>
          </a:p>
          <a:p>
            <a:endParaRPr lang="uk-UA" sz="1200" dirty="0"/>
          </a:p>
          <a:p>
            <a:r>
              <a:rPr lang="uk-UA" sz="1200" dirty="0"/>
              <a:t>Пояснюю, звідки береться список. Система знає всі пристрої, які до неї</a:t>
            </a:r>
          </a:p>
          <a:p>
            <a:r>
              <a:rPr lang="uk-UA" sz="1200" dirty="0"/>
              <a:t>під'єднані: вбудований мікрофон ноутбука, гарнітура, вебкамера з мікрофоном,</a:t>
            </a:r>
          </a:p>
          <a:p>
            <a:r>
              <a:rPr lang="uk-UA" sz="1200" dirty="0"/>
              <a:t>іноді ще й віртуальні пристрої від інших програм. PyAudio питає систему, а</a:t>
            </a:r>
          </a:p>
          <a:p>
            <a:r>
              <a:rPr lang="uk-UA" sz="1200" dirty="0"/>
              <a:t>list_microphone_names віддає нам їхні назви звичайним списком рядків — тим</a:t>
            </a:r>
          </a:p>
          <a:p>
            <a:r>
              <a:rPr lang="uk-UA" sz="1200" dirty="0"/>
              <a:t>самим списком, який ми робили на уроці 1 з ANSWERS.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свій список і читаю вголос дві-три назви. Вони довгі й</a:t>
            </a:r>
          </a:p>
          <a:p>
            <a:r>
              <a:rPr lang="uk-UA" sz="1200" dirty="0"/>
              <a:t>незрозумілі — кажу, що читати їх не треба, важлива тільки довжина списку.</a:t>
            </a:r>
          </a:p>
          <a:p>
            <a:endParaRPr lang="uk-UA" sz="1200" dirty="0"/>
          </a:p>
          <a:p>
            <a:r>
              <a:rPr lang="uk-UA" sz="1200" dirty="0"/>
              <a:t>Далі найголовніше: що означає порожній список. Це не поломка коду. Це одне з</a:t>
            </a:r>
          </a:p>
          <a:p>
            <a:r>
              <a:rPr lang="uk-UA" sz="1200" dirty="0"/>
              <a:t>трьох: мікрофон вимкнено в налаштуваннях системи; програмам не дано дозвіл на</a:t>
            </a:r>
          </a:p>
          <a:p>
            <a:r>
              <a:rPr lang="uk-UA" sz="1200" dirty="0"/>
              <a:t>мікрофон (на Windows це окремий перемикач у налаштуваннях приватності, на</a:t>
            </a:r>
          </a:p>
          <a:p>
            <a:r>
              <a:rPr lang="uk-UA" sz="1200" dirty="0"/>
              <a:t>macOS — питання, яке колись натиснули «заборонити»); або мікрофон зайняла інша</a:t>
            </a:r>
          </a:p>
          <a:p>
            <a:r>
              <a:rPr lang="uk-UA" sz="1200" dirty="0"/>
              <a:t>програма — найчастіше браузер із відкритою вкладкою дзвінка.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телевізорі, де саме в системі це вмикається, — повільно, бо</a:t>
            </a:r>
          </a:p>
          <a:p>
            <a:r>
              <a:rPr lang="uk-UA" sz="1200" dirty="0"/>
              <a:t>половина групи туди ніколи не заходила.</a:t>
            </a:r>
          </a:p>
          <a:p>
            <a:endParaRPr lang="uk-UA" sz="1200" dirty="0"/>
          </a:p>
          <a:p>
            <a:r>
              <a:rPr lang="uk-UA" sz="1200" dirty="0"/>
              <a:t>Питання групі: якщо в списку три мікрофони, який із них слухатиме програма?</a:t>
            </a:r>
          </a:p>
          <a:p>
            <a:r>
              <a:rPr lang="uk-UA" sz="1200" dirty="0"/>
              <a:t>Відповідь: той, який у системі позначений пристроєм за замовчуванням. Міняється</a:t>
            </a:r>
          </a:p>
          <a:p>
            <a:r>
              <a:rPr lang="uk-UA" sz="1200" dirty="0"/>
              <a:t>він у тих самих налаштуваннях, а не в коді.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п'ять рядків, які надрукують цей список у кожного</a:t>
            </a:r>
          </a:p>
          <a:p>
            <a:r>
              <a:rPr lang="uk-UA" sz="1200" dirty="0"/>
              <a:t>на екрані.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Сім хвилин на п'ять рядків — це багато, і навмисно: половина часу піде не на</a:t>
            </a:r>
          </a:p>
          <a:p>
            <a:r>
              <a:rPr lang="uk-UA" sz="1200" dirty="0"/>
              <a:t>набирання, а на те, щоб у кожного в класі мікрофон справді знайшовся.</a:t>
            </a:r>
          </a:p>
          <a:p>
            <a:endParaRPr lang="uk-UA" sz="1200" dirty="0"/>
          </a:p>
          <a:p>
            <a:r>
              <a:rPr lang="uk-UA" sz="1200" dirty="0"/>
              <a:t>Диктую вголос порядок: створити файл check_mic.py у папці проєкту (там же, де</a:t>
            </a:r>
          </a:p>
          <a:p>
            <a:r>
              <a:rPr lang="uk-UA" sz="1200" dirty="0"/>
              <a:t>лежить помічник з уроку 5), набрати рядки з екрана, зберегти, запустити.</a:t>
            </a:r>
          </a:p>
          <a:p>
            <a:endParaRPr lang="uk-UA" sz="1200" dirty="0"/>
          </a:p>
          <a:p>
            <a:r>
              <a:rPr lang="uk-UA" sz="1200" dirty="0"/>
              <a:t>Пояснюю на ходу, що набирають. import speech_recognition as sr — «as sr»</a:t>
            </a:r>
          </a:p>
          <a:p>
            <a:r>
              <a:rPr lang="uk-UA" sz="1200" dirty="0"/>
              <a:t>означає «далі називатимемо це коротко»; назва бібліотеки довга, і писати її</a:t>
            </a:r>
          </a:p>
          <a:p>
            <a:r>
              <a:rPr lang="uk-UA" sz="1200" dirty="0"/>
              <a:t>щоразу незручно. Наступний рядок кладе список назв у змінну names, len(names) —</a:t>
            </a:r>
          </a:p>
          <a:p>
            <a:r>
              <a:rPr lang="uk-UA" sz="1200" dirty="0"/>
              <a:t>скільки їх у списку, а цикл for друкує номер і назву кожного пристрою.</a:t>
            </a:r>
          </a:p>
          <a:p>
            <a:endParaRPr lang="uk-UA" sz="1200" dirty="0"/>
          </a:p>
          <a:p>
            <a:r>
              <a:rPr lang="uk-UA" sz="1200" dirty="0"/>
              <a:t>Про enumerate кажу одним реченням: це «нумеруй, поки йдеш» — у i лягає номер, у</a:t>
            </a:r>
          </a:p>
          <a:p>
            <a:r>
              <a:rPr lang="uk-UA" sz="1200" dirty="0"/>
              <a:t>name сама назва. Розбирати його глибше сьогодні не треба, ми його набираємо, а</a:t>
            </a:r>
          </a:p>
          <a:p>
            <a:r>
              <a:rPr lang="uk-UA" sz="1200" dirty="0"/>
              <a:t>не вивчаємо.</a:t>
            </a:r>
          </a:p>
          <a:p>
            <a:endParaRPr lang="uk-UA" sz="1200" dirty="0"/>
          </a:p>
          <a:p>
            <a:r>
              <a:rPr lang="uk-UA" sz="1200" dirty="0"/>
              <a:t>Ходжу по класу й дивлюсь на перший надрукований рядок у кожного. Помилки в</a:t>
            </a:r>
          </a:p>
          <a:p>
            <a:r>
              <a:rPr lang="uk-UA" sz="1200" dirty="0"/>
              <a:t>порядку частоти:</a:t>
            </a:r>
          </a:p>
          <a:p>
            <a:r>
              <a:rPr lang="uk-UA" sz="1200" dirty="0"/>
              <a:t>    ModuleNotFoundError: No module named 'speech_recognition' — бібліотека не</a:t>
            </a:r>
          </a:p>
          <a:p>
            <a:r>
              <a:rPr lang="uk-UA" sz="1200" dirty="0"/>
              <a:t>    поставилась у попередньому блоці, вертаємось до pip;</a:t>
            </a:r>
          </a:p>
          <a:p>
            <a:r>
              <a:rPr lang="uk-UA" sz="1200" dirty="0"/>
              <a:t>    червона помилка зі словом PyAudio — не став PyAudio, тобто список узяти</a:t>
            </a:r>
          </a:p>
          <a:p>
            <a:r>
              <a:rPr lang="uk-UA" sz="1200" dirty="0"/>
              <a:t>    нема звідки;</a:t>
            </a:r>
          </a:p>
          <a:p>
            <a:r>
              <a:rPr lang="uk-UA" sz="1200" dirty="0"/>
              <a:t>    IndentationError — рядок під for набрали без чотирьох пробілів;</a:t>
            </a:r>
          </a:p>
          <a:p>
            <a:r>
              <a:rPr lang="uk-UA" sz="1200" dirty="0"/>
              <a:t>    надрукувалось «Мікрофонів знайдено: 0» — це не помилка коду, це система:</a:t>
            </a:r>
          </a:p>
          <a:p>
            <a:r>
              <a:rPr lang="uk-UA" sz="1200" dirty="0"/>
              <a:t>    відкриваємо налаштування, вмикаємо мікрофон, закриваємо браузер із дзвінком</a:t>
            </a:r>
          </a:p>
          <a:p>
            <a:r>
              <a:rPr lang="uk-UA" sz="1200" dirty="0"/>
              <a:t>    і запускаємо ще раз.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останнім рядком файла ще один —</a:t>
            </a:r>
          </a:p>
          <a:p>
            <a:r>
              <a:rPr lang="uk-UA" sz="1200" dirty="0"/>
              <a:t>print("Перший у списку:", names[0]) — і побачить, який саме пристрій програма</a:t>
            </a:r>
          </a:p>
          <a:p>
            <a:r>
              <a:rPr lang="uk-UA" sz="1200" dirty="0"/>
              <a:t>візьме за замовчуванням.</a:t>
            </a:r>
          </a:p>
          <a:p>
            <a:endParaRPr lang="uk-UA" sz="1200" dirty="0"/>
          </a:p>
          <a:p>
            <a:r>
              <a:rPr lang="uk-UA" sz="1200" dirty="0"/>
              <a:t>Наступний блок — те, заради чого все це ставили.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check_mic.py</a:t>
            </a:r>
          </a:p>
          <a:p>
            <a:endParaRPr lang="uk-UA" sz="1200" dirty="0"/>
          </a:p>
          <a:p>
            <a:r>
              <a:rPr lang="uk-UA" sz="1200" dirty="0"/>
              <a:t>Мікрофонів знайдено: 4</a:t>
            </a:r>
          </a:p>
          <a:p>
            <a:r>
              <a:rPr lang="uk-UA" sz="1200" dirty="0"/>
              <a:t>0 Microsoft Sound Mapper - Input</a:t>
            </a:r>
          </a:p>
          <a:p>
            <a:r>
              <a:rPr lang="uk-UA" sz="1200" dirty="0"/>
              <a:t>1 Мікрофон (Realtek High Definition Audio)</a:t>
            </a:r>
          </a:p>
          <a:p>
            <a:r>
              <a:rPr lang="uk-UA" sz="1200" dirty="0"/>
              <a:t>2 Мікрофон (USB Headset)</a:t>
            </a:r>
          </a:p>
          <a:p>
            <a:r>
              <a:rPr lang="uk-UA" sz="1200" dirty="0"/>
              <a:t>3 Стерео мікшер (Realtek)</a:t>
            </a:r>
          </a:p>
          <a:p>
            <a:endParaRPr lang="uk-UA" sz="1200" dirty="0"/>
          </a:p>
          <a:p>
            <a:r>
              <a:rPr lang="uk-UA" sz="1200" dirty="0"/>
              <a:t>Головне — перший рядок. Назви можуть бути будь-які й будь-якою</a:t>
            </a:r>
          </a:p>
          <a:p>
            <a:r>
              <a:rPr lang="uk-UA" sz="1200" dirty="0"/>
              <a:t>мовою, їх читати не треба. Нуль означає, що програма не бачить</a:t>
            </a:r>
          </a:p>
          <a:p>
            <a:r>
              <a:rPr lang="uk-UA" sz="1200" dirty="0"/>
              <a:t>жодного пристрою: мікрофон вимкнено в системі або зайнято.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першим справжнім розпізнаванням. Три питання — і третє</a:t>
            </a:r>
          </a:p>
          <a:p>
            <a:r>
              <a:rPr lang="uk-UA" sz="1200" dirty="0"/>
              <a:t>найважливіше, бо саме на ньому губиться половина групи.</a:t>
            </a:r>
          </a:p>
          <a:p>
            <a:endParaRPr lang="uk-UA" sz="1200" dirty="0"/>
          </a:p>
          <a:p>
            <a:r>
              <a:rPr lang="uk-UA" sz="1200" dirty="0"/>
              <a:t>ЯК ЗНАЄ, ЩО ДОГОВОРИЛИ. Кажуть: коли замовк. Правильно — бібліотека слухає</a:t>
            </a:r>
          </a:p>
          <a:p>
            <a:r>
              <a:rPr lang="uk-UA" sz="1200" dirty="0"/>
              <a:t>тишу й на ній зупиняє запис. Кажу заздалегідь: тому не варто робити довгих пауз</a:t>
            </a:r>
          </a:p>
          <a:p>
            <a:r>
              <a:rPr lang="uk-UA" sz="1200" dirty="0"/>
              <a:t>посеред фрази, інакше запис обірветься.</a:t>
            </a:r>
          </a:p>
          <a:p>
            <a:endParaRPr lang="uk-UA" sz="1200" dirty="0"/>
          </a:p>
          <a:p>
            <a:r>
              <a:rPr lang="uk-UA" sz="1200" dirty="0"/>
              <a:t>ЧОМУ СЕКУНДА-ДВІ. Відповідь у них уже є з уроку 4: запис їде на сервер і</a:t>
            </a:r>
          </a:p>
          <a:p>
            <a:r>
              <a:rPr lang="uk-UA" sz="1200" dirty="0"/>
              <a:t>вертається. Прошу сказати це вголос — приємно, коли новий урок пояснюється</a:t>
            </a:r>
          </a:p>
          <a:p>
            <a:r>
              <a:rPr lang="uk-UA" sz="1200" dirty="0"/>
              <a:t>старим.</a:t>
            </a:r>
          </a:p>
          <a:p>
            <a:endParaRPr lang="uk-UA" sz="1200" dirty="0"/>
          </a:p>
          <a:p>
            <a:r>
              <a:rPr lang="uk-UA" sz="1200" dirty="0"/>
              <a:t>ЯКОЮ МОВОЮ. Головне питання. Більшість скаже «сам зрозуміє». Кажу: ні, за</a:t>
            </a:r>
          </a:p>
          <a:p>
            <a:r>
              <a:rPr lang="uk-UA" sz="1200" dirty="0"/>
              <a:t>замовчуванням він чекає англійську. Обіцяю показати живцем, що буде з</a:t>
            </a:r>
          </a:p>
          <a:p>
            <a:r>
              <a:rPr lang="uk-UA" sz="1200" dirty="0"/>
              <a:t>українською фразою без цього рядка, — і показую справді, бо смішний результат</a:t>
            </a:r>
          </a:p>
          <a:p>
            <a:r>
              <a:rPr lang="uk-UA" sz="1200" dirty="0"/>
              <a:t>запам'ятовується краще за будь-яке правило.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Вау-ефект уроку. Після нудної установки цей блок повертає групу до життя.</a:t>
            </a:r>
          </a:p>
          <a:p>
            <a:r>
              <a:rPr lang="uk-UA" sz="1200" dirty="0"/>
              <a:t>Розбираю по рядках на телевізорі, група дивиться й нічого не набирає.</a:t>
            </a:r>
          </a:p>
          <a:p>
            <a:endParaRPr lang="uk-UA" sz="1200" dirty="0"/>
          </a:p>
          <a:p>
            <a:r>
              <a:rPr lang="uk-UA" sz="1200" dirty="0"/>
              <a:t>r = sr.Recognizer() — створюємо розпізнавач. Це об'єкт, який уміє слухати й</a:t>
            </a:r>
          </a:p>
          <a:p>
            <a:r>
              <a:rPr lang="uk-UA" sz="1200" dirty="0"/>
              <a:t>надсилати. Поки що досить розуміння «це наш слухач».</a:t>
            </a:r>
          </a:p>
          <a:p>
            <a:endParaRPr lang="uk-UA" sz="1200" dirty="0"/>
          </a:p>
          <a:p>
            <a:r>
              <a:rPr lang="uk-UA" sz="1200" dirty="0"/>
              <a:t>with sr.Microphone() as mic: — відкриваємо мікрофон. Знайома конструкція з уроку</a:t>
            </a:r>
          </a:p>
          <a:p>
            <a:r>
              <a:rPr lang="uk-UA" sz="1200" dirty="0"/>
              <a:t>3, де ми так відкривали файл: with сам закриє його, коли блок скінчиться.</a:t>
            </a:r>
          </a:p>
          <a:p>
            <a:r>
              <a:rPr lang="uk-UA" sz="1200" dirty="0"/>
              <a:t>Мікрофон, який не закрили, лишається зайнятим — і наступний запуск не почує</a:t>
            </a:r>
          </a:p>
          <a:p>
            <a:r>
              <a:rPr lang="uk-UA" sz="1200" dirty="0"/>
              <a:t>нічого.</a:t>
            </a:r>
          </a:p>
          <a:p>
            <a:endParaRPr lang="uk-UA" sz="1200" dirty="0"/>
          </a:p>
          <a:p>
            <a:r>
              <a:rPr lang="uk-UA" sz="1200" dirty="0"/>
              <a:t>print("Говори...") — рядок, який виглядає зайвим, але він обов'язковий. Без</a:t>
            </a:r>
          </a:p>
          <a:p>
            <a:r>
              <a:rPr lang="uk-UA" sz="1200" dirty="0"/>
              <a:t>нього незрозуміло, коли починати говорити, і половина групи мовчки дивиться в</a:t>
            </a:r>
          </a:p>
          <a:p>
            <a:r>
              <a:rPr lang="uk-UA" sz="1200" dirty="0"/>
              <a:t>тишу, поки програма її слухає.</a:t>
            </a:r>
          </a:p>
          <a:p>
            <a:endParaRPr lang="uk-UA" sz="1200" dirty="0"/>
          </a:p>
          <a:p>
            <a:r>
              <a:rPr lang="uk-UA" sz="1200" dirty="0"/>
              <a:t>r.listen(mic) — запис. Програма чекає, поки почнеться мова, пише її й</a:t>
            </a:r>
          </a:p>
          <a:p>
            <a:r>
              <a:rPr lang="uk-UA" sz="1200" dirty="0"/>
              <a:t>зупиняється, коли ви замовкли. Це варто проговорити: listen не пише</a:t>
            </a:r>
          </a:p>
          <a:p>
            <a:r>
              <a:rPr lang="uk-UA" sz="1200" dirty="0"/>
              <a:t>безкінечно, він сам розуміє кінець фрази по паузі.</a:t>
            </a:r>
          </a:p>
          <a:p>
            <a:endParaRPr lang="uk-UA" sz="1200" dirty="0"/>
          </a:p>
          <a:p>
            <a:r>
              <a:rPr lang="uk-UA" sz="1200" dirty="0"/>
              <a:t>r.recognize_google(audio, language="uk-UA") — надсилає запис у Google і повертає</a:t>
            </a:r>
          </a:p>
          <a:p>
            <a:r>
              <a:rPr lang="uk-UA" sz="1200" dirty="0"/>
              <a:t>рядок. Параметр language обов'язковий. Показую живцем, що буде без нього: сервіс</a:t>
            </a:r>
          </a:p>
          <a:p>
            <a:r>
              <a:rPr lang="uk-UA" sz="1200" dirty="0"/>
              <a:t>чекає англійську й повертає набір англійських слів, схожих за звучанням. Смішно</a:t>
            </a:r>
          </a:p>
          <a:p>
            <a:r>
              <a:rPr lang="uk-UA" sz="1200" dirty="0"/>
              <a:t>і запам'ятовується.</a:t>
            </a:r>
          </a:p>
          <a:p>
            <a:endParaRPr lang="uk-UA" sz="1200" dirty="0"/>
          </a:p>
          <a:p>
            <a:r>
              <a:rPr lang="uk-UA" sz="1200" dirty="0"/>
              <a:t>Показую програму цілком і запускаю: кажу одну фразу вголос — на екрані</a:t>
            </a:r>
          </a:p>
          <a:p>
            <a:r>
              <a:rPr lang="uk-UA" sz="1200" dirty="0"/>
              <a:t>з'являється текст. Цієї секунди група чекала весь урок.</a:t>
            </a:r>
          </a:p>
          <a:p>
            <a:endParaRPr lang="uk-UA" sz="1200" dirty="0"/>
          </a:p>
          <a:p>
            <a:r>
              <a:rPr lang="uk-UA" sz="1200" dirty="0"/>
              <a:t>Домовляюсь про порядок до того, як почнеться шум: у класі двадцять мікрофонів</a:t>
            </a:r>
          </a:p>
          <a:p>
            <a:r>
              <a:rPr lang="uk-UA" sz="1200" dirty="0"/>
              <a:t>одночасно не працюють. Говоримо по черзі рядами, решта в цей час мовчить.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ці десять рядків.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Найгучніша практика уроку. Перед стартом ще раз проговорюю домовленість:</a:t>
            </a:r>
          </a:p>
          <a:p>
            <a:r>
              <a:rPr lang="uk-UA" sz="1200" dirty="0"/>
              <a:t>говоримо по черзі рядами, поки один говорить — решта мовчить, інакше мікрофони</a:t>
            </a:r>
          </a:p>
          <a:p>
            <a:r>
              <a:rPr lang="uk-UA" sz="1200" dirty="0"/>
              <a:t>чутимуть сусідів і всі отримають чужі слова.</a:t>
            </a:r>
          </a:p>
          <a:p>
            <a:endParaRPr lang="uk-UA" sz="1200" dirty="0"/>
          </a:p>
          <a:p>
            <a:r>
              <a:rPr lang="uk-UA" sz="1200" dirty="0"/>
              <a:t>Диктую порядок: створити hear.py у папці проєкту, набрати десять рядків з</a:t>
            </a:r>
          </a:p>
          <a:p>
            <a:r>
              <a:rPr lang="uk-UA" sz="1200" dirty="0"/>
              <a:t>екрана, зберегти, запустити, дочекатись напису «Говори...», сказати коротку</a:t>
            </a:r>
          </a:p>
          <a:p>
            <a:r>
              <a:rPr lang="uk-UA" sz="1200" dirty="0"/>
              <a:t>фразу, чекати.</a:t>
            </a:r>
          </a:p>
          <a:p>
            <a:endParaRPr lang="uk-UA" sz="1200" dirty="0"/>
          </a:p>
          <a:p>
            <a:r>
              <a:rPr lang="uk-UA" sz="1200" dirty="0"/>
              <a:t>Про фрази кажу окремо: коротко й просто — «привіт», «розкажи жарт», «котра</a:t>
            </a:r>
          </a:p>
          <a:p>
            <a:r>
              <a:rPr lang="uk-UA" sz="1200" dirty="0"/>
              <a:t>година». Довгі речення на першому запуску тільки заплутують, а помилку в них</a:t>
            </a:r>
          </a:p>
          <a:p>
            <a:r>
              <a:rPr lang="uk-UA" sz="1200" dirty="0"/>
              <a:t>шукати ніде.</a:t>
            </a:r>
          </a:p>
          <a:p>
            <a:endParaRPr lang="uk-UA" sz="1200" dirty="0"/>
          </a:p>
          <a:p>
            <a:r>
              <a:rPr lang="uk-UA" sz="1200" dirty="0"/>
              <a:t>Ходжу по класу без зупинок. Помилки в порядку частоти:</a:t>
            </a:r>
          </a:p>
          <a:p>
            <a:r>
              <a:rPr lang="uk-UA" sz="1200" dirty="0"/>
              <a:t>    заговорили до появи «Говори...» — програма записала тишу й чекає далі;</a:t>
            </a:r>
          </a:p>
          <a:p>
            <a:r>
              <a:rPr lang="uk-UA" sz="1200" dirty="0"/>
              <a:t>    NameError: r — рядок r = sr.Recognizer() набрали з іншим ім'ям змінної;</a:t>
            </a:r>
          </a:p>
          <a:p>
            <a:r>
              <a:rPr lang="uk-UA" sz="1200" dirty="0"/>
              <a:t>    IndentationError — два рядки під with набрали без чотирьох пробілів;</a:t>
            </a:r>
          </a:p>
          <a:p>
            <a:r>
              <a:rPr lang="uk-UA" sz="1200" dirty="0"/>
              <a:t>    забули language і отримали рядок англійських слів, схожих за звучанням;</a:t>
            </a:r>
          </a:p>
          <a:p>
            <a:r>
              <a:rPr lang="uk-UA" sz="1200" dirty="0"/>
              <a:t>    програма мовчить довше за п'ять секунд — немає інтернету, це не код;</a:t>
            </a:r>
          </a:p>
          <a:p>
            <a:r>
              <a:rPr lang="uk-UA" sz="1200" dirty="0"/>
              <a:t>    UnknownValueError великим червоним текстом — сервіс не розібрав слів. Кажу</a:t>
            </a:r>
          </a:p>
          <a:p>
            <a:r>
              <a:rPr lang="uk-UA" sz="1200" dirty="0"/>
              <a:t>    вголос, що це не поломка: рівно цю помилку ми ловитимемо в наступному</a:t>
            </a:r>
          </a:p>
          <a:p>
            <a:r>
              <a:rPr lang="uk-UA" sz="1200" dirty="0"/>
              <a:t>    блоці, а поки просто запустіть ще раз і скажіть чіткіше.</a:t>
            </a:r>
          </a:p>
          <a:p>
            <a:endParaRPr lang="uk-UA" sz="1200" dirty="0"/>
          </a:p>
          <a:p>
            <a:r>
              <a:rPr lang="uk-UA" sz="1200" dirty="0"/>
              <a:t>Коли в більшості вийшло, роблю експеримент на хвилину: сказати те саме тихо й</a:t>
            </a:r>
          </a:p>
          <a:p>
            <a:r>
              <a:rPr lang="uk-UA" sz="1200" dirty="0"/>
              <a:t>голосно. Текст однаковий — сервіс розпізнає слова, а не гучність.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останнім рядком файла ще один —</a:t>
            </a:r>
          </a:p>
          <a:p>
            <a:r>
              <a:rPr lang="uk-UA" sz="1200" dirty="0"/>
              <a:t>print("Слів у фразі:", len(text.split())) — і скаже довгу фразу. split ріже</a:t>
            </a:r>
          </a:p>
          <a:p>
            <a:r>
              <a:rPr lang="uk-UA" sz="1200" dirty="0"/>
              <a:t>рядок на слова, і ми ним ще користуватимемось.</a:t>
            </a:r>
          </a:p>
          <a:p>
            <a:endParaRPr lang="uk-UA" sz="1200" dirty="0"/>
          </a:p>
          <a:p>
            <a:r>
              <a:rPr lang="uk-UA" sz="1200" dirty="0"/>
              <a:t>Наступний блок — те, чого цій програмі бракує в живому класі.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 сказав: привіт як справи</a:t>
            </a:r>
          </a:p>
          <a:p>
            <a:endParaRPr lang="uk-UA" sz="1200" dirty="0"/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 сказав: розкажи жарт про програмістів</a:t>
            </a:r>
          </a:p>
          <a:p>
            <a:endParaRPr lang="uk-UA" sz="1200" dirty="0"/>
          </a:p>
          <a:p>
            <a:r>
              <a:rPr lang="uk-UA" sz="1200" dirty="0"/>
              <a:t>Головне: між «Говори...» і відповіддю минає секунда-дві — це запис</a:t>
            </a:r>
          </a:p>
          <a:p>
            <a:r>
              <a:rPr lang="uk-UA" sz="1200" dirty="0"/>
              <a:t>їде на сервер і вертається текстом. Рідкісні імена сервіс чує погано,</a:t>
            </a:r>
          </a:p>
          <a:p>
            <a:r>
              <a:rPr lang="uk-UA" sz="1200" dirty="0"/>
              <a:t>і це нормально: він бере найімовірніше слово.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найдовшим кодом уроку. Питання короткі, бо головне тут одне:</a:t>
            </a:r>
          </a:p>
          <a:p>
            <a:r>
              <a:rPr lang="uk-UA" sz="1200" dirty="0"/>
              <a:t>помилка має бути передбачена заздалегідь.</a:t>
            </a:r>
          </a:p>
          <a:p>
            <a:endParaRPr lang="uk-UA" sz="1200" dirty="0"/>
          </a:p>
          <a:p>
            <a:r>
              <a:rPr lang="uk-UA" sz="1200" dirty="0"/>
              <a:t>ЩО ПОЧУЄ МІКРОФОН. Відповідь очевидна: усе. Кажу, що це і є головна проблема</a:t>
            </a:r>
          </a:p>
          <a:p>
            <a:r>
              <a:rPr lang="uk-UA" sz="1200" dirty="0"/>
              <a:t>кабінету, і що зараз ми зробимо дві речі — зміряємо шум і навчимо програму не</a:t>
            </a:r>
          </a:p>
          <a:p>
            <a:r>
              <a:rPr lang="uk-UA" sz="1200" dirty="0"/>
              <a:t>падати.</a:t>
            </a:r>
          </a:p>
          <a:p>
            <a:endParaRPr lang="uk-UA" sz="1200" dirty="0"/>
          </a:p>
          <a:p>
            <a:r>
              <a:rPr lang="uk-UA" sz="1200" dirty="0"/>
              <a:t>ЩО РОБИТИ, ЯКЩО НЕ РОЗІБРАЛА. Кажуть: сказати «повтори». Правильно. Питаю, що</a:t>
            </a:r>
          </a:p>
          <a:p>
            <a:r>
              <a:rPr lang="uk-UA" sz="1200" dirty="0"/>
              <a:t>вона робить зараз. Зараз вона падає з червоною помилкою. Кажу вголос: падіння</a:t>
            </a:r>
          </a:p>
          <a:p>
            <a:r>
              <a:rPr lang="uk-UA" sz="1200" dirty="0"/>
              <a:t>програми — це не відповідь людині.</a:t>
            </a:r>
          </a:p>
          <a:p>
            <a:endParaRPr lang="uk-UA" sz="1200" dirty="0"/>
          </a:p>
          <a:p>
            <a:r>
              <a:rPr lang="uk-UA" sz="1200" dirty="0"/>
              <a:t>ЧИ МОЖНА ЗМІРЯТИ ШУМ. Кажуть: так, послухати тишу. Саме так. І одразу</a:t>
            </a:r>
          </a:p>
          <a:p>
            <a:r>
              <a:rPr lang="uk-UA" sz="1200" dirty="0"/>
              <a:t>попереджаю про найчастішу поломку блоку: секунду калібрування треба МОВЧАТИ.</a:t>
            </a:r>
          </a:p>
          <a:p>
            <a:r>
              <a:rPr lang="uk-UA" sz="1200" dirty="0"/>
              <a:t>Хто говоритиме, того голос запишеться як фон, і далі програма його не почує</a:t>
            </a:r>
          </a:p>
          <a:p>
            <a:r>
              <a:rPr lang="uk-UA" sz="1200" dirty="0"/>
              <a:t>взагалі. Прошу підняти руки й пообіцяти мовчати — на цьому місці це смішно й</a:t>
            </a:r>
          </a:p>
          <a:p>
            <a:r>
              <a:rPr lang="uk-UA" sz="1200" dirty="0"/>
              <a:t>працює.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Блок, який перетворює демонстрацію на робочу програму. У тихій кімнаті все</a:t>
            </a:r>
          </a:p>
          <a:p>
            <a:r>
              <a:rPr lang="uk-UA" sz="1200" dirty="0"/>
              <a:t>працює й без нього; у класі — ні.</a:t>
            </a:r>
          </a:p>
          <a:p>
            <a:endParaRPr lang="uk-UA" sz="1200" dirty="0"/>
          </a:p>
          <a:p>
            <a:r>
              <a:rPr lang="uk-UA" sz="1200" dirty="0"/>
              <a:t>adjust_for_ambient_noise(mic, duration=1). Секунду програма слухає тишу й</a:t>
            </a:r>
          </a:p>
          <a:p>
            <a:r>
              <a:rPr lang="uk-UA" sz="1200" dirty="0"/>
              <a:t>запам'ятовує її рівень. Далі все, що тихіше за запам'ятане, вважається шумом, а</a:t>
            </a:r>
          </a:p>
          <a:p>
            <a:r>
              <a:rPr lang="uk-UA" sz="1200" dirty="0"/>
              <a:t>не мовою. Наголошую: цю секунду треба МОВЧАТИ. Якщо говорити під час</a:t>
            </a:r>
          </a:p>
          <a:p>
            <a:r>
              <a:rPr lang="uk-UA" sz="1200" dirty="0"/>
              <a:t>калібрування, програма вирішить, що голос — це фон, і потім не почує нічого.</a:t>
            </a:r>
          </a:p>
          <a:p>
            <a:r>
              <a:rPr lang="uk-UA" sz="1200" dirty="0"/>
              <a:t>Показую це навмисно: калібрую в тиші — усе добре; кричу під час калібрування —</a:t>
            </a:r>
          </a:p>
          <a:p>
            <a:r>
              <a:rPr lang="uk-UA" sz="1200" dirty="0"/>
              <a:t>і програма мовчить.</a:t>
            </a:r>
          </a:p>
          <a:p>
            <a:endParaRPr lang="uk-UA" sz="1200" dirty="0"/>
          </a:p>
          <a:p>
            <a:r>
              <a:rPr lang="uk-UA" sz="1200" dirty="0"/>
              <a:t>timeout=5 — скільки секунд чекати, поки людина почне говорити. Не дочекались —</a:t>
            </a:r>
          </a:p>
          <a:p>
            <a:r>
              <a:rPr lang="uk-UA" sz="1200" dirty="0"/>
              <a:t>буде помилка очікування. phrase_time_limit=8 — скільки максимум писати одну</a:t>
            </a:r>
          </a:p>
          <a:p>
            <a:r>
              <a:rPr lang="uk-UA" sz="1200" dirty="0"/>
              <a:t>фразу. Без нього хтось говоритиме хвилину, і запит вийде довгим.</a:t>
            </a:r>
          </a:p>
          <a:p>
            <a:endParaRPr lang="uk-UA" sz="1200" dirty="0"/>
          </a:p>
          <a:p>
            <a:r>
              <a:rPr lang="uk-UA" sz="1200" dirty="0"/>
              <a:t>try / except — нова конструкція, і вона тут не заради синтаксису. Пояснюю</a:t>
            </a:r>
          </a:p>
          <a:p>
            <a:r>
              <a:rPr lang="uk-UA" sz="1200" dirty="0"/>
              <a:t>просто: «спробуй зробити оце; якщо не вийшло — зроби замість цього ось те».</a:t>
            </a:r>
          </a:p>
          <a:p>
            <a:r>
              <a:rPr lang="uk-UA" sz="1200" dirty="0"/>
              <a:t>Програма не падає, вона має запасний план.</a:t>
            </a:r>
          </a:p>
          <a:p>
            <a:endParaRPr lang="uk-UA" sz="1200" dirty="0"/>
          </a:p>
          <a:p>
            <a:r>
              <a:rPr lang="uk-UA" sz="1200" dirty="0"/>
              <a:t>Без try вона падає з червоною помилкою щоразу, коли хтось кашлянув. Показую</a:t>
            </a:r>
          </a:p>
          <a:p>
            <a:r>
              <a:rPr lang="uk-UA" sz="1200" dirty="0"/>
              <a:t>обидва варіанти: кашляю в мікрофон без try — червоний текст на пів екрана;</a:t>
            </a:r>
          </a:p>
          <a:p>
            <a:r>
              <a:rPr lang="uk-UA" sz="1200" dirty="0"/>
              <a:t>з try — спокійне «Не розчула».</a:t>
            </a:r>
          </a:p>
          <a:p>
            <a:endParaRPr lang="uk-UA" sz="1200" dirty="0"/>
          </a:p>
          <a:p>
            <a:r>
              <a:rPr lang="uk-UA" sz="1200" dirty="0"/>
              <a:t>sr.UnknownValueError — саме та помилка, яка означає «звук був, слів не</a:t>
            </a:r>
          </a:p>
          <a:p>
            <a:r>
              <a:rPr lang="uk-UA" sz="1200" dirty="0"/>
              <a:t>розібрала». Ловимо її й відповідаємо по-людськи. Це різниця між програмою і</a:t>
            </a:r>
          </a:p>
          <a:p>
            <a:r>
              <a:rPr lang="uk-UA" sz="1200" dirty="0"/>
              <a:t>продуктом.</a:t>
            </a:r>
          </a:p>
          <a:p>
            <a:endParaRPr lang="uk-UA" sz="1200" dirty="0"/>
          </a:p>
          <a:p>
            <a:r>
              <a:rPr lang="uk-UA" sz="1200" dirty="0"/>
              <a:t>Питання групі: а якщо зникне інтернет — це та сама помилка? Ні, інша, вона</a:t>
            </a:r>
          </a:p>
          <a:p>
            <a:r>
              <a:rPr lang="uk-UA" sz="1200" dirty="0"/>
              <a:t>зветься sr.RequestError. Кажу назву вголос, вона знадобиться сильним дітям.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програму цілком, разом із калібруванням і try.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Практика, після якої програма перестає падати. Вона ж найтонша за відступами,</a:t>
            </a:r>
          </a:p>
          <a:p>
            <a:r>
              <a:rPr lang="uk-UA" sz="1200" dirty="0"/>
              <a:t>тому диктую вголос повільно й двічі.</a:t>
            </a:r>
          </a:p>
          <a:p>
            <a:endParaRPr lang="uk-UA" sz="1200" dirty="0"/>
          </a:p>
          <a:p>
            <a:r>
              <a:rPr lang="uk-UA" sz="1200" dirty="0"/>
              <a:t>Кажу, що саме додається до вже набраного:</a:t>
            </a:r>
          </a:p>
          <a:p>
            <a:r>
              <a:rPr lang="uk-UA" sz="1200" dirty="0"/>
              <a:t>    рядок r.adjust_for_ambient_noise(mic, duration=1) — усередині with, першим;</a:t>
            </a:r>
          </a:p>
          <a:p>
            <a:r>
              <a:rPr lang="uk-UA" sz="1200" dirty="0"/>
              <a:t>    у listen дописуються timeout=5 і phrase_time_limit=8 через кому;</a:t>
            </a:r>
          </a:p>
          <a:p>
            <a:r>
              <a:rPr lang="uk-UA" sz="1200" dirty="0"/>
              <a:t>    слово try: з двокрапкою — з самого краю, без відступу;</a:t>
            </a:r>
          </a:p>
          <a:p>
            <a:r>
              <a:rPr lang="uk-UA" sz="1200" dirty="0"/>
              <a:t>    два рядки під try — з відступом у чотири пробіли;</a:t>
            </a:r>
          </a:p>
          <a:p>
            <a:r>
              <a:rPr lang="uk-UA" sz="1200" dirty="0"/>
              <a:t>    except sr.UnknownValueError: — знову з краю, на одному рівні з try.</a:t>
            </a:r>
          </a:p>
          <a:p>
            <a:endParaRPr lang="uk-UA" sz="1200" dirty="0"/>
          </a:p>
          <a:p>
            <a:r>
              <a:rPr lang="uk-UA" sz="1200" dirty="0"/>
              <a:t>Проговорюю правило перед запуском: секунду після старту всі МОВЧАТЬ. Говорити</a:t>
            </a:r>
          </a:p>
          <a:p>
            <a:r>
              <a:rPr lang="uk-UA" sz="1200" dirty="0"/>
              <a:t>можна тільки після напису «Говори...».</a:t>
            </a:r>
          </a:p>
          <a:p>
            <a:endParaRPr lang="uk-UA" sz="1200" dirty="0"/>
          </a:p>
          <a:p>
            <a:r>
              <a:rPr lang="uk-UA" sz="1200" dirty="0"/>
              <a:t>Далі перевірка на поломку, і вона обов'язкова: навмисно кашлянути або стукнути</a:t>
            </a:r>
          </a:p>
          <a:p>
            <a:r>
              <a:rPr lang="uk-UA" sz="1200" dirty="0"/>
              <a:t>по столу замість фрази. Має з'явитись «Не розчула», а не червоний текст.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говорили під час калібрування — програма не чує; прошу запустити ще раз і</a:t>
            </a:r>
          </a:p>
          <a:p>
            <a:r>
              <a:rPr lang="uk-UA" sz="1200" dirty="0"/>
              <a:t>    порахувати вголос «раз», перш ніж говорити;</a:t>
            </a:r>
          </a:p>
          <a:p>
            <a:r>
              <a:rPr lang="uk-UA" sz="1200" dirty="0"/>
              <a:t>    try поставили з відступом усередині with — тоді except лишається без</a:t>
            </a:r>
          </a:p>
          <a:p>
            <a:r>
              <a:rPr lang="uk-UA" sz="1200" dirty="0"/>
              <a:t>    свого try, і Python пише SyntaxError;</a:t>
            </a:r>
          </a:p>
          <a:p>
            <a:r>
              <a:rPr lang="uk-UA" sz="1200" dirty="0"/>
              <a:t>    забули двокрапку після try або після except;</a:t>
            </a:r>
          </a:p>
          <a:p>
            <a:r>
              <a:rPr lang="uk-UA" sz="1200" dirty="0"/>
              <a:t>    рядок з recognize_google лишили зовні try — і програма падає, як падала;</a:t>
            </a:r>
          </a:p>
          <a:p>
            <a:r>
              <a:rPr lang="uk-UA" sz="1200" dirty="0"/>
              <a:t>    WaitTimeoutError — не почали говорити за п'ять секунд, просто запускаємо</a:t>
            </a:r>
          </a:p>
          <a:p>
            <a:r>
              <a:rPr lang="uk-UA" sz="1200" dirty="0"/>
              <a:t>    ще раз.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в кінець файла ще два рядки —</a:t>
            </a:r>
          </a:p>
          <a:p>
            <a:r>
              <a:rPr lang="uk-UA" sz="1200" dirty="0"/>
              <a:t>except sr.RequestError: і під ним print("АІДА: Немає зв'язку із сервісом.") —</a:t>
            </a:r>
          </a:p>
          <a:p>
            <a:r>
              <a:rPr lang="uk-UA" sz="1200" dirty="0"/>
              <a:t>і перевірить їх, вимкнувши на секунду Wi-Fi.</a:t>
            </a:r>
          </a:p>
          <a:p>
            <a:endParaRPr lang="uk-UA" sz="1200" dirty="0"/>
          </a:p>
          <a:p>
            <a:r>
              <a:rPr lang="uk-UA" sz="1200" dirty="0"/>
              <a:t>Наступний блок — згорнемо весь цей мікрофон в одне слово.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 сказав: розкажи жарт</a:t>
            </a:r>
          </a:p>
          <a:p>
            <a:endParaRPr lang="uk-UA" sz="1200" dirty="0"/>
          </a:p>
          <a:p>
            <a:r>
              <a:rPr lang="uk-UA" sz="1200" dirty="0"/>
              <a:t>(кашлянули замість фрази)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АІДА: Не розчула. Повтори, будь ласка.</a:t>
            </a:r>
          </a:p>
          <a:p>
            <a:endParaRPr lang="uk-UA" sz="1200" dirty="0"/>
          </a:p>
          <a:p>
            <a:r>
              <a:rPr lang="uk-UA" sz="1200" dirty="0"/>
              <a:t>Головне: друга ситуація має закінчитись цим рядком, а не червоною</a:t>
            </a:r>
          </a:p>
          <a:p>
            <a:r>
              <a:rPr lang="uk-UA" sz="1200" dirty="0"/>
              <a:t>помилкою на пів екрана. Якщо червоне лишилось — try або except</a:t>
            </a:r>
          </a:p>
          <a:p>
            <a:r>
              <a:rPr lang="uk-UA" sz="1200" dirty="0"/>
              <a:t>набрано не на тому рівні відступу.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хвилина. Питання ті самі, що на уроці 4 перед ask_ai, — і про цю паралель</a:t>
            </a:r>
          </a:p>
          <a:p>
            <a:r>
              <a:rPr lang="uk-UA" sz="1200" dirty="0"/>
              <a:t>варто сказати вголос.</a:t>
            </a:r>
          </a:p>
          <a:p>
            <a:endParaRPr lang="uk-UA" sz="1200" dirty="0"/>
          </a:p>
          <a:p>
            <a:r>
              <a:rPr lang="uk-UA" sz="1200" dirty="0"/>
              <a:t>СКІЛЬКИ РАЗІВ СЛУХАТИ. Відповідь: щоразу. Отже, функція. Кажу: ми це вже</a:t>
            </a:r>
          </a:p>
          <a:p>
            <a:r>
              <a:rPr lang="uk-UA" sz="1200" dirty="0"/>
              <a:t>робили, коли ховали під ім'я цілий запит до ChatGPT. Сьогодні ховаємо мікрофон.</a:t>
            </a:r>
          </a:p>
          <a:p>
            <a:endParaRPr lang="uk-UA" sz="1200" dirty="0"/>
          </a:p>
          <a:p>
            <a:r>
              <a:rPr lang="uk-UA" sz="1200" dirty="0"/>
              <a:t>ЩО ВІДДАТИ, ЯКЩО НЕ РОЗЧУЛА. Головне питання. Кажуть: нічого. Питаю, що таке</a:t>
            </a:r>
          </a:p>
          <a:p>
            <a:r>
              <a:rPr lang="uk-UA" sz="1200" dirty="0"/>
              <a:t>«нічого» для рядка. Порожній рядок — і саме його ми повернемо. Тоді той, хто</a:t>
            </a:r>
          </a:p>
          <a:p>
            <a:r>
              <a:rPr lang="uk-UA" sz="1200" dirty="0"/>
              <a:t>викликав функцію, сам вирішить, що з цим робити, а програма не впаде.</a:t>
            </a:r>
          </a:p>
          <a:p>
            <a:endParaRPr lang="uk-UA" sz="1200" dirty="0"/>
          </a:p>
          <a:p>
            <a:r>
              <a:rPr lang="uk-UA" sz="1200" dirty="0"/>
              <a:t>ЯК ПЕРЕВІРЯТИ БЕЗ МІКРОФОНА. Практичне питання, і в аудиторії воно завжди</a:t>
            </a:r>
          </a:p>
          <a:p>
            <a:r>
              <a:rPr lang="uk-UA" sz="1200" dirty="0"/>
              <a:t>чиєсь. Кажу: поруч лежатиме та сама функція, тільки з input усередині. Це та</a:t>
            </a:r>
          </a:p>
          <a:p>
            <a:r>
              <a:rPr lang="uk-UA" sz="1200" dirty="0"/>
              <a:t>сама думка, що мок на уроці 4, і хтось у групі це помітить.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 про інженерну звичку, а не про нову команду. Нових слів тут майже немає —</a:t>
            </a:r>
          </a:p>
          <a:p>
            <a:r>
              <a:rPr lang="uk-UA" sz="1200" dirty="0"/>
              <a:t>є нова форма для того, що вже набрано.</a:t>
            </a:r>
          </a:p>
          <a:p>
            <a:endParaRPr lang="uk-UA" sz="1200" dirty="0"/>
          </a:p>
          <a:p>
            <a:r>
              <a:rPr lang="uk-UA" sz="1200" dirty="0"/>
              <a:t>Починаю з проблеми. Показую, як виглядав би цикл розмови, якби дванадцять</a:t>
            </a:r>
          </a:p>
          <a:p>
            <a:r>
              <a:rPr lang="uk-UA" sz="1200" dirty="0"/>
              <a:t>рядків мікрофона стояли просто всередині while: у ньому вже не видно, де</a:t>
            </a:r>
          </a:p>
          <a:p>
            <a:r>
              <a:rPr lang="uk-UA" sz="1200" dirty="0"/>
              <a:t>мікрофон, а де сама розмова.</a:t>
            </a:r>
          </a:p>
          <a:p>
            <a:endParaRPr lang="uk-UA" sz="1200" dirty="0"/>
          </a:p>
          <a:p>
            <a:r>
              <a:rPr lang="uk-UA" sz="1200" dirty="0"/>
              <a:t>Далі рішення. def listen(): — оголошуємо функцію. Кажу просте означення:</a:t>
            </a:r>
          </a:p>
          <a:p>
            <a:r>
              <a:rPr lang="uk-UA" sz="1200" dirty="0"/>
              <a:t>функція — це власна команда, яку ми даємо самі собі й називаємо одним словом.</a:t>
            </a:r>
          </a:p>
          <a:p>
            <a:r>
              <a:rPr lang="uk-UA" sz="1200" dirty="0"/>
              <a:t>Усередині — те, що вже розібрали в блоках 3 і 4, без жодної зміни.</a:t>
            </a:r>
          </a:p>
          <a:p>
            <a:endParaRPr lang="uk-UA" sz="1200" dirty="0"/>
          </a:p>
          <a:p>
            <a:r>
              <a:rPr lang="uk-UA" sz="1200" dirty="0"/>
              <a:t>Одразу, до набирання, кажу головне про межі функції: два верхні рядки файла —</a:t>
            </a:r>
          </a:p>
          <a:p>
            <a:r>
              <a:rPr lang="uk-UA" sz="1200" dirty="0"/>
              <a:t>import speech_recognition as sr і r = sr.Recognizer() — усередину НЕ їдуть.</a:t>
            </a:r>
          </a:p>
          <a:p>
            <a:r>
              <a:rPr lang="uk-UA" sz="1200" dirty="0"/>
              <a:t>Вони лишаються зверху, поза функцією, бо потрібні всьому файлу: sr — щоб</a:t>
            </a:r>
          </a:p>
          <a:p>
            <a:r>
              <a:rPr lang="uk-UA" sz="1200" dirty="0"/>
              <a:t>узагалі знайти Microphone, r — щоб було чим слухати. Показую пальцем на</a:t>
            </a:r>
          </a:p>
          <a:p>
            <a:r>
              <a:rPr lang="uk-UA" sz="1200" dirty="0"/>
              <a:t>телевізорі, де закінчуються ці два рядки й де починається def. На наступному</a:t>
            </a:r>
          </a:p>
          <a:p>
            <a:r>
              <a:rPr lang="uk-UA" sz="1200" dirty="0"/>
              <a:t>слайді hear.py лежатиме цілком, згори вниз, саме тому: щоб ніхто не стер</a:t>
            </a:r>
          </a:p>
          <a:p>
            <a:r>
              <a:rPr lang="uk-UA" sz="1200" dirty="0"/>
              <a:t>верхівку файла разом зі старим кодом.</a:t>
            </a:r>
          </a:p>
          <a:p>
            <a:endParaRPr lang="uk-UA" sz="1200" dirty="0"/>
          </a:p>
          <a:p>
            <a:r>
              <a:rPr lang="uk-UA" sz="1200" dirty="0"/>
              <a:t>return — нове слово, і на ньому спиняюсь. print друкує на екран, а return</a:t>
            </a:r>
          </a:p>
          <a:p>
            <a:r>
              <a:rPr lang="uk-UA" sz="1200" dirty="0"/>
              <a:t>віддає значення тому, хто функцію викликав. Різницю показую живцем: функція з</a:t>
            </a:r>
          </a:p>
          <a:p>
            <a:r>
              <a:rPr lang="uk-UA" sz="1200" dirty="0"/>
              <a:t>print нічого не віддає, і text лишається порожнім.</a:t>
            </a:r>
          </a:p>
          <a:p>
            <a:endParaRPr lang="uk-UA" sz="1200" dirty="0"/>
          </a:p>
          <a:p>
            <a:r>
              <a:rPr lang="uk-UA" sz="1200" dirty="0"/>
              <a:t>Порожній рядок в except — свідома домовленість. Функція завжди має повернути</a:t>
            </a:r>
          </a:p>
          <a:p>
            <a:r>
              <a:rPr lang="uk-UA" sz="1200" dirty="0"/>
              <a:t>рядок: коли розчули — сказане, коли ні — порожній. Тоді той, хто її викликав,</a:t>
            </a:r>
          </a:p>
          <a:p>
            <a:r>
              <a:rPr lang="uk-UA" sz="1200" dirty="0"/>
              <a:t>щоразу працює з тим самим типом.</a:t>
            </a:r>
          </a:p>
          <a:p>
            <a:endParaRPr lang="uk-UA" sz="1200" dirty="0"/>
          </a:p>
          <a:p>
            <a:r>
              <a:rPr lang="uk-UA" sz="1200" dirty="0"/>
              <a:t>Прошу групу згадати ask_ai з уроку 4: там ми так само сховали під одне слово</a:t>
            </a:r>
          </a:p>
          <a:p>
            <a:r>
              <a:rPr lang="uk-UA" sz="1200" dirty="0"/>
              <a:t>цілий запит у мережу. Це і є головна звичка — складне ховаємо у функцію.</a:t>
            </a:r>
          </a:p>
          <a:p>
            <a:endParaRPr lang="uk-UA" sz="1200" dirty="0"/>
          </a:p>
          <a:p>
            <a:r>
              <a:rPr lang="uk-UA" sz="1200" dirty="0"/>
              <a:t>План Б. Друга функція listen з input() усередині, поки закоментована. Виглядає</a:t>
            </a:r>
          </a:p>
          <a:p>
            <a:r>
              <a:rPr lang="uk-UA" sz="1200" dirty="0"/>
              <a:t>як жарт, але це серйозний інструмент: та сама роль і той самий тип результату,</a:t>
            </a:r>
          </a:p>
          <a:p>
            <a:r>
              <a:rPr lang="uk-UA" sz="1200" dirty="0"/>
              <a:t>тому решта програми не помічає різниці. Потрібна вона, коли мікрофон не працює,</a:t>
            </a:r>
          </a:p>
          <a:p>
            <a:r>
              <a:rPr lang="uk-UA" sz="1200" dirty="0"/>
              <a:t>PyAudio не поставився або немає інтернету. На уроці 11 мати обидва варіанти —</a:t>
            </a:r>
          </a:p>
          <a:p>
            <a:r>
              <a:rPr lang="uk-UA" sz="1200" dirty="0"/>
              <a:t>хороша ідея: захист, на якому не запрацював мікрофон, — реальна ситуація.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функцію разом із планом Б.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Практика на переписування, а не на вигадування: усередині функції лежить рівно</a:t>
            </a:r>
          </a:p>
          <a:p>
            <a:r>
              <a:rPr lang="uk-UA" sz="1200" dirty="0"/>
              <a:t>те, що вже набране в блоці 4, тільки зсунуте на чотири пробіли глибше й з</a:t>
            </a:r>
          </a:p>
          <a:p>
            <a:r>
              <a:rPr lang="uk-UA" sz="1200" dirty="0"/>
              <a:t>return замість print. Про це кажу першою фразою, інакше половина групи</a:t>
            </a:r>
          </a:p>
          <a:p>
            <a:r>
              <a:rPr lang="uk-UA" sz="1200" dirty="0"/>
              <a:t>злякається обсягу.</a:t>
            </a:r>
          </a:p>
          <a:p>
            <a:endParaRPr lang="uk-UA" sz="1200" dirty="0"/>
          </a:p>
          <a:p>
            <a:r>
              <a:rPr lang="uk-UA" sz="1200" dirty="0"/>
              <a:t>Друга фраза — про верхівку файла, і вона важливіша за першу. На екрані весь</a:t>
            </a:r>
          </a:p>
          <a:p>
            <a:r>
              <a:rPr lang="uk-UA" sz="1200" dirty="0"/>
              <a:t>hear.py цілком, згори вниз, і починається він тими самими двома рядками, що й</a:t>
            </a:r>
          </a:p>
          <a:p>
            <a:r>
              <a:rPr lang="uk-UA" sz="1200" dirty="0"/>
              <a:t>раніше: import speech_recognition as sr і r = sr.Recognizer(). Вони лишаються</a:t>
            </a:r>
          </a:p>
          <a:p>
            <a:r>
              <a:rPr lang="uk-UA" sz="1200" dirty="0"/>
              <a:t>на місці, поза функцією, всередину def НЕ їдуть. Кажу прямо: «стираємо тільки</a:t>
            </a:r>
          </a:p>
          <a:p>
            <a:r>
              <a:rPr lang="uk-UA" sz="1200" dirty="0"/>
              <a:t>те, що було нижче цих двох рядків». Хто зітре файл повністю й почне з def,</a:t>
            </a:r>
          </a:p>
          <a:p>
            <a:r>
              <a:rPr lang="uk-UA" sz="1200" dirty="0"/>
              <a:t>дістане NameError: name 'sr' is not defined — це найчастіша поломка блоку, і</a:t>
            </a:r>
          </a:p>
          <a:p>
            <a:r>
              <a:rPr lang="uk-UA" sz="1200" dirty="0"/>
              <a:t>краще сказати про неї до, ніж лікувати після.</a:t>
            </a:r>
          </a:p>
          <a:p>
            <a:endParaRPr lang="uk-UA" sz="1200" dirty="0"/>
          </a:p>
          <a:p>
            <a:r>
              <a:rPr lang="uk-UA" sz="1200" dirty="0"/>
              <a:t>Диктую вголос порядок:</a:t>
            </a:r>
          </a:p>
          <a:p>
            <a:r>
              <a:rPr lang="uk-UA" sz="1200" dirty="0"/>
              <a:t>    два верхні рядки лишаються як були, їх не чіпаємо;</a:t>
            </a:r>
          </a:p>
          <a:p>
            <a:r>
              <a:rPr lang="uk-UA" sz="1200" dirty="0"/>
              <a:t>    рядок def listen(): — з краю, з двокрапкою;</a:t>
            </a:r>
          </a:p>
          <a:p>
            <a:r>
              <a:rPr lang="uk-UA" sz="1200" dirty="0"/>
              <a:t>    усе, що було в блоці 4 всередині with, — усередину функції, кожен рядок на</a:t>
            </a:r>
          </a:p>
          <a:p>
            <a:r>
              <a:rPr lang="uk-UA" sz="1200" dirty="0"/>
              <a:t>    чотири пробіли глибше;</a:t>
            </a:r>
          </a:p>
          <a:p>
            <a:r>
              <a:rPr lang="uk-UA" sz="1200" dirty="0"/>
              <a:t>    замість print("Ти сказав:", text) — return з тим самим викликом;</a:t>
            </a:r>
          </a:p>
          <a:p>
            <a:r>
              <a:rPr lang="uk-UA" sz="1200" dirty="0"/>
              <a:t>    у except замість print — return "" (дві лапки поспіль, між ними нічого);</a:t>
            </a:r>
          </a:p>
          <a:p>
            <a:r>
              <a:rPr lang="uk-UA" sz="1200" dirty="0"/>
              <a:t>    три рядки плану Б — з ґратками на початку, вони поки нічого не роблять.</a:t>
            </a:r>
          </a:p>
          <a:p>
            <a:endParaRPr lang="uk-UA" sz="1200" dirty="0"/>
          </a:p>
          <a:p>
            <a:r>
              <a:rPr lang="uk-UA" sz="1200" dirty="0"/>
              <a:t>Про ґратки кажу окремо: усе, що після #, Python не виконує. Набираємо їх зараз,</a:t>
            </a:r>
          </a:p>
          <a:p>
            <a:r>
              <a:rPr lang="uk-UA" sz="1200" dirty="0"/>
              <a:t>щоб удома лишилось прибрати три знаки, а не вигадувати код увечері.</a:t>
            </a:r>
          </a:p>
          <a:p>
            <a:endParaRPr lang="uk-UA" sz="1200" dirty="0"/>
          </a:p>
          <a:p>
            <a:r>
              <a:rPr lang="uk-UA" sz="1200" dirty="0"/>
              <a:t>Щоб перевірити функцію просто зараз, у самому кінці файла стоїть один</a:t>
            </a:r>
          </a:p>
          <a:p>
            <a:r>
              <a:rPr lang="uk-UA" sz="1200" dirty="0"/>
              <a:t>тимчасовий рядок: print(listen()). Він уже на екрані, і набирають його разом з</a:t>
            </a:r>
          </a:p>
          <a:p>
            <a:r>
              <a:rPr lang="uk-UA" sz="1200" dirty="0"/>
              <a:t>усім; у наступному блоці він уже не знадобиться.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NameError: name 'sr' is not defined (або те саме про r) — стерли два</a:t>
            </a:r>
          </a:p>
          <a:p>
            <a:r>
              <a:rPr lang="uk-UA" sz="1200" dirty="0"/>
              <a:t>    верхні рядки разом зі старим кодом; вертаємо їх нагору, файл має</a:t>
            </a:r>
          </a:p>
          <a:p>
            <a:r>
              <a:rPr lang="uk-UA" sz="1200" dirty="0"/>
              <a:t>    починатись рівно так, як на екрані;</a:t>
            </a:r>
          </a:p>
          <a:p>
            <a:r>
              <a:rPr lang="uk-UA" sz="1200" dirty="0"/>
              <a:t>    IndentationError — усередині функції рядки лишили на старому рівні;</a:t>
            </a:r>
          </a:p>
          <a:p>
            <a:r>
              <a:rPr lang="uk-UA" sz="1200" dirty="0"/>
              <a:t>    програма запускається й мовчить — забутий print(listen());</a:t>
            </a:r>
          </a:p>
          <a:p>
            <a:r>
              <a:rPr lang="uk-UA" sz="1200" dirty="0"/>
              <a:t>    написали return у except із відступом чотири замість восьми;</a:t>
            </a:r>
          </a:p>
          <a:p>
            <a:r>
              <a:rPr lang="uk-UA" sz="1200" dirty="0"/>
              <a:t>    забули дужки в def listen(): або двокрапку в кінці;</a:t>
            </a:r>
          </a:p>
          <a:p>
            <a:r>
              <a:rPr lang="uk-UA" sz="1200" dirty="0"/>
              <a:t>    план Б набрали без ґраток — друга listen витіснила справжню, і програма</a:t>
            </a:r>
          </a:p>
          <a:p>
            <a:r>
              <a:rPr lang="uk-UA" sz="1200" dirty="0"/>
              <a:t>    тепер тільки питає з клавіатури.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в except другим рядком, перед return, ще один —</a:t>
            </a:r>
          </a:p>
          <a:p>
            <a:r>
              <a:rPr lang="uk-UA" sz="1200" dirty="0"/>
              <a:t>print("АІДА: Не розчула. Повтори, будь ласка.") — і функція знову почне</a:t>
            </a:r>
          </a:p>
          <a:p>
            <a:r>
              <a:rPr lang="uk-UA" sz="1200" dirty="0"/>
              <a:t>говорити про невдачу вголос.</a:t>
            </a:r>
          </a:p>
          <a:p>
            <a:endParaRPr lang="uk-UA" sz="1200" dirty="0"/>
          </a:p>
          <a:p>
            <a:r>
              <a:rPr lang="uk-UA" sz="1200" dirty="0"/>
              <a:t>Наступний блок — ставимо цю функцію в цикл розмови.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(два верхні рядки лишились зверху, наприкінці файла тимчасово</a:t>
            </a:r>
          </a:p>
          <a:p>
            <a:r>
              <a:rPr lang="uk-UA" sz="1200" dirty="0"/>
              <a:t> дописали рядок print(listen()) )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привіт хто ти</a:t>
            </a:r>
          </a:p>
          <a:p>
            <a:endParaRPr lang="uk-UA" sz="1200" dirty="0"/>
          </a:p>
          <a:p>
            <a:r>
              <a:rPr lang="uk-UA" sz="1200" dirty="0"/>
              <a:t>(кашлянули замість фрази)</a:t>
            </a:r>
          </a:p>
          <a:p>
            <a:r>
              <a:rPr lang="uk-UA" sz="1200" dirty="0"/>
              <a:t>Говори...</a:t>
            </a:r>
          </a:p>
          <a:p>
            <a:endParaRPr lang="uk-UA" sz="1200" dirty="0"/>
          </a:p>
          <a:p>
            <a:r>
              <a:rPr lang="uk-UA" sz="1200" dirty="0"/>
              <a:t>(порожній рядок — це і є ті самі "" з except)</a:t>
            </a:r>
          </a:p>
          <a:p>
            <a:endParaRPr lang="uk-UA" sz="1200" dirty="0"/>
          </a:p>
          <a:p>
            <a:r>
              <a:rPr lang="uk-UA" sz="1200" dirty="0"/>
              <a:t>Головне: функція нічого не друкує сама, крім «Говори...». Усе, що</a:t>
            </a:r>
          </a:p>
          <a:p>
            <a:r>
              <a:rPr lang="uk-UA" sz="1200" dirty="0"/>
              <a:t>вона знає, вона віддає через return — і надрукувати це має той,</a:t>
            </a:r>
          </a:p>
          <a:p>
            <a:r>
              <a:rPr lang="uk-UA" sz="1200" dirty="0"/>
              <a:t>хто її викликав.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фіналом уроку. Питання короткі, і головне з них третє.</a:t>
            </a:r>
          </a:p>
          <a:p>
            <a:endParaRPr lang="uk-UA" sz="1200" dirty="0"/>
          </a:p>
          <a:p>
            <a:r>
              <a:rPr lang="uk-UA" sz="1200" dirty="0"/>
              <a:t>ЯКИЙ РЯДОК ЗАМІНИТИ. Відповідь: той, де input. Прошу сказати вголос обидва</a:t>
            </a:r>
          </a:p>
          <a:p>
            <a:r>
              <a:rPr lang="uk-UA" sz="1200" dirty="0"/>
              <a:t>варіанти — було й стало. Один рядок на весь голосовий помічник; це те, чим</a:t>
            </a:r>
          </a:p>
          <a:p>
            <a:r>
              <a:rPr lang="uk-UA" sz="1200" dirty="0"/>
              <a:t>варто пишатись, і про це варто сказати прямо.</a:t>
            </a:r>
          </a:p>
          <a:p>
            <a:endParaRPr lang="uk-UA" sz="1200" dirty="0"/>
          </a:p>
          <a:p>
            <a:r>
              <a:rPr lang="uk-UA" sz="1200" dirty="0"/>
              <a:t>ЩО РОБИТИ З ПОРОЖНІМ РЯДКОМ. Кажуть: пропустити. Правильно, і слово continue</a:t>
            </a:r>
          </a:p>
          <a:p>
            <a:r>
              <a:rPr lang="uk-UA" sz="1200" dirty="0"/>
              <a:t>вони вже знають з уроку 3 або 5. Питаю, чим це краще за відповідь «не розчула».</a:t>
            </a:r>
          </a:p>
          <a:p>
            <a:r>
              <a:rPr lang="uk-UA" sz="1200" dirty="0"/>
              <a:t>Тим, що в шумному кабінеті таких порожніх буде багато, і помічник не має</a:t>
            </a:r>
          </a:p>
          <a:p>
            <a:r>
              <a:rPr lang="uk-UA" sz="1200" dirty="0"/>
              <a:t>бурчати на кожен кашель.</a:t>
            </a:r>
          </a:p>
          <a:p>
            <a:endParaRPr lang="uk-UA" sz="1200" dirty="0"/>
          </a:p>
          <a:p>
            <a:r>
              <a:rPr lang="uk-UA" sz="1200" dirty="0"/>
              <a:t>НАВІЩО ЛОГ. Найкорисніше питання. Кажуть: щоб пам'ятати. Кажу справжню</a:t>
            </a:r>
          </a:p>
          <a:p>
            <a:r>
              <a:rPr lang="uk-UA" sz="1200" dirty="0"/>
              <a:t>причину: щоб побачити, ЩО САМЕ почув сервіс. Фраза «він мене не розуміє» після</a:t>
            </a:r>
          </a:p>
          <a:p>
            <a:r>
              <a:rPr lang="uk-UA" sz="1200" dirty="0"/>
              <a:t>логу перетворюється на «він почув інше слово» — і це вже можна полагодити.</a:t>
            </a:r>
          </a:p>
          <a:p>
            <a:endParaRPr lang="uk-UA" sz="1200" dirty="0"/>
          </a:p>
          <a:p>
            <a:r>
              <a:rPr lang="uk-UA" sz="1200" dirty="0"/>
              <a:t>Далі показ, і після нього помічник заговорить голосом групи.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Останній змістовний блок уроку, і головне в ньому — не нові команди, а те, як</a:t>
            </a:r>
          </a:p>
          <a:p>
            <a:r>
              <a:rPr lang="uk-UA" sz="1200" dirty="0"/>
              <a:t>мало змінилось.</a:t>
            </a:r>
          </a:p>
          <a:p>
            <a:endParaRPr lang="uk-UA" sz="1200" dirty="0"/>
          </a:p>
          <a:p>
            <a:r>
              <a:rPr lang="uk-UA" sz="1200" dirty="0"/>
              <a:t>Відкриваю на телевізорі програму з уроку 5 і ставлю поруч сьогоднішню. Прошу</a:t>
            </a:r>
          </a:p>
          <a:p>
            <a:r>
              <a:rPr lang="uk-UA" sz="1200" dirty="0"/>
              <a:t>групу знайти різницю в циклі. Вона в одному рядку: було text = input("Ти: "),</a:t>
            </a:r>
          </a:p>
          <a:p>
            <a:r>
              <a:rPr lang="uk-UA" sz="1200" dirty="0"/>
              <a:t>стало text = listen(). Усе інше — сам while True, перевірка на «стоп», друк</a:t>
            </a:r>
          </a:p>
          <a:p>
            <a:r>
              <a:rPr lang="uk-UA" sz="1200" dirty="0"/>
              <a:t>відповіді — не змінилось узагалі. Це і є головна думка уроку, і саме її треба</a:t>
            </a:r>
          </a:p>
          <a:p>
            <a:r>
              <a:rPr lang="uk-UA" sz="1200" dirty="0"/>
              <a:t>сказати вголос.</a:t>
            </a:r>
          </a:p>
          <a:p>
            <a:endParaRPr lang="uk-UA" sz="1200" dirty="0"/>
          </a:p>
          <a:p>
            <a:r>
              <a:rPr lang="uk-UA" sz="1200" dirty="0"/>
              <a:t>Одразу кажу й про останній рядок, інакше про нього спитають посеред набирання.</a:t>
            </a:r>
          </a:p>
          <a:p>
            <a:r>
              <a:rPr lang="uk-UA" sz="1200" dirty="0"/>
              <a:t>Сьогодні в hear.py на місці відповіді стоїть готовий рядок</a:t>
            </a:r>
          </a:p>
          <a:p>
            <a:r>
              <a:rPr lang="uk-UA" sz="1200" dirty="0"/>
              <a:t>print("АІДА: Я тебе почула."). Причина проста: ask_ai живе в assistant5.py з</a:t>
            </a:r>
          </a:p>
          <a:p>
            <a:r>
              <a:rPr lang="uk-UA" sz="1200" dirty="0"/>
              <a:t>уроку 5, а hear.py — окремий файл, у якому його немає. Тягти помічника сюди ми</a:t>
            </a:r>
          </a:p>
          <a:p>
            <a:r>
              <a:rPr lang="uk-UA" sz="1200" dirty="0"/>
              <a:t>не будемо: hear.py — це вуха окремо. Зустрінуться вони вдома, першим пунктом</a:t>
            </a:r>
          </a:p>
          <a:p>
            <a:r>
              <a:rPr lang="uk-UA" sz="1200" dirty="0"/>
              <a:t>домашнього, коли listen переїде в assistant5.py на місце input, — і аж тоді</a:t>
            </a:r>
          </a:p>
          <a:p>
            <a:r>
              <a:rPr lang="uk-UA" sz="1200" dirty="0"/>
              <a:t>цикл почне відповідати словами моделі. Кажу це чесно: сьогодні перевіряємо</a:t>
            </a:r>
          </a:p>
          <a:p>
            <a:r>
              <a:rPr lang="uk-UA" sz="1200" dirty="0"/>
              <a:t>вуха, а не розум.</a:t>
            </a:r>
          </a:p>
          <a:p>
            <a:endParaRPr lang="uk-UA" sz="1200" dirty="0"/>
          </a:p>
          <a:p>
            <a:r>
              <a:rPr lang="uk-UA" sz="1200" dirty="0"/>
              <a:t>Далі два рядки, яких у старому циклі не було.</a:t>
            </a:r>
          </a:p>
          <a:p>
            <a:endParaRPr lang="uk-UA" sz="1200" dirty="0"/>
          </a:p>
          <a:p>
            <a:r>
              <a:rPr lang="uk-UA" sz="1200" dirty="0"/>
              <a:t>if text == "": continue — якщо не розчули, просто слухаємо далі: ні порожнього</a:t>
            </a:r>
          </a:p>
          <a:p>
            <a:r>
              <a:rPr lang="uk-UA" sz="1200" dirty="0"/>
              <a:t>«Ти:» на екрані, ні порожнього рядка в лозі. continue вони бачили на уроці 5:</a:t>
            </a:r>
          </a:p>
          <a:p>
            <a:r>
              <a:rPr lang="uk-UA" sz="1200" dirty="0"/>
              <a:t>«пропусти решту кола й почни наступне».</a:t>
            </a:r>
          </a:p>
          <a:p>
            <a:endParaRPr lang="uk-UA" sz="1200" dirty="0"/>
          </a:p>
          <a:p>
            <a:r>
              <a:rPr lang="uk-UA" sz="1200" dirty="0"/>
              <a:t>if "стоп" in text.lower() — тут in, а не ==, і це важливо. Живою мовою рідко</a:t>
            </a:r>
          </a:p>
          <a:p>
            <a:r>
              <a:rPr lang="uk-UA" sz="1200" dirty="0"/>
              <a:t>кажуть рівно «стоп», частіше «ну все, стоп» або «стоп, годі». in шукає слово</a:t>
            </a:r>
          </a:p>
          <a:p>
            <a:r>
              <a:rPr lang="uk-UA" sz="1200" dirty="0"/>
              <a:t>всередині фрази, а == вимагає збігу буква в букву. Це рівно той інструмент з</a:t>
            </a:r>
          </a:p>
          <a:p>
            <a:r>
              <a:rPr lang="uk-UA" sz="1200" dirty="0"/>
              <a:t>уроку 2, і аж тепер видно, навіщо він був потрібен. .lower() поруч — на випадок</a:t>
            </a:r>
          </a:p>
          <a:p>
            <a:r>
              <a:rPr lang="uk-UA" sz="1200" dirty="0"/>
              <a:t>«Стоп» з великої.</a:t>
            </a:r>
          </a:p>
          <a:p>
            <a:endParaRPr lang="uk-UA" sz="1200" dirty="0"/>
          </a:p>
          <a:p>
            <a:r>
              <a:rPr lang="uk-UA" sz="1200" dirty="0"/>
              <a:t>ЛОГ. Дописуємо кожну розпізнану фразу в log_speech.txt режимом "a" з уроку 3 —</a:t>
            </a:r>
          </a:p>
          <a:p>
            <a:r>
              <a:rPr lang="uk-UA" sz="1200" dirty="0"/>
              <a:t>жодного нового інструмента. Навіщо: коли дитина каже «він мене не розуміє»,</a:t>
            </a:r>
          </a:p>
          <a:p>
            <a:r>
              <a:rPr lang="uk-UA" sz="1200" dirty="0"/>
              <a:t>насправді майже завжди він розпізнав щось інше. Лог показує що саме, і після</a:t>
            </a:r>
          </a:p>
          <a:p>
            <a:r>
              <a:rPr lang="uk-UA" sz="1200" dirty="0"/>
              <a:t>цього зрозуміло, куди дивитись.</a:t>
            </a:r>
          </a:p>
          <a:p>
            <a:endParaRPr lang="uk-UA" sz="1200" dirty="0"/>
          </a:p>
          <a:p>
            <a:r>
              <a:rPr lang="uk-UA" sz="1200" dirty="0"/>
              <a:t>Прошу наприкінці відкрити файл і почитати. Це смішно й повчально водночас: там</a:t>
            </a:r>
          </a:p>
          <a:p>
            <a:r>
              <a:rPr lang="uk-UA" sz="1200" dirty="0"/>
              <a:t>буде видно всі кумедні варіанти, які почув сервіс.</a:t>
            </a:r>
          </a:p>
          <a:p>
            <a:endParaRPr lang="uk-UA" sz="1200" dirty="0"/>
          </a:p>
          <a:p>
            <a:r>
              <a:rPr lang="uk-UA" sz="1200" dirty="0"/>
              <a:t>Підсумок уроку одним реченням: помічник навчився чути, а логіка не змінилась ні</a:t>
            </a:r>
          </a:p>
          <a:p>
            <a:r>
              <a:rPr lang="uk-UA" sz="1200" dirty="0"/>
              <a:t>на рядок. Наступного разу він заговорить — і коло замкнеться.</a:t>
            </a:r>
          </a:p>
          <a:p>
            <a:endParaRPr lang="uk-UA" sz="1200" dirty="0"/>
          </a:p>
          <a:p>
            <a:r>
              <a:rPr lang="uk-UA" sz="1200" dirty="0"/>
              <a:t>Наступний слайд — набираємо цикл цілком.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Фінальний код уроку. Диктую першою фразою те, що прибирається: тимчасовий</a:t>
            </a:r>
          </a:p>
          <a:p>
            <a:r>
              <a:rPr lang="uk-UA" sz="1200" dirty="0"/>
              <a:t>рядок print(listen()) з попереднього блоку більше не потрібен, замість нього</a:t>
            </a:r>
          </a:p>
          <a:p>
            <a:r>
              <a:rPr lang="uk-UA" sz="1200" dirty="0"/>
              <a:t>стане цикл. На екрані весь hear.py цілком: верх такий самий, як у блоці 5,</a:t>
            </a:r>
          </a:p>
          <a:p>
            <a:r>
              <a:rPr lang="uk-UA" sz="1200" dirty="0"/>
              <a:t>нове — тільки цикл унизу.</a:t>
            </a:r>
          </a:p>
          <a:p>
            <a:endParaRPr lang="uk-UA" sz="1200" dirty="0"/>
          </a:p>
          <a:p>
            <a:r>
              <a:rPr lang="uk-UA" sz="1200" dirty="0"/>
              <a:t>Далі кажу, звідки взявся кожен рядок, — нових тут майже немає:</a:t>
            </a:r>
          </a:p>
          <a:p>
            <a:r>
              <a:rPr lang="uk-UA" sz="1200" dirty="0"/>
              <a:t>    while True: і break — урок 1;</a:t>
            </a:r>
          </a:p>
          <a:p>
            <a:r>
              <a:rPr lang="uk-UA" sz="1200" dirty="0"/>
              <a:t>    continue — урок 5;</a:t>
            </a:r>
          </a:p>
          <a:p>
            <a:r>
              <a:rPr lang="uk-UA" sz="1200" dirty="0"/>
              <a:t>    in і .lower() — урок 2;</a:t>
            </a:r>
          </a:p>
          <a:p>
            <a:r>
              <a:rPr lang="uk-UA" sz="1200" dirty="0"/>
              <a:t>    with open(..., "a") і f.write — урок 3;</a:t>
            </a:r>
          </a:p>
          <a:p>
            <a:r>
              <a:rPr lang="uk-UA" sz="1200" dirty="0"/>
              <a:t>    listen() — сьогоднішній блок 5.</a:t>
            </a:r>
          </a:p>
          <a:p>
            <a:r>
              <a:rPr lang="uk-UA" sz="1200" dirty="0"/>
              <a:t>Тобто сьогодні ми не вчимо нічого нового, ми складаємо разом те, що вже вміємо.</a:t>
            </a:r>
          </a:p>
          <a:p>
            <a:r>
              <a:rPr lang="uk-UA" sz="1200" dirty="0"/>
              <a:t>Це варто сказати вголос: група має почути, що курс накопичується.</a:t>
            </a:r>
          </a:p>
          <a:p>
            <a:endParaRPr lang="uk-UA" sz="1200" dirty="0"/>
          </a:p>
          <a:p>
            <a:r>
              <a:rPr lang="uk-UA" sz="1200" dirty="0"/>
              <a:t>Про останній рядок кажу до набирання, бо питання буде обов'язково: «а де</a:t>
            </a:r>
          </a:p>
          <a:p>
            <a:r>
              <a:rPr lang="uk-UA" sz="1200" dirty="0"/>
              <a:t>ask_ai?». Відповідаю прямо: ask_ai лежить в assistant5.py, а ми весь урок</a:t>
            </a:r>
          </a:p>
          <a:p>
            <a:r>
              <a:rPr lang="uk-UA" sz="1200" dirty="0"/>
              <a:t>пишемо окремий файл hear.py, і в ньому його немає. Тому останній рядок сьогодні</a:t>
            </a:r>
          </a:p>
          <a:p>
            <a:r>
              <a:rPr lang="uk-UA" sz="1200" dirty="0"/>
              <a:t>такий, як на екрані, — print("АІДА: Я тебе почула."), — і набирають його</a:t>
            </a:r>
          </a:p>
          <a:p>
            <a:r>
              <a:rPr lang="uk-UA" sz="1200" dirty="0"/>
              <a:t>дослівно, разом з усіма. Так програма працює в кожного: і в того, у кого ключ</a:t>
            </a:r>
          </a:p>
          <a:p>
            <a:r>
              <a:rPr lang="uk-UA" sz="1200" dirty="0"/>
              <a:t>до моделі відпав ще на уроці 4. А зведемо ми вуха з помічником удома, першим</a:t>
            </a:r>
          </a:p>
          <a:p>
            <a:r>
              <a:rPr lang="uk-UA" sz="1200" dirty="0"/>
              <a:t>пунктом домашнього: listen переїде в assistant5.py на місце input, і той самий</a:t>
            </a:r>
          </a:p>
          <a:p>
            <a:r>
              <a:rPr lang="uk-UA" sz="1200" dirty="0"/>
              <a:t>цикл почне відповідати словами моделі. Хто просить справжню відповідь просто</a:t>
            </a:r>
          </a:p>
          <a:p>
            <a:r>
              <a:rPr lang="uk-UA" sz="1200" dirty="0"/>
              <a:t>зараз — тому кажу зачекати до домашнього, а не переписувати рядок навмання.</a:t>
            </a:r>
          </a:p>
          <a:p>
            <a:endParaRPr lang="uk-UA" sz="1200" dirty="0"/>
          </a:p>
          <a:p>
            <a:r>
              <a:rPr lang="uk-UA" sz="1200" dirty="0"/>
              <a:t>Про лог кажу два слова: "a" означає «дописати в кінець», а не «перезаписати», а</a:t>
            </a:r>
          </a:p>
          <a:p>
            <a:r>
              <a:rPr lang="uk-UA" sz="1200" dirty="0"/>
              <a:t>"\n" — перехід на новий рядок, інакше всі фрази злипнуться в одну.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continue — і кожне «не розчула» лягає в лог порожнім рядком, а на</a:t>
            </a:r>
          </a:p>
          <a:p>
            <a:r>
              <a:rPr lang="uk-UA" sz="1200" dirty="0"/>
              <a:t>    екрані з'являється «Ти:» без нічого;</a:t>
            </a:r>
          </a:p>
          <a:p>
            <a:r>
              <a:rPr lang="uk-UA" sz="1200" dirty="0"/>
              <a:t>    порівняли текст із «стоп» через == і не можуть зупинити програму голосом;</a:t>
            </a:r>
          </a:p>
          <a:p>
            <a:r>
              <a:rPr lang="uk-UA" sz="1200" dirty="0"/>
              <a:t>    написали f.write(text) без "\n" — у файлі один довгий рядок;</a:t>
            </a:r>
          </a:p>
          <a:p>
            <a:r>
              <a:rPr lang="uk-UA" sz="1200" dirty="0"/>
              <a:t>    NameError: name 'listen' is not defined — цикл набрали в новому файлі, а не</a:t>
            </a:r>
          </a:p>
          <a:p>
            <a:r>
              <a:rPr lang="uk-UA" sz="1200" dirty="0"/>
              <a:t>    в кінці hear.py, де лежить функція;</a:t>
            </a:r>
          </a:p>
          <a:p>
            <a:r>
              <a:rPr lang="uk-UA" sz="1200" dirty="0"/>
              <a:t>    цикл набрали з відступом, під функцію listen, — тоді він не запускається</a:t>
            </a:r>
          </a:p>
          <a:p>
            <a:r>
              <a:rPr lang="uk-UA" sz="1200" dirty="0"/>
              <a:t>    взагалі, бо став її частиною.</a:t>
            </a:r>
          </a:p>
          <a:p>
            <a:endParaRPr lang="uk-UA" sz="1200" dirty="0"/>
          </a:p>
          <a:p>
            <a:r>
              <a:rPr lang="uk-UA" sz="1200" dirty="0"/>
              <a:t>Наприкінці прошу всіх відкрити log_speech.txt і прочитати сусідові вголос</a:t>
            </a:r>
          </a:p>
          <a:p>
            <a:r>
              <a:rPr lang="uk-UA" sz="1200" dirty="0"/>
              <a:t>найкумеднішу фразу, яку почув сервіс. Це найкращий фінал уроку.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у цикл перед останнім print ще три рядки —</a:t>
            </a:r>
          </a:p>
          <a:p>
            <a:r>
              <a:rPr lang="uk-UA" sz="1200" dirty="0"/>
              <a:t>if "тиша" in text.lower(): , під ним print("АІДА: Мовчу.") і під ним continue.</a:t>
            </a:r>
          </a:p>
          <a:p>
            <a:r>
              <a:rPr lang="uk-UA" sz="1200" dirty="0"/>
              <a:t>Це рівно та сама конструкція, що вже набрана.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привіт хто ти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розкажи щось про космос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ну все стоп</a:t>
            </a:r>
          </a:p>
          <a:p>
            <a:r>
              <a:rPr lang="uk-UA" sz="1200" dirty="0"/>
              <a:t>(програма завершилась)</a:t>
            </a:r>
          </a:p>
          <a:p>
            <a:endParaRPr lang="uk-UA" sz="1200" dirty="0"/>
          </a:p>
          <a:p>
            <a:r>
              <a:rPr lang="uk-UA" sz="1200" dirty="0"/>
              <a:t>У файлі log_speech.txt після цього три рядки:</a:t>
            </a:r>
          </a:p>
          <a:p>
            <a:r>
              <a:rPr lang="uk-UA" sz="1200" dirty="0"/>
              <a:t>привіт хто ти</a:t>
            </a:r>
          </a:p>
          <a:p>
            <a:r>
              <a:rPr lang="uk-UA" sz="1200" dirty="0"/>
              <a:t>розкажи щось про космос</a:t>
            </a:r>
          </a:p>
          <a:p>
            <a:r>
              <a:rPr lang="uk-UA" sz="1200" dirty="0"/>
              <a:t>ну все стоп</a:t>
            </a:r>
          </a:p>
          <a:p>
            <a:endParaRPr lang="uk-UA" sz="1200" dirty="0"/>
          </a:p>
          <a:p>
            <a:r>
              <a:rPr lang="uk-UA" sz="1200" dirty="0"/>
              <a:t>Відповідь АІДИ поки однакова на будь-яку фразу — так і має бути:</a:t>
            </a:r>
          </a:p>
          <a:p>
            <a:r>
              <a:rPr lang="uk-UA" sz="1200" dirty="0"/>
              <a:t>ask_ai лежить в assistant5.py, а тут його немає. Головне сьогодні —</a:t>
            </a:r>
          </a:p>
          <a:p>
            <a:r>
              <a:rPr lang="uk-UA" sz="1200" dirty="0"/>
              <a:t>рядок «Ти:», у якому видно, що саме почув сервіс.</a:t>
            </a:r>
          </a:p>
          <a:p>
            <a:endParaRPr lang="uk-UA" sz="1200" dirty="0"/>
          </a:p>
          <a:p>
            <a:r>
              <a:rPr lang="uk-UA" sz="1200" dirty="0"/>
              <a:t>Перевірка: слово «стоп» усередині довшої фрази теж зупиняє програму —</a:t>
            </a:r>
          </a:p>
          <a:p>
            <a:r>
              <a:rPr lang="uk-UA" sz="1200" dirty="0"/>
              <a:t>саме тому там in, а не ==.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читаємо вголос</a:t>
            </a:r>
          </a:p>
          <a:p>
            <a:endParaRPr lang="uk-UA" sz="1200" dirty="0"/>
          </a:p>
          <a:p>
            <a:r>
              <a:rPr lang="uk-UA" sz="1200" dirty="0"/>
              <a:t>Одна хвилина. Домашнє тепер одне, і воно на пропуски: на слайді весь hear.py</a:t>
            </a:r>
          </a:p>
          <a:p>
            <a:r>
              <a:rPr lang="uk-UA" sz="1200" dirty="0"/>
              <a:t>цілком, згори вниз, тільки в семи місцях замість коду стоїть ___.</a:t>
            </a:r>
          </a:p>
          <a:p>
            <a:endParaRPr lang="uk-UA" sz="1200" dirty="0"/>
          </a:p>
          <a:p>
            <a:r>
              <a:rPr lang="uk-UA" sz="1200" dirty="0"/>
              <a:t>Що кажу дослівно, щоб уложитись у хвилину:</a:t>
            </a:r>
          </a:p>
          <a:p>
            <a:endParaRPr lang="uk-UA" sz="1200" dirty="0"/>
          </a:p>
          <a:p>
            <a:r>
              <a:rPr lang="uk-UA" sz="1200" dirty="0"/>
              <a:t>«Домашнє одне. Створіть поруч із hear.py новий файл hear_dz.py, перепишіть</a:t>
            </a:r>
          </a:p>
          <a:p>
            <a:r>
              <a:rPr lang="uk-UA" sz="1200" dirty="0"/>
              <a:t>туди код зі слайда й замініть кожне ___ на те, чого бракує. Пропусків сім,</a:t>
            </a:r>
          </a:p>
          <a:p>
            <a:r>
              <a:rPr lang="uk-UA" sz="1200" dirty="0"/>
              <a:t>номер кожного стоїть праворуч у коментарі — коментар можна лишити, Python</a:t>
            </a:r>
          </a:p>
          <a:p>
            <a:r>
              <a:rPr lang="uk-UA" sz="1200" dirty="0"/>
              <a:t>його не читає. Вигадувати нічого не треба: усе це сьогодні вже було на</a:t>
            </a:r>
          </a:p>
          <a:p>
            <a:r>
              <a:rPr lang="uk-UA" sz="1200" dirty="0"/>
              <a:t>екрані. Перевірка проста: дві фрази, потім «ну все, стоп». Програма має</a:t>
            </a:r>
          </a:p>
          <a:p>
            <a:r>
              <a:rPr lang="uk-UA" sz="1200" dirty="0"/>
              <a:t>зупинитись, а в log_speech.txt — додатися три рядки. Файл log_speech.txt не</a:t>
            </a:r>
          </a:p>
          <a:p>
            <a:r>
              <a:rPr lang="uk-UA" sz="1200" dirty="0"/>
              <a:t>видаляйте. І принесіть навушники або колонки: наступного уроку помічник</a:t>
            </a:r>
          </a:p>
          <a:p>
            <a:r>
              <a:rPr lang="uk-UA" sz="1200" dirty="0"/>
              <a:t>заговорить.»</a:t>
            </a:r>
          </a:p>
          <a:p>
            <a:endParaRPr lang="uk-UA" sz="1200" dirty="0"/>
          </a:p>
          <a:p>
            <a:r>
              <a:rPr lang="uk-UA" sz="1200" dirty="0"/>
              <a:t>Сфотографувати слайд дозволяю — так швидше, ніж переписувати з дошки.</a:t>
            </a:r>
          </a:p>
          <a:p>
            <a:endParaRPr lang="uk-UA" sz="1200" dirty="0"/>
          </a:p>
          <a:p>
            <a:r>
              <a:rPr lang="uk-UA" sz="1200" dirty="0"/>
              <a:t>Для себе — що перевіряє кожен пропуск:</a:t>
            </a:r>
          </a:p>
          <a:p>
            <a:r>
              <a:rPr lang="uk-UA" sz="1200" dirty="0"/>
              <a:t>    1 Recognizer — хто в програмі слухає (блок 3);</a:t>
            </a:r>
          </a:p>
          <a:p>
            <a:r>
              <a:rPr lang="uk-UA" sz="1200" dirty="0"/>
              <a:t>    2 uk-UA — рядок language, без якого приїде англійська каша (блок 3);</a:t>
            </a:r>
          </a:p>
          <a:p>
            <a:r>
              <a:rPr lang="uk-UA" sz="1200" dirty="0"/>
              <a:t>    3 "" — домовленість, що listen завжди віддає рядок (блок 5);</a:t>
            </a:r>
          </a:p>
          <a:p>
            <a:r>
              <a:rPr lang="uk-UA" sz="1200" dirty="0"/>
              <a:t>    4 listen() — головна думка уроку: один рядок замість input (блок 6);</a:t>
            </a:r>
          </a:p>
          <a:p>
            <a:r>
              <a:rPr lang="uk-UA" sz="1200" dirty="0"/>
              <a:t>    5 continue — не реагувати на кашель (блок 6);</a:t>
            </a:r>
          </a:p>
          <a:p>
            <a:r>
              <a:rPr lang="uk-UA" sz="1200" dirty="0"/>
              <a:t>    6 "a" — дописувати, а не перезаписувати лог (урок 3, блок 6);</a:t>
            </a:r>
          </a:p>
          <a:p>
            <a:r>
              <a:rPr lang="uk-UA" sz="1200" dirty="0"/>
              <a:t>    7 in — шукати «стоп» усередині фрази, а не збіг буква в букву (блок 6).</a:t>
            </a:r>
          </a:p>
          <a:p>
            <a:r>
              <a:rPr lang="uk-UA" sz="1200" dirty="0"/>
              <a:t>Найпоказовіші — 4 і 7: хто їх заповнив правильно, той зрозумів урок.</a:t>
            </a:r>
          </a:p>
          <a:p>
            <a:r>
              <a:rPr lang="uk-UA" sz="1200" dirty="0"/>
              <a:t>Відповіді й те, як кожна помилка виглядає на екрані, — в «Очікуваному</a:t>
            </a:r>
          </a:p>
          <a:p>
            <a:r>
              <a:rPr lang="uk-UA" sz="1200" dirty="0"/>
              <a:t>результаті».</a:t>
            </a:r>
          </a:p>
          <a:p>
            <a:endParaRPr lang="uk-UA" sz="1200" dirty="0"/>
          </a:p>
          <a:p>
            <a:r>
              <a:rPr lang="uk-UA" sz="1200" dirty="0"/>
              <a:t>Кому вдома нема мікрофона: пропуски однаково заповнити, а для перевірки</a:t>
            </a:r>
          </a:p>
          <a:p>
            <a:r>
              <a:rPr lang="uk-UA" sz="1200" dirty="0"/>
              <a:t>дописати одразу під функцією listen план Б із сьогоднішнього hear.py — вже без</a:t>
            </a:r>
          </a:p>
          <a:p>
            <a:r>
              <a:rPr lang="uk-UA" sz="1200" dirty="0"/>
              <a:t>ґраток. Друга listen перекриє першу, і програма питатиме з клавіатури; Enter</a:t>
            </a:r>
          </a:p>
          <a:p>
            <a:r>
              <a:rPr lang="uk-UA" sz="1200" dirty="0"/>
              <a:t>без тексту — це той самий порожній рядок, і continue має його пропустити.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ВІДПОВІДІ НА ПРОПУСКИ</a:t>
            </a:r>
          </a:p>
          <a:p>
            <a:r>
              <a:rPr lang="uk-UA" sz="1200" dirty="0"/>
              <a:t>1  Recognizer</a:t>
            </a:r>
          </a:p>
          <a:p>
            <a:r>
              <a:rPr lang="uk-UA" sz="1200" dirty="0"/>
              <a:t>2  uk-UA</a:t>
            </a:r>
          </a:p>
          <a:p>
            <a:r>
              <a:rPr lang="uk-UA" sz="1200" dirty="0"/>
              <a:t>3  ""          (дві лапки поспіль)</a:t>
            </a:r>
          </a:p>
          <a:p>
            <a:r>
              <a:rPr lang="uk-UA" sz="1200" dirty="0"/>
              <a:t>4  listen()</a:t>
            </a:r>
          </a:p>
          <a:p>
            <a:r>
              <a:rPr lang="uk-UA" sz="1200" dirty="0"/>
              <a:t>5  continue</a:t>
            </a:r>
          </a:p>
          <a:p>
            <a:r>
              <a:rPr lang="uk-UA" sz="1200" dirty="0"/>
              <a:t>6  a</a:t>
            </a:r>
          </a:p>
          <a:p>
            <a:r>
              <a:rPr lang="uk-UA" sz="1200" dirty="0"/>
              <a:t>7  in</a:t>
            </a:r>
          </a:p>
          <a:p>
            <a:endParaRPr lang="uk-UA" sz="1200" dirty="0"/>
          </a:p>
          <a:p>
            <a:r>
              <a:rPr lang="uk-UA" sz="1200" dirty="0"/>
              <a:t>$ python hear_dz.py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привіт аіда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котра година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ну все стоп</a:t>
            </a:r>
          </a:p>
          <a:p>
            <a:r>
              <a:rPr lang="uk-UA" sz="1200" dirty="0"/>
              <a:t>(програма завершилась)</a:t>
            </a:r>
          </a:p>
          <a:p>
            <a:endParaRPr lang="uk-UA" sz="1200" dirty="0"/>
          </a:p>
          <a:p>
            <a:r>
              <a:rPr lang="uk-UA" sz="1200" dirty="0"/>
              <a:t>У кінці log_speech.txt додалися три рядки:</a:t>
            </a:r>
          </a:p>
          <a:p>
            <a:r>
              <a:rPr lang="uk-UA" sz="1200" dirty="0"/>
              <a:t>привіт аіда</a:t>
            </a:r>
          </a:p>
          <a:p>
            <a:r>
              <a:rPr lang="uk-UA" sz="1200" dirty="0"/>
              <a:t>котра година</a:t>
            </a:r>
          </a:p>
          <a:p>
            <a:r>
              <a:rPr lang="uk-UA" sz="1200" dirty="0"/>
              <a:t>ну все стоп</a:t>
            </a:r>
          </a:p>
          <a:p>
            <a:endParaRPr lang="uk-UA" sz="1200" dirty="0"/>
          </a:p>
          <a:p>
            <a:r>
              <a:rPr lang="uk-UA" sz="1200" dirty="0"/>
              <a:t>ЯК ВИДНО ПОМИЛКУ ЗА ПОВЕДІНКОЮ</a:t>
            </a:r>
          </a:p>
          <a:p>
            <a:r>
              <a:rPr lang="uk-UA" sz="1200" dirty="0"/>
              <a:t>4 без дужок (listen)       → «Ти: &lt;function listen ...&gt;» і TypeError на f.write</a:t>
            </a:r>
          </a:p>
          <a:p>
            <a:r>
              <a:rPr lang="uk-UA" sz="1200" dirty="0"/>
              <a:t>3 порожньо (return)        → функція віддає None, падає на f.write</a:t>
            </a:r>
          </a:p>
          <a:p>
            <a:r>
              <a:rPr lang="uk-UA" sz="1200" dirty="0"/>
              <a:t>6 = "w"                    → у лозі завжди лише остання фраза</a:t>
            </a:r>
          </a:p>
          <a:p>
            <a:r>
              <a:rPr lang="uk-UA" sz="1200" dirty="0"/>
              <a:t>7 = ==                     → «ну все стоп» програму не зупиняє</a:t>
            </a:r>
          </a:p>
          <a:p>
            <a:r>
              <a:rPr lang="uk-UA" sz="1200" dirty="0"/>
              <a:t>5 = pass або порожньо      → на кашель у лог лягає порожній рядок / IndentationError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блок: іде тільки якщо лишився час. І це найкорисніший бонус уроку — у</a:t>
            </a:r>
          </a:p>
          <a:p>
            <a:r>
              <a:rPr lang="uk-UA" sz="1200" dirty="0"/>
              <a:t>класі з двадцяти дітей без нього помічник реагує на кожне слово.</a:t>
            </a:r>
          </a:p>
          <a:p>
            <a:endParaRPr lang="uk-UA" sz="1200" dirty="0"/>
          </a:p>
          <a:p>
            <a:r>
              <a:rPr lang="uk-UA" sz="1200" dirty="0"/>
              <a:t>ЯК РОЗУМІЄТЕ, ЩО ДО ВАС. Відповідь: кличуть на ім'я. Кажу: у помічника ім'я вже</a:t>
            </a:r>
          </a:p>
          <a:p>
            <a:r>
              <a:rPr lang="uk-UA" sz="1200" dirty="0"/>
              <a:t>є, воно лежить у persona.txt із першого уроку. Сьогодні воно нарешті</a:t>
            </a:r>
          </a:p>
          <a:p>
            <a:r>
              <a:rPr lang="uk-UA" sz="1200" dirty="0"/>
              <a:t>знадобиться в коді.</a:t>
            </a:r>
          </a:p>
          <a:p>
            <a:endParaRPr lang="uk-UA" sz="1200" dirty="0"/>
          </a:p>
          <a:p>
            <a:r>
              <a:rPr lang="uk-UA" sz="1200" dirty="0"/>
              <a:t>ЩО РОБИТЬ КОЛОНКА. Найцікавіше питання. Діти знають: слухає, але мовчить, поки</a:t>
            </a:r>
          </a:p>
          <a:p>
            <a:r>
              <a:rPr lang="uk-UA" sz="1200" dirty="0"/>
              <a:t>не скажеш «Аліса» чи «Окей, Гугл». Кажу, що це називається словом-будильником, і</a:t>
            </a:r>
          </a:p>
          <a:p>
            <a:r>
              <a:rPr lang="uk-UA" sz="1200" dirty="0"/>
              <a:t>що ми зробимо своє за три рядки.</a:t>
            </a:r>
          </a:p>
          <a:p>
            <a:endParaRPr lang="uk-UA" sz="1200" dirty="0"/>
          </a:p>
          <a:p>
            <a:r>
              <a:rPr lang="uk-UA" sz="1200" dirty="0"/>
              <a:t>ДЕ ПЕРЕВІРЯТИ. Правильна відповідь: у циклі, одразу після listen. Прошу</a:t>
            </a:r>
          </a:p>
          <a:p>
            <a:r>
              <a:rPr lang="uk-UA" sz="1200" dirty="0"/>
              <a:t>подумати, що робити, коли імені у фразі немає. Пропускати — той самий continue,</a:t>
            </a:r>
          </a:p>
          <a:p>
            <a:r>
              <a:rPr lang="uk-UA" sz="1200" dirty="0"/>
              <a:t>що для порожнього рядка.</a:t>
            </a:r>
          </a:p>
          <a:p>
            <a:endParaRPr lang="uk-UA" sz="1200" dirty="0"/>
          </a:p>
          <a:p>
            <a:r>
              <a:rPr lang="uk-UA" sz="1200" dirty="0"/>
              <a:t>Одразу кажу про пастку, яку побачимо на показі: сервіс не завжди чує ім'я</a:t>
            </a:r>
          </a:p>
          <a:p>
            <a:r>
              <a:rPr lang="uk-UA" sz="1200" dirty="0"/>
              <a:t>однаково, і «АІДА» може приїхати як «аїда» чи «а іда». Тому перевіряти будемо</a:t>
            </a:r>
          </a:p>
          <a:p>
            <a:r>
              <a:rPr lang="uk-UA" sz="1200" dirty="0"/>
              <a:t>не ціле слово, а корінь — рівно як на уроці 2.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коду три рядки, а розмови — на цілий</a:t>
            </a:r>
          </a:p>
          <a:p>
            <a:r>
              <a:rPr lang="uk-UA" sz="1200" dirty="0"/>
              <a:t>блок, бо тема дітям знайома з дому.</a:t>
            </a:r>
          </a:p>
          <a:p>
            <a:endParaRPr lang="uk-UA" sz="1200" dirty="0"/>
          </a:p>
          <a:p>
            <a:r>
              <a:rPr lang="uk-UA" sz="1200" dirty="0"/>
              <a:t>КОРІНЬ ІМЕНІ. Пишу NAME = "аід" і питаю групу, чому не «аіда». Прошу згадати</a:t>
            </a:r>
          </a:p>
          <a:p>
            <a:r>
              <a:rPr lang="uk-UA" sz="1200" dirty="0"/>
              <a:t>урок 2: там ми шукали «погод», щоб зловити і «погоду», і «погоді». Тут те саме,</a:t>
            </a:r>
          </a:p>
          <a:p>
            <a:r>
              <a:rPr lang="uk-UA" sz="1200" dirty="0"/>
              <a:t>тільки причина інша — сервіс розпізнавання чує ім'я по-різному.</a:t>
            </a:r>
          </a:p>
          <a:p>
            <a:endParaRPr lang="uk-UA" sz="1200" dirty="0"/>
          </a:p>
          <a:p>
            <a:r>
              <a:rPr lang="uk-UA" sz="1200" dirty="0"/>
              <a:t>NOT IN. Читаю вголос: якщо кореня в почутому немає — далі не йдемо. Показую</a:t>
            </a:r>
          </a:p>
          <a:p>
            <a:r>
              <a:rPr lang="uk-UA" sz="1200" dirty="0"/>
              <a:t>пальцем, куди саме поставити рядок: одразу після перевірки на порожній рядок.</a:t>
            </a:r>
          </a:p>
          <a:p>
            <a:endParaRPr lang="uk-UA" sz="1200" dirty="0"/>
          </a:p>
          <a:p>
            <a:r>
              <a:rPr lang="uk-UA" sz="1200" dirty="0"/>
              <a:t>ПОРЯДОК ПЕРЕВІРОК. Головне місце блоку. Питаю: що буде, якщо поставити цю</a:t>
            </a:r>
          </a:p>
          <a:p>
            <a:r>
              <a:rPr lang="uk-UA" sz="1200" dirty="0"/>
              <a:t>перевірку після запису в лог? У лог полізе весь кабінет. Це той випадок, коли</a:t>
            </a:r>
          </a:p>
          <a:p>
            <a:r>
              <a:rPr lang="uk-UA" sz="1200" dirty="0"/>
              <a:t>порядок рядків міняє поведінку програми, а помилки немає зовсім.</a:t>
            </a:r>
          </a:p>
          <a:p>
            <a:endParaRPr lang="uk-UA" sz="1200" dirty="0"/>
          </a:p>
          <a:p>
            <a:r>
              <a:rPr lang="uk-UA" sz="1200" dirty="0"/>
              <a:t>ЧИ ПРИБИРАТИ ІМ'Я З ФРАЗИ. Кажу чесно: не обов'язково. «АІДА розкажи жарт» —</a:t>
            </a:r>
          </a:p>
          <a:p>
            <a:r>
              <a:rPr lang="uk-UA" sz="1200" dirty="0"/>
              <a:t>цілком нормальне питання для моделі, вона просто побачить звертання. Хто хоче</a:t>
            </a:r>
          </a:p>
          <a:p>
            <a:r>
              <a:rPr lang="uk-UA" sz="1200" dirty="0"/>
              <a:t>прибрати — це один рядок із replace, і його я показую тим, хто впорався</a:t>
            </a:r>
          </a:p>
          <a:p>
            <a:r>
              <a:rPr lang="uk-UA" sz="1200" dirty="0"/>
              <a:t>швидше.</a:t>
            </a:r>
          </a:p>
          <a:p>
            <a:endParaRPr lang="uk-UA" sz="1200" dirty="0"/>
          </a:p>
          <a:p>
            <a:r>
              <a:rPr lang="uk-UA" sz="1200" dirty="0"/>
              <a:t>ЩО ДРУКУВАТИ, КОЛИ НЕ ПОКЛИКАЛИ. Пропоную нічого не друкувати — так поводиться</a:t>
            </a:r>
          </a:p>
          <a:p>
            <a:r>
              <a:rPr lang="uk-UA" sz="1200" dirty="0"/>
              <a:t>колонка вдома. Але на парі корисно один раз надрукувати «(не до мене)», щоб</a:t>
            </a:r>
          </a:p>
          <a:p>
            <a:r>
              <a:rPr lang="uk-UA" sz="1200" dirty="0"/>
              <a:t>було видно, що програма працює, а не зависла. Потім цей рядок прибирають.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три рядки.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чотири, і головна робота — поставити їх</a:t>
            </a:r>
          </a:p>
          <a:p>
            <a:r>
              <a:rPr lang="uk-UA" sz="1200" dirty="0"/>
              <a:t>у правильне місце циклу.</a:t>
            </a:r>
          </a:p>
          <a:p>
            <a:endParaRPr lang="uk-UA" sz="1200" dirty="0"/>
          </a:p>
          <a:p>
            <a:r>
              <a:rPr lang="uk-UA" sz="1200" dirty="0"/>
              <a:t>Кажу порядок: NAME — нагорі, поруч із r = sr.Recognizer(); три рядки перевірки</a:t>
            </a:r>
          </a:p>
          <a:p>
            <a:r>
              <a:rPr lang="uk-UA" sz="1200" dirty="0"/>
              <a:t>— у циклі, під print("Ти:", text) і ВИЩЕ за запис у лог. На екрані весь hear.py</a:t>
            </a:r>
          </a:p>
          <a:p>
            <a:r>
              <a:rPr lang="uk-UA" sz="1200" dirty="0"/>
              <a:t>цілком, тож місце видно.</a:t>
            </a:r>
          </a:p>
          <a:p>
            <a:endParaRPr lang="uk-UA" sz="1200" dirty="0"/>
          </a:p>
          <a:p>
            <a:r>
              <a:rPr lang="uk-UA" sz="1200" dirty="0"/>
              <a:t>Про replace("ї", "і") кажу окремо: сервіс пише ім'я то «Аїда», то «Аіда», а</a:t>
            </a:r>
          </a:p>
          <a:p>
            <a:r>
              <a:rPr lang="uk-UA" sz="1200" dirty="0"/>
              <a:t>корінь "аід" без цієї заміни першого варіанта не бачить — і помічник мовчав би</a:t>
            </a:r>
          </a:p>
          <a:p>
            <a:r>
              <a:rPr lang="uk-UA" sz="1200" dirty="0"/>
              <a:t>саме на правильному правописі.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перевірку після запису в лог — у файл лізе весь кабінет;</a:t>
            </a:r>
          </a:p>
          <a:p>
            <a:r>
              <a:rPr lang="uk-UA" sz="1200" dirty="0"/>
              <a:t>    забули .lower() — фраза з великої «АІДА» не збігається з коренем;</a:t>
            </a:r>
          </a:p>
          <a:p>
            <a:r>
              <a:rPr lang="uk-UA" sz="1200" dirty="0"/>
              <a:t>    написали NAME = "аіда" — у кличному «Аїдо!» такого шматка немає, і помічник</a:t>
            </a:r>
          </a:p>
          <a:p>
            <a:r>
              <a:rPr lang="uk-UA" sz="1200" dirty="0"/>
              <a:t>        мовчить;</a:t>
            </a:r>
          </a:p>
          <a:p>
            <a:r>
              <a:rPr lang="uk-UA" sz="1200" dirty="0"/>
              <a:t>    забули continue — програма відповідає на все, як і раніше.</a:t>
            </a:r>
          </a:p>
          <a:p>
            <a:endParaRPr lang="uk-UA" sz="1200" dirty="0"/>
          </a:p>
          <a:p>
            <a:r>
              <a:rPr lang="uk-UA" sz="1200" dirty="0"/>
              <a:t>Третю помилку варто показати живцем: прошу когось сказати ім'я тричі й</a:t>
            </a:r>
          </a:p>
          <a:p>
            <a:r>
              <a:rPr lang="uk-UA" sz="1200" dirty="0"/>
              <a:t>подивитись у лог, як його почув сервіс. Різниця зазвичай є, і після цього</a:t>
            </a:r>
          </a:p>
          <a:p>
            <a:r>
              <a:rPr lang="uk-UA" sz="1200" dirty="0"/>
              <a:t>питання «навіщо корінь» знімається саме.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сказати фразу без імені — має бути «(не до мене)»; ту саму</a:t>
            </a:r>
          </a:p>
          <a:p>
            <a:r>
              <a:rPr lang="uk-UA" sz="1200" dirty="0"/>
              <a:t>фразу з іменем — має бути відповідь. Прошу зробити це двічі, бо з першого разу</a:t>
            </a:r>
          </a:p>
          <a:p>
            <a:r>
              <a:rPr lang="uk-UA" sz="1200" dirty="0"/>
              <a:t>сервіс може почути ім'я неправильно.</a:t>
            </a:r>
          </a:p>
          <a:p>
            <a:endParaRPr lang="uk-UA" sz="1200" dirty="0"/>
          </a:p>
          <a:p>
            <a:r>
              <a:rPr lang="uk-UA" sz="1200" dirty="0"/>
              <a:t>Питаю групу: а якщо в класі двадцять помічників з іменем АІДА — що станеться?</a:t>
            </a:r>
          </a:p>
          <a:p>
            <a:r>
              <a:rPr lang="uk-UA" sz="1200" dirty="0"/>
              <a:t>Відповідають хором і сміються. Кажу, що саме тому вдома в колонок імена різні,</a:t>
            </a:r>
          </a:p>
          <a:p>
            <a:r>
              <a:rPr lang="uk-UA" sz="1200" dirty="0"/>
              <a:t>і пропоную кожному поставити своє ім'я з persona.txt.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прибере ім'я з фрази перед відповіддю —</a:t>
            </a:r>
          </a:p>
          <a:p>
            <a:r>
              <a:rPr lang="uk-UA" sz="1200" dirty="0"/>
              <a:t>text = text.lower().replace(NAME, "").strip(). Один рядок, і моделі поїде чисте</a:t>
            </a:r>
          </a:p>
          <a:p>
            <a:r>
              <a:rPr lang="uk-UA" sz="1200" dirty="0"/>
              <a:t>питання.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привіт як справи</a:t>
            </a:r>
          </a:p>
          <a:p>
            <a:r>
              <a:rPr lang="uk-UA" sz="1200" dirty="0"/>
              <a:t>(не до мене)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привіт як справи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ну все аіда стоп</a:t>
            </a:r>
          </a:p>
          <a:p>
            <a:r>
              <a:rPr lang="uk-UA" sz="1200" dirty="0"/>
              <a:t>(програма завершилась)</a:t>
            </a:r>
          </a:p>
          <a:p>
            <a:endParaRPr lang="uk-UA" sz="1200" dirty="0"/>
          </a:p>
          <a:p>
            <a:r>
              <a:rPr lang="uk-UA" sz="1200" dirty="0"/>
              <a:t>Головне: перша фраза почута й надрукована, але відповіді на неї</a:t>
            </a:r>
          </a:p>
          <a:p>
            <a:r>
              <a:rPr lang="uk-UA" sz="1200" dirty="0"/>
              <a:t>немає — імені в ній не було.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повертається datetime з уроку 2, і повернення</a:t>
            </a:r>
          </a:p>
          <a:p>
            <a:r>
              <a:rPr lang="uk-UA" sz="1200" dirty="0"/>
              <a:t>це приємне: діти впізнають те, що вже вміють.</a:t>
            </a:r>
          </a:p>
          <a:p>
            <a:endParaRPr lang="uk-UA" sz="1200" dirty="0"/>
          </a:p>
          <a:p>
            <a:r>
              <a:rPr lang="uk-UA" sz="1200" dirty="0"/>
              <a:t>ЩОДЕННИК І ПРОСТО РЯДОК. Кажуть: дата, час, число зверху. Ловлю це: наш лог —</a:t>
            </a:r>
          </a:p>
          <a:p>
            <a:r>
              <a:rPr lang="uk-UA" sz="1200" dirty="0"/>
              <a:t>поки що просто стос рядків, у якому не видно, коли що було.</a:t>
            </a:r>
          </a:p>
          <a:p>
            <a:endParaRPr lang="uk-UA" sz="1200" dirty="0"/>
          </a:p>
          <a:p>
            <a:r>
              <a:rPr lang="uk-UA" sz="1200" dirty="0"/>
              <a:t>ЩО ЩЕ КОРИСНО ЗНАТИ. Витягую: час, чи зрозумів помічник, чи звертались до</a:t>
            </a:r>
          </a:p>
          <a:p>
            <a:r>
              <a:rPr lang="uk-UA" sz="1200" dirty="0"/>
              <a:t>нього. Кажу, що сьогодні додамо час, а решту вони допишуть за тим самим</a:t>
            </a:r>
          </a:p>
          <a:p>
            <a:r>
              <a:rPr lang="uk-UA" sz="1200" dirty="0"/>
              <a:t>зразком.</a:t>
            </a:r>
          </a:p>
          <a:p>
            <a:endParaRPr lang="uk-UA" sz="1200" dirty="0"/>
          </a:p>
          <a:p>
            <a:r>
              <a:rPr lang="uk-UA" sz="1200" dirty="0"/>
              <a:t>ЗВІДКИ ЧАС. Питання-нагадування. Урок 2, блок про час і жарт. Прошу назвати</a:t>
            </a:r>
          </a:p>
          <a:p>
            <a:r>
              <a:rPr lang="uk-UA" sz="1200" dirty="0"/>
              <a:t>рядок уголос. Якщо згадають datetime.now().strftime — далі показ буде зовсім</a:t>
            </a:r>
          </a:p>
          <a:p>
            <a:r>
              <a:rPr lang="uk-UA" sz="1200" dirty="0"/>
              <a:t>коротким.</a:t>
            </a:r>
          </a:p>
          <a:p>
            <a:endParaRPr lang="uk-UA" sz="1200" dirty="0"/>
          </a:p>
          <a:p>
            <a:r>
              <a:rPr lang="uk-UA" sz="1200" dirty="0"/>
              <a:t>Кажу заздалегідь, навіщо це насправді: коли на парі двадцять людей говорять</a:t>
            </a:r>
          </a:p>
          <a:p>
            <a:r>
              <a:rPr lang="uk-UA" sz="1200" dirty="0"/>
              <a:t>одночасно, за часом видно, чия фраза була чия. Це той рідкісний випадок, коли</a:t>
            </a:r>
          </a:p>
          <a:p>
            <a:r>
              <a:rPr lang="uk-UA" sz="1200" dirty="0"/>
              <a:t>лог справді читають.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немає нічого — є дві знайомі речі,</a:t>
            </a:r>
          </a:p>
          <a:p>
            <a:r>
              <a:rPr lang="uk-UA" sz="1200" dirty="0"/>
              <a:t>складені разом, і про це варто сказати вголос: діти люблять помічати, що вже</a:t>
            </a:r>
          </a:p>
          <a:p>
            <a:r>
              <a:rPr lang="uk-UA" sz="1200" dirty="0"/>
              <a:t>все вміють.</a:t>
            </a:r>
          </a:p>
          <a:p>
            <a:endParaRPr lang="uk-UA" sz="1200" dirty="0"/>
          </a:p>
          <a:p>
            <a:r>
              <a:rPr lang="uk-UA" sz="1200" dirty="0"/>
              <a:t>IMPORT. Нагадую: рядок from datetime import datetime ставиться нагорі, поруч з</a:t>
            </a:r>
          </a:p>
          <a:p>
            <a:r>
              <a:rPr lang="uk-UA" sz="1200" dirty="0"/>
              <a:t>іншими import. Питаю, чому саме нагорі — бо Python читає файл згори вниз, і це</a:t>
            </a:r>
          </a:p>
          <a:p>
            <a:r>
              <a:rPr lang="uk-UA" sz="1200" dirty="0"/>
              <a:t>вони чули на уроці 1.</a:t>
            </a:r>
          </a:p>
          <a:p>
            <a:endParaRPr lang="uk-UA" sz="1200" dirty="0"/>
          </a:p>
          <a:p>
            <a:r>
              <a:rPr lang="uk-UA" sz="1200" dirty="0"/>
              <a:t>ШАБЛОН ЧАСУ. Пишу на телевізорі "%H:%M" і читаю: години й хвилини. Показую</a:t>
            </a:r>
          </a:p>
          <a:p>
            <a:r>
              <a:rPr lang="uk-UA" sz="1200" dirty="0"/>
              <a:t>живцем, що буде з "%H:%M:%S" — з'являться секунди. Кажу, що для логу секунди</a:t>
            </a:r>
          </a:p>
          <a:p>
            <a:r>
              <a:rPr lang="uk-UA" sz="1200" dirty="0"/>
              <a:t>зайві, але хто хоче — хай додасть.</a:t>
            </a:r>
          </a:p>
          <a:p>
            <a:endParaRPr lang="uk-UA" sz="1200" dirty="0"/>
          </a:p>
          <a:p>
            <a:r>
              <a:rPr lang="uk-UA" sz="1200" dirty="0"/>
              <a:t>СКЛЕЮВАННЯ. Три шматки через плюс: час, два пробіли в лапках, текст. Нагадую</a:t>
            </a:r>
          </a:p>
          <a:p>
            <a:r>
              <a:rPr lang="uk-UA" sz="1200" dirty="0"/>
              <a:t>правило з уроку 1: плюс склеює тільки рядки. Час у нас уже рядок, бо strftime</a:t>
            </a:r>
          </a:p>
          <a:p>
            <a:r>
              <a:rPr lang="uk-UA" sz="1200" dirty="0"/>
              <a:t>віддає саме рядок, — і це варто сказати, інакше хтось спробує str().</a:t>
            </a:r>
          </a:p>
          <a:p>
            <a:endParaRPr lang="uk-UA" sz="1200" dirty="0"/>
          </a:p>
          <a:p>
            <a:r>
              <a:rPr lang="uk-UA" sz="1200" dirty="0"/>
              <a:t>ПЕРЕНОС РЯДКА. Наголошую: "\n" лишається останнім, як і було. Показую живцем,</a:t>
            </a:r>
          </a:p>
          <a:p>
            <a:r>
              <a:rPr lang="uk-UA" sz="1200" dirty="0"/>
              <a:t>що буде без нього, — увесь лог в один рядок. Це швидко й переконливо.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змінна з часом — у циклі, перед відкриттям файла;</a:t>
            </a:r>
          </a:p>
          <a:p>
            <a:r>
              <a:rPr lang="uk-UA" sz="1200" dirty="0"/>
              <a:t>сам запис міняється на один рядок довший.</a:t>
            </a:r>
          </a:p>
          <a:p>
            <a:endParaRPr lang="uk-UA" sz="1200" dirty="0"/>
          </a:p>
          <a:p>
            <a:r>
              <a:rPr lang="uk-UA" sz="1200" dirty="0"/>
              <a:t>Наступний слайд: три рядки.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три, і два з них у файлі вже є — їх</a:t>
            </a:r>
          </a:p>
          <a:p>
            <a:r>
              <a:rPr lang="uk-UA" sz="1200" dirty="0"/>
              <a:t>треба переписати, а не додати.</a:t>
            </a:r>
          </a:p>
          <a:p>
            <a:endParaRPr lang="uk-UA" sz="1200" dirty="0"/>
          </a:p>
          <a:p>
            <a:r>
              <a:rPr lang="uk-UA" sz="1200" dirty="0"/>
              <a:t>Кажу порядок: import — нагорі; у циклі знайти два рядки запису в лог і замінити</a:t>
            </a:r>
          </a:p>
          <a:p>
            <a:r>
              <a:rPr lang="uk-UA" sz="1200" dirty="0"/>
              <a:t>їх на три нові.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import — NameError: name 'datetime' is not defined;</a:t>
            </a:r>
          </a:p>
          <a:p>
            <a:r>
              <a:rPr lang="uk-UA" sz="1200" dirty="0"/>
              <a:t>    написали datetime.now.strftime без дужок після now — TypeError;</a:t>
            </a:r>
          </a:p>
          <a:p>
            <a:r>
              <a:rPr lang="uk-UA" sz="1200" dirty="0"/>
              <a:t>    лишили старий запис поруч із новим — кожна фраза лягає у файл двічі,</a:t>
            </a:r>
          </a:p>
          <a:p>
            <a:r>
              <a:rPr lang="uk-UA" sz="1200" dirty="0"/>
              <a:t>        один раз із часом, другий без;</a:t>
            </a:r>
          </a:p>
          <a:p>
            <a:r>
              <a:rPr lang="uk-UA" sz="1200" dirty="0"/>
              <a:t>    поставили режим "w" — у лозі завжди рівно один рядок.</a:t>
            </a:r>
          </a:p>
          <a:p>
            <a:endParaRPr lang="uk-UA" sz="1200" dirty="0"/>
          </a:p>
          <a:p>
            <a:r>
              <a:rPr lang="uk-UA" sz="1200" dirty="0"/>
              <a:t>Третю помилку легко не помітити, поки не відкриєш файл. Тому перевірка тут</a:t>
            </a:r>
          </a:p>
          <a:p>
            <a:r>
              <a:rPr lang="uk-UA" sz="1200" dirty="0"/>
              <a:t>саме така: відкрити log_speech.txt очима.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сказати три фрази, вийти, відкрити файл. Рядків має бути</a:t>
            </a:r>
          </a:p>
          <a:p>
            <a:r>
              <a:rPr lang="uk-UA" sz="1200" dirty="0"/>
              <a:t>три, у кожного попереду час, і час має збігатися з годинником у кабінеті.</a:t>
            </a:r>
          </a:p>
          <a:p>
            <a:endParaRPr lang="uk-UA" sz="1200" dirty="0"/>
          </a:p>
          <a:p>
            <a:r>
              <a:rPr lang="uk-UA" sz="1200" dirty="0"/>
              <a:t>Питаю групу: а якщо запустити програму завтра — що буде у файлі? Старі рядки</a:t>
            </a:r>
          </a:p>
          <a:p>
            <a:r>
              <a:rPr lang="uk-UA" sz="1200" dirty="0"/>
              <a:t>лишаться, нові допишуться нижче. Це режим "a", і це те, чого ми домагались на</a:t>
            </a:r>
          </a:p>
          <a:p>
            <a:r>
              <a:rPr lang="uk-UA" sz="1200" dirty="0"/>
              <a:t>уроці 3.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у рядок логу ще й дату — у шаблон перед часом</a:t>
            </a:r>
          </a:p>
          <a:p>
            <a:r>
              <a:rPr lang="uk-UA" sz="1200" dirty="0"/>
              <a:t>стає %d.%m. Тоді щоденник стане справжнім.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привіт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розкажи щось про космос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стоп</a:t>
            </a:r>
          </a:p>
          <a:p>
            <a:endParaRPr lang="uk-UA" sz="1200" dirty="0"/>
          </a:p>
          <a:p>
            <a:r>
              <a:rPr lang="uk-UA" sz="1200" dirty="0"/>
              <a:t>У файлі log_speech.txt:</a:t>
            </a:r>
          </a:p>
          <a:p>
            <a:r>
              <a:rPr lang="uk-UA" sz="1200" dirty="0"/>
              <a:t>23:45  аіда привіт</a:t>
            </a:r>
          </a:p>
          <a:p>
            <a:r>
              <a:rPr lang="uk-UA" sz="1200" dirty="0"/>
              <a:t>23:45  аіда розкажи щось про космос</a:t>
            </a:r>
          </a:p>
          <a:p>
            <a:r>
              <a:rPr lang="uk-UA" sz="1200" dirty="0"/>
              <a:t>23:45  аіда стоп</a:t>
            </a:r>
          </a:p>
          <a:p>
            <a:endParaRPr lang="uk-UA" sz="1200" dirty="0"/>
          </a:p>
          <a:p>
            <a:r>
              <a:rPr lang="uk-UA" sz="1200" dirty="0"/>
              <a:t>Час буде свій — головне, щоб він збігався з годинником на стіні.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повертається analyze з уроку 2, і повертається</a:t>
            </a:r>
          </a:p>
          <a:p>
            <a:r>
              <a:rPr lang="uk-UA" sz="1200" dirty="0"/>
              <a:t>доречно: сьогодні на вхід їй прийде голос замість клавіатури.</a:t>
            </a:r>
          </a:p>
          <a:p>
            <a:endParaRPr lang="uk-UA" sz="1200" dirty="0"/>
          </a:p>
          <a:p>
            <a:r>
              <a:rPr lang="uk-UA" sz="1200" dirty="0"/>
              <a:t>ЩО ВІДПОВІСТИ БЕЗ МЕРЕЖІ. Витягую список: котра година, яке число, скільки</a:t>
            </a:r>
          </a:p>
          <a:p>
            <a:r>
              <a:rPr lang="uk-UA" sz="1200" dirty="0"/>
              <a:t>фраз я сказав, розкажи жарт зі списку. Кажу, що на все це в них уже є код — з</a:t>
            </a:r>
          </a:p>
          <a:p>
            <a:r>
              <a:rPr lang="uk-UA" sz="1200" dirty="0"/>
              <a:t>уроку 2, — і сьогодні він знадобиться вдруге.</a:t>
            </a:r>
          </a:p>
          <a:p>
            <a:endParaRPr lang="uk-UA" sz="1200" dirty="0"/>
          </a:p>
          <a:p>
            <a:r>
              <a:rPr lang="uk-UA" sz="1200" dirty="0"/>
              <a:t>ДЕ ПИСАЛИ ТАКУ ФУНКЦІЮ. Прошу згадати ім'я. analyze. Якщо згадають — далі</a:t>
            </a:r>
          </a:p>
          <a:p>
            <a:r>
              <a:rPr lang="uk-UA" sz="1200" dirty="0"/>
              <a:t>показ буде зовсім коротким, бо новий там рівно нуль рядків.</a:t>
            </a:r>
          </a:p>
          <a:p>
            <a:endParaRPr lang="uk-UA" sz="1200" dirty="0"/>
          </a:p>
          <a:p>
            <a:r>
              <a:rPr lang="uk-UA" sz="1200" dirty="0"/>
              <a:t>ЧИМ ГОЛОСОВА КОМАНДА ВІДРІЗНЯЄТЬСЯ. Найцікавіше питання. Правильна відповідь:</a:t>
            </a:r>
          </a:p>
          <a:p>
            <a:r>
              <a:rPr lang="uk-UA" sz="1200" dirty="0"/>
              <a:t>нічим для програми — на вході однаково рядок. А от для людини різниця велика:</a:t>
            </a:r>
          </a:p>
          <a:p>
            <a:r>
              <a:rPr lang="uk-UA" sz="1200" dirty="0"/>
              <a:t>голосом кажуть довше й неохайніше, «ну то шо там по часу». Саме тому шукати</a:t>
            </a:r>
          </a:p>
          <a:p>
            <a:r>
              <a:rPr lang="uk-UA" sz="1200" dirty="0"/>
              <a:t>треба корені слів, а не цілі фрази.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коду майже немає, тому час іде на</a:t>
            </a:r>
          </a:p>
          <a:p>
            <a:r>
              <a:rPr lang="uk-UA" sz="1200" dirty="0"/>
              <a:t>головну думку курсу — і вона того варта.</a:t>
            </a:r>
          </a:p>
          <a:p>
            <a:endParaRPr lang="uk-UA" sz="1200" dirty="0"/>
          </a:p>
          <a:p>
            <a:r>
              <a:rPr lang="uk-UA" sz="1200" dirty="0"/>
              <a:t>ФУНКЦІЯ ТА САМА. Показую на телевізорі analyze з уроку 2 і кажу: жодного</a:t>
            </a:r>
          </a:p>
          <a:p>
            <a:r>
              <a:rPr lang="uk-UA" sz="1200" dirty="0"/>
              <a:t>рядка міняти не треба. Просто раніше рядок приходив з input, тепер із listen.</a:t>
            </a:r>
          </a:p>
          <a:p>
            <a:r>
              <a:rPr lang="uk-UA" sz="1200" dirty="0"/>
              <a:t>Прошу групу сказати вголос, що це означає. Правильна відповідь: голос — це</a:t>
            </a:r>
          </a:p>
          <a:p>
            <a:r>
              <a:rPr lang="uk-UA" sz="1200" dirty="0"/>
              <a:t>лише інший вхід.</a:t>
            </a:r>
          </a:p>
          <a:p>
            <a:endParaRPr lang="uk-UA" sz="1200" dirty="0"/>
          </a:p>
          <a:p>
            <a:r>
              <a:rPr lang="uk-UA" sz="1200" dirty="0"/>
              <a:t>КОРЕНІ СЛІВ. Наголошую окремо: голосом кажуть довше й недбаліше. Пишу на</a:t>
            </a:r>
          </a:p>
          <a:p>
            <a:r>
              <a:rPr lang="uk-UA" sz="1200" dirty="0"/>
              <a:t>телевізорі три реальні фрази з їхнього логу й показую, який корінь ловить</a:t>
            </a:r>
          </a:p>
          <a:p>
            <a:r>
              <a:rPr lang="uk-UA" sz="1200" dirty="0"/>
              <a:t>кожну. Це найкраща реклама уроку 2 з можливих.</a:t>
            </a:r>
          </a:p>
          <a:p>
            <a:endParaRPr lang="uk-UA" sz="1200" dirty="0"/>
          </a:p>
          <a:p>
            <a:r>
              <a:rPr lang="uk-UA" sz="1200" dirty="0"/>
              <a:t>ТЕМА «НЕВІДОМО». Кажу, як це використати: якщо analyze не впізнала тему,</a:t>
            </a:r>
          </a:p>
          <a:p>
            <a:r>
              <a:rPr lang="uk-UA" sz="1200" dirty="0"/>
              <a:t>питання варто везти в ChatGPT. Тобто проста річ обробляється миттєво й</a:t>
            </a:r>
          </a:p>
          <a:p>
            <a:r>
              <a:rPr lang="uk-UA" sz="1200" dirty="0"/>
              <a:t>безкоштовно, а складна — платно. Так роблять справжні голосові помічники.</a:t>
            </a:r>
          </a:p>
          <a:p>
            <a:endParaRPr lang="uk-UA" sz="1200" dirty="0"/>
          </a:p>
          <a:p>
            <a:r>
              <a:rPr lang="uk-UA" sz="1200" dirty="0"/>
              <a:t>ЩО НАБИРАТИМЕМО. Кажу чесно: на слайді буде скорочена analyze на дві теми, бо</a:t>
            </a:r>
          </a:p>
          <a:p>
            <a:r>
              <a:rPr lang="uk-UA" sz="1200" dirty="0"/>
              <a:t>повна лежить в assistant2.py, і копіювати її вручну довго. Хто хоче — вдома</a:t>
            </a:r>
          </a:p>
          <a:p>
            <a:r>
              <a:rPr lang="uk-UA" sz="1200" dirty="0"/>
              <a:t>візьме свою.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дев'ять рядків.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Функцію діти вже писали на уроці 2, тому</a:t>
            </a:r>
          </a:p>
          <a:p>
            <a:r>
              <a:rPr lang="uk-UA" sz="1200" dirty="0"/>
              <a:t>набирається вона швидко; час іде на перевірку живою мовою.</a:t>
            </a:r>
          </a:p>
          <a:p>
            <a:endParaRPr lang="uk-UA" sz="1200" dirty="0"/>
          </a:p>
          <a:p>
            <a:r>
              <a:rPr lang="uk-UA" sz="1200" dirty="0"/>
              <a:t>Кажу порядок: функція analyze — над циклом, поруч із listen; три рядки з</a:t>
            </a:r>
          </a:p>
          <a:p>
            <a:r>
              <a:rPr lang="uk-UA" sz="1200" dirty="0"/>
              <a:t>перевіркою теми — у циклі, одразу під print("Ти:", text) і вище за запис у лог.</a:t>
            </a:r>
          </a:p>
          <a:p>
            <a:r>
              <a:rPr lang="uk-UA" sz="1200" dirty="0"/>
              <a:t>На екрані весь hear.py цілком, з import datetime нагорі; перевірки імені з</a:t>
            </a:r>
          </a:p>
          <a:p>
            <a:r>
              <a:rPr lang="uk-UA" sz="1200" dirty="0"/>
              <a:t>бонусу 1 тут немає — бонуси не залежать один від одного.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функцію нижче за цикл — NameError, бо Python читає згори вниз;</a:t>
            </a:r>
          </a:p>
          <a:p>
            <a:r>
              <a:rPr lang="uk-UA" sz="1200" dirty="0"/>
              <a:t>    забули continue — після відповіді про час програма ще й каже «я почула»;</a:t>
            </a:r>
          </a:p>
          <a:p>
            <a:r>
              <a:rPr lang="uk-UA" sz="1200" dirty="0"/>
              <a:t>    забули import datetime нагорі — NameError на першому ж питанні про час;</a:t>
            </a:r>
          </a:p>
          <a:p>
            <a:r>
              <a:rPr lang="uk-UA" sz="1200" dirty="0"/>
              <a:t>    написали analyze(text) == "час" з великої літери в лапках.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разом. Прошу спитати про час трьома різними фразами: «котра</a:t>
            </a:r>
          </a:p>
          <a:p>
            <a:r>
              <a:rPr lang="uk-UA" sz="1200" dirty="0"/>
              <a:t>година», «ну шо там по часу», «скільки часу». Усі три мають спрацювати — і</a:t>
            </a:r>
          </a:p>
          <a:p>
            <a:r>
              <a:rPr lang="uk-UA" sz="1200" dirty="0"/>
              <a:t>саме це найкраще пояснює, навіщо корені слів.</a:t>
            </a:r>
          </a:p>
          <a:p>
            <a:endParaRPr lang="uk-UA" sz="1200" dirty="0"/>
          </a:p>
          <a:p>
            <a:r>
              <a:rPr lang="uk-UA" sz="1200" dirty="0"/>
              <a:t>Питаю групу: що зараз відбувається з фразою про космос? Вона проходить далі, бо</a:t>
            </a:r>
          </a:p>
          <a:p>
            <a:r>
              <a:rPr lang="uk-UA" sz="1200" dirty="0"/>
              <a:t>тема «невідомо». Кажу, що вдома в цьому місці стоятиме ask_ai з уроку 4, і</a:t>
            </a:r>
          </a:p>
          <a:p>
            <a:r>
              <a:rPr lang="uk-UA" sz="1200" dirty="0"/>
              <a:t>помічник сам вирішуватиме, коли йти в мережу, а коли ні.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третю тему — жарт зі списком JOKES з уроку 1. Чотири</a:t>
            </a:r>
          </a:p>
          <a:p>
            <a:r>
              <a:rPr lang="uk-UA" sz="1200" dirty="0"/>
              <a:t>рядки, і помічник почне жартувати голосом.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hear.py</a:t>
            </a:r>
          </a:p>
          <a:p>
            <a:endParaRPr lang="uk-UA" sz="1200" dirty="0"/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котра година</a:t>
            </a:r>
          </a:p>
          <a:p>
            <a:r>
              <a:rPr lang="uk-UA" sz="1200" dirty="0"/>
              <a:t>АІДА: Зараз 23:45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ну шо там по часу</a:t>
            </a:r>
          </a:p>
          <a:p>
            <a:r>
              <a:rPr lang="uk-UA" sz="1200" dirty="0"/>
              <a:t>АІДА: Зараз 23:46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розкажи про космос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Говори...</a:t>
            </a:r>
          </a:p>
          <a:p>
            <a:r>
              <a:rPr lang="uk-UA" sz="1200" dirty="0"/>
              <a:t>Ти: аіда стоп</a:t>
            </a:r>
          </a:p>
          <a:p>
            <a:endParaRPr lang="uk-UA" sz="1200" dirty="0"/>
          </a:p>
          <a:p>
            <a:r>
              <a:rPr lang="uk-UA" sz="1200" dirty="0"/>
              <a:t>Головне: перші дві фрази сказані по-різному, а тема в них одна —</a:t>
            </a:r>
          </a:p>
          <a:p>
            <a:r>
              <a:rPr lang="uk-UA" sz="1200" dirty="0"/>
              <a:t>корінь «час» зловив обидві.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блок уроку, дві хвилини. Він найвеселіший: результат</a:t>
            </a:r>
          </a:p>
          <a:p>
            <a:r>
              <a:rPr lang="uk-UA" sz="1200" dirty="0"/>
              <a:t>неправильної мови завжди смішний, і група це запам'ятовує.</a:t>
            </a:r>
          </a:p>
          <a:p>
            <a:endParaRPr lang="uk-UA" sz="1200" dirty="0"/>
          </a:p>
          <a:p>
            <a:r>
              <a:rPr lang="uk-UA" sz="1200" dirty="0"/>
              <a:t>УКРАЇНСЬКА ФРАЗА, АНГЛІЙСЬКА МОВА. Прошу вгадати. Кажуть: помилка, нічого не</a:t>
            </a:r>
          </a:p>
          <a:p>
            <a:r>
              <a:rPr lang="uk-UA" sz="1200" dirty="0"/>
              <a:t>вийде. Кажу: ні, вийде — і саме це найцікавіше. Сервіс не скаже «не та мова»,</a:t>
            </a:r>
          </a:p>
          <a:p>
            <a:r>
              <a:rPr lang="uk-UA" sz="1200" dirty="0"/>
              <a:t>він підбере найсхожіші англійські слова. Вийде каша, і вона нас чекає на</a:t>
            </a:r>
          </a:p>
          <a:p>
            <a:r>
              <a:rPr lang="uk-UA" sz="1200" dirty="0"/>
              <a:t>практиці.</a:t>
            </a:r>
          </a:p>
          <a:p>
            <a:endParaRPr lang="uk-UA" sz="1200" dirty="0"/>
          </a:p>
          <a:p>
            <a:r>
              <a:rPr lang="uk-UA" sz="1200" dirty="0"/>
              <a:t>ЗВІДКИ ЗНАЄ СЛОВА. Тут доречно нагадати урок 1: модель прочитала море текстів</a:t>
            </a:r>
          </a:p>
          <a:p>
            <a:r>
              <a:rPr lang="uk-UA" sz="1200" dirty="0"/>
              <a:t>однією мовою й вгадує з них найімовірніше. Якщо ми сказали, що мова</a:t>
            </a:r>
          </a:p>
          <a:p>
            <a:r>
              <a:rPr lang="uk-UA" sz="1200" dirty="0"/>
              <a:t>англійська, вона й вибирає з англійських слів — інших вона в цьому режимі не</a:t>
            </a:r>
          </a:p>
          <a:p>
            <a:r>
              <a:rPr lang="uk-UA" sz="1200" dirty="0"/>
              <a:t>розглядає.</a:t>
            </a:r>
          </a:p>
          <a:p>
            <a:endParaRPr lang="uk-UA" sz="1200" dirty="0"/>
          </a:p>
          <a:p>
            <a:r>
              <a:rPr lang="uk-UA" sz="1200" dirty="0"/>
              <a:t>ДВІ МОВИ ОДРАЗУ. Чесна відповідь: одним рядком — ні. Можна розпізнати двічі, з</a:t>
            </a:r>
          </a:p>
          <a:p>
            <a:r>
              <a:rPr lang="uk-UA" sz="1200" dirty="0"/>
              <a:t>різними мовами, і взяти те, що більше схоже на слова. Кажу, що це вже доросла</a:t>
            </a:r>
          </a:p>
          <a:p>
            <a:r>
              <a:rPr lang="uk-UA" sz="1200" dirty="0"/>
              <a:t>задача, і пропоную подумати над нею вдома.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показ уроку. Чотири хвилини, і найкраще тут — показати</a:t>
            </a:r>
          </a:p>
          <a:p>
            <a:r>
              <a:rPr lang="uk-UA" sz="1200" dirty="0"/>
              <a:t>живцем, а не розповісти.</a:t>
            </a:r>
          </a:p>
          <a:p>
            <a:endParaRPr lang="uk-UA" sz="1200" dirty="0"/>
          </a:p>
          <a:p>
            <a:r>
              <a:rPr lang="uk-UA" sz="1200" dirty="0"/>
              <a:t>ЩО ОЗНАЧАЄ КОД МОВИ. Пишу на телевізорі "uk-UA" і "en-US" і читаю: до риски —</a:t>
            </a:r>
          </a:p>
          <a:p>
            <a:r>
              <a:rPr lang="uk-UA" sz="1200" dirty="0"/>
              <a:t>мова, після — країна. Кажу, що країна теж важить: британська й американська</a:t>
            </a:r>
          </a:p>
          <a:p>
            <a:r>
              <a:rPr lang="uk-UA" sz="1200" dirty="0"/>
              <a:t>англійська пишуться по-різному, і сервіс це враховує.</a:t>
            </a:r>
          </a:p>
          <a:p>
            <a:endParaRPr lang="uk-UA" sz="1200" dirty="0"/>
          </a:p>
          <a:p>
            <a:r>
              <a:rPr lang="uk-UA" sz="1200" dirty="0"/>
              <a:t>ПОКАЗУЮ ЖИВЦЕМ. Кажу одну українську фразу з "en-US". Приїжджає щось на кшталт</a:t>
            </a:r>
          </a:p>
          <a:p>
            <a:r>
              <a:rPr lang="uk-UA" sz="1200" dirty="0"/>
              <a:t>«pretty yak spravy». Група сміється, і після цього рядок language ніхто ніколи</a:t>
            </a:r>
          </a:p>
          <a:p>
            <a:r>
              <a:rPr lang="uk-UA" sz="1200" dirty="0"/>
              <a:t>не забуває. Це найдієвіша демонстрація уроку.</a:t>
            </a:r>
          </a:p>
          <a:p>
            <a:endParaRPr lang="uk-UA" sz="1200" dirty="0"/>
          </a:p>
          <a:p>
            <a:r>
              <a:rPr lang="uk-UA" sz="1200" dirty="0"/>
              <a:t>ЧОМУ НЕМАЄ ПОМИЛКИ. Наголошую: сервіс не помилився. Ми попросили шукати серед</a:t>
            </a:r>
          </a:p>
          <a:p>
            <a:r>
              <a:rPr lang="uk-UA" sz="1200" dirty="0"/>
              <a:t>англійських слів — він і знайшов найсхожіші. Це та сама думка, що на уроці 1:</a:t>
            </a:r>
          </a:p>
          <a:p>
            <a:r>
              <a:rPr lang="uk-UA" sz="1200" dirty="0"/>
              <a:t>модель завжди має відповідь, навіть коли її немає.</a:t>
            </a:r>
          </a:p>
          <a:p>
            <a:endParaRPr lang="uk-UA" sz="1200" dirty="0"/>
          </a:p>
          <a:p>
            <a:r>
              <a:rPr lang="uk-UA" sz="1200" dirty="0"/>
              <a:t>ДВА РОЗПІЗНАВАННЯ ПІДРЯД. Показую, що той самий запис можна віддати двічі — з</a:t>
            </a:r>
          </a:p>
          <a:p>
            <a:r>
              <a:rPr lang="uk-UA" sz="1200" dirty="0"/>
              <a:t>різними мовами, — і надрукувати обидва результати. Аудіо в змінній лежить, і</a:t>
            </a:r>
          </a:p>
          <a:p>
            <a:r>
              <a:rPr lang="uk-UA" sz="1200" dirty="0"/>
              <a:t>скільки разів його розпізнати, вирішуємо ми.</a:t>
            </a:r>
          </a:p>
          <a:p>
            <a:endParaRPr lang="uk-UA" sz="1200" dirty="0"/>
          </a:p>
          <a:p>
            <a:r>
              <a:rPr lang="uk-UA" sz="1200" dirty="0"/>
              <a:t>Наступний слайд: одна функція, дві мови.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Остання практика запасу, п'ять хвилин. Файл окремий і маленький — свого</a:t>
            </a:r>
          </a:p>
          <a:p>
            <a:r>
              <a:rPr lang="uk-UA" sz="1200" dirty="0"/>
              <a:t>помічника ним не чіпаємо, бо це дослід, а не покращення.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two_lang.py, набрати десять рядків, запустити й сказати</a:t>
            </a:r>
          </a:p>
          <a:p>
            <a:r>
              <a:rPr lang="uk-UA" sz="1200" dirty="0"/>
              <a:t>звичайну українську фразу. Просто, коротко, розбірливо — рекордів не ставимо.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другий recognize всередину with — тоді мікрофон ще відкритий,</a:t>
            </a:r>
          </a:p>
          <a:p>
            <a:r>
              <a:rPr lang="uk-UA" sz="1200" dirty="0"/>
              <a:t>        і програма чекає, хоч запис уже є;</a:t>
            </a:r>
          </a:p>
          <a:p>
            <a:r>
              <a:rPr lang="uk-UA" sz="1200" dirty="0"/>
              <a:t>    написали en_US замість en-US — сервіс відповість помилкою;</a:t>
            </a:r>
          </a:p>
          <a:p>
            <a:r>
              <a:rPr lang="uk-UA" sz="1200" dirty="0"/>
              <a:t>    забули, що записувати треба один раз: дописали другий listen і говорять</a:t>
            </a:r>
          </a:p>
          <a:p>
            <a:r>
              <a:rPr lang="uk-UA" sz="1200" dirty="0"/>
              <a:t>        двічі, а порівнювати треба один і той самий запис;</a:t>
            </a:r>
          </a:p>
          <a:p>
            <a:r>
              <a:rPr lang="uk-UA" sz="1200" dirty="0"/>
              <a:t>    UnknownValueError на другому рядку — це не поломка, а чесне «не знайшов».</a:t>
            </a:r>
          </a:p>
          <a:p>
            <a:endParaRPr lang="uk-UA" sz="1200" dirty="0"/>
          </a:p>
          <a:p>
            <a:r>
              <a:rPr lang="uk-UA" sz="1200" dirty="0"/>
              <a:t>Про останнє кажу заздалегідь, інакше половина групи вирішить, що зламала</a:t>
            </a:r>
          </a:p>
          <a:p>
            <a:r>
              <a:rPr lang="uk-UA" sz="1200" dirty="0"/>
              <a:t>програму. Хто хоче — обгортає другий рядок у try, як робили на парі.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 і читаємо вголос. Прошу трьох дітей зачитати свої пари</a:t>
            </a:r>
          </a:p>
          <a:p>
            <a:r>
              <a:rPr lang="uk-UA" sz="1200" dirty="0"/>
              <a:t>рядків — це найсмішніші тридцять секунд уроку, і вони ж найкорисніші.</a:t>
            </a:r>
          </a:p>
          <a:p>
            <a:endParaRPr lang="uk-UA" sz="1200" dirty="0"/>
          </a:p>
          <a:p>
            <a:r>
              <a:rPr lang="uk-UA" sz="1200" dirty="0"/>
              <a:t>Питаю групу наприкінці: як тепер звучить правило про рядок language? Відповідь</a:t>
            </a:r>
          </a:p>
          <a:p>
            <a:r>
              <a:rPr lang="uk-UA" sz="1200" dirty="0"/>
              <a:t>формулюють самі: без нього сервіс шукає серед англійських слів, і саме тому</a:t>
            </a:r>
          </a:p>
          <a:p>
            <a:r>
              <a:rPr lang="uk-UA" sz="1200" dirty="0"/>
              <a:t>українська фраза перетворюється на нісенітницю.</a:t>
            </a:r>
          </a:p>
          <a:p>
            <a:endParaRPr lang="uk-UA" sz="1200" dirty="0"/>
          </a:p>
          <a:p>
            <a:r>
              <a:rPr lang="uk-UA" sz="1200" dirty="0"/>
              <a:t>Це кінець запасу.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two_lang.py</a:t>
            </a:r>
          </a:p>
          <a:p>
            <a:endParaRPr lang="uk-UA" sz="1200" dirty="0"/>
          </a:p>
          <a:p>
            <a:r>
              <a:rPr lang="uk-UA" sz="1200" dirty="0"/>
              <a:t>Говори українською...</a:t>
            </a:r>
          </a:p>
          <a:p>
            <a:r>
              <a:rPr lang="uk-UA" sz="1200" dirty="0"/>
              <a:t>uk-UA: привіт як справи</a:t>
            </a:r>
          </a:p>
          <a:p>
            <a:r>
              <a:rPr lang="uk-UA" sz="1200" dirty="0"/>
              <a:t>en-US: pretty yak sprouts</a:t>
            </a:r>
          </a:p>
          <a:p>
            <a:endParaRPr lang="uk-UA" sz="1200" dirty="0"/>
          </a:p>
          <a:p>
            <a:r>
              <a:rPr lang="uk-UA" sz="1200" dirty="0"/>
              <a:t>Другий рядок буде свій — головне, що це англійські слова, схожі</a:t>
            </a:r>
          </a:p>
          <a:p>
            <a:r>
              <a:rPr lang="uk-UA" sz="1200" dirty="0"/>
              <a:t>за звучанням. Сервіс не помилився: ми самі попросили шукати</a:t>
            </a:r>
          </a:p>
          <a:p>
            <a:r>
              <a:rPr lang="uk-UA" sz="1200" dirty="0"/>
              <a:t>серед англійських.</a:t>
            </a:r>
          </a:p>
          <a:p>
            <a:endParaRPr lang="uk-UA" sz="1200" dirty="0"/>
          </a:p>
          <a:p>
            <a:r>
              <a:rPr lang="uk-UA" sz="1200" dirty="0"/>
              <a:t>(якщо на другому рядку помилка UnknownValueError — сервіс не знайшов</a:t>
            </a:r>
          </a:p>
          <a:p>
            <a:r>
              <a:rPr lang="uk-UA" sz="1200" dirty="0"/>
              <a:t>жодного схожого слова; це теж нормальна відповідь)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976954"/>
          </a:xfrm>
          <a:prstGeom prst="roundRect">
            <a:avLst>
              <a:gd name="adj" fmla="val 702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Помічник починає чути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737616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П'ять уроків ми з ним листувалися. Сьогодні напишемо код, щоб з ним можна було заговорити.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37698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мікрофон і сервіс перетворюють голос на текст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Дві бібліотеки і перевірка мікрофона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Перше розпізнавання української мови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Шум у кімнаті й фраза «не розчула»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Слухання у функції, план Б і цикл із логом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234129"/>
          </a:xfrm>
          <a:prstGeom prst="roundRect">
            <a:avLst>
              <a:gd name="adj" fmla="val 659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Як голос стає текстом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Сьогодні з помічником можна буде заговорити. Як це взагалі працює?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комп'ютер робить зі звуком, який чує мікрофон?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розуміє програма звук так само, як текст?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перекладає звук у слова: наша програма чи хтось інший?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зміниться в помічнику з уроку 5, коли він почне чути?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Як голос стає текстом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Комп'ютер не розуміє звуку. Він розуміє текст — отже, звук треба спершу перекласти.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Мікрофон перетворює звук на числа — це запис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Запис їде на сервіс розпізнавання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Сервіс повертає рядок — те, що ти сказав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Далі працює наш звичайний код: рядок він уже вміє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Голосовий помічник — це не інший помічник. Це той самий,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 якого перед входом поставили перекладач зі звуку в текст.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Тому вся логіка з уроків 2-5 лишається без змін.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449367"/>
          </a:xfrm>
          <a:prstGeom prst="roundRect">
            <a:avLst>
              <a:gd name="adj" fmla="val 512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дві бібліотеки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Відкрий термінал і набери ці команди — по одній, чекаючи, поки кожна допрацює.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5047"/>
            <a:ext cx="10485120" cy="2956484"/>
          </a:xfrm>
          <a:prstGeom prst="roundRect">
            <a:avLst>
              <a:gd name="adj" fmla="val 429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pip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install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SpeechRecognition</a:t>
            </a:r>
            <a:endParaRPr lang="uk-UA" sz="1400" b="0" dirty="0">
              <a:solidFill>
                <a:srgbClr val="26241F"/>
              </a:solidFill>
              <a:latin typeface="Courier New"/>
              <a:cs typeface="Courier New"/>
            </a:endParaRPr>
          </a:p>
          <a:p>
            <a:pPr algn="l">
              <a:lnSpc>
                <a:spcPts val="2560"/>
              </a:lnSpc>
              <a:buNone/>
            </a:pP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pip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install PyAudio</a:t>
            </a:r>
          </a:p>
          <a:p>
            <a:pPr algn="l">
              <a:lnSpc>
                <a:spcPts val="2560"/>
              </a:lnSpc>
              <a:buNone/>
            </a:pPr>
            <a:endParaRPr lang="uk-UA" sz="1400" dirty="0"/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# якщо PyAudio не поставився, на Windows: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pip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install pipwin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pipwin install pyaudio</a:t>
            </a:r>
          </a:p>
          <a:p>
            <a:pPr algn="l">
              <a:lnSpc>
                <a:spcPts val="2560"/>
              </a:lnSpc>
              <a:buNone/>
            </a:pPr>
            <a:endParaRPr lang="uk-UA" sz="1400" dirty="0"/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python -c "import speech_recognition"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775911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926787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Вдала команда пише знизу Successfully installed — це і є «стало».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Остання команда мовчить і не пише нічого? Значить, усе гаразд.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Мікрофон, якого не видно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Бібліотеки стали. Питаю, чи означає це, що програма вже чує.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може мікрофон бути в ноутбуці й не працювати в програмі?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ще на вашому комп'ютері могло зайняти мікрофон?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 чого краще почати: писати код чи перевірити пристрій?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Мікрофон, якого не видно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Бібліотека стала — це ще не значить, що програма чує. Спершу спитаємо, які пристрої вона бачить.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list_microphone_names() віддає список усіх пристроїв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Порожній список — програма не бачить жодного мікрофона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Найчастіше винен не код, а система або сусідня програма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Дві хвилини цієї перевірки економлять двадцять потім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ЯКЩО СПИСОК ПОРОЖНІЙ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Список порожній? Мікрофон вимкнено в налаштуваннях системи;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не дано дозвіл програмам; або його зайняла інша програма.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124298"/>
          </a:xfrm>
          <a:prstGeom prst="roundRect">
            <a:avLst>
              <a:gd name="adj" fmla="val 545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перевірка мікрофона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check_mic.py і набери це рядок у рядок. Потім запусти.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71600"/>
            <a:ext cx="10485120" cy="2631415"/>
          </a:xfrm>
          <a:prstGeom prst="roundRect">
            <a:avLst>
              <a:gd name="adj" fmla="val 482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names = sr.Microphone.list_microphone_names()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print("Мікрофонів знайдено:", len(names))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for i, name in enumerate(names):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print(i, name)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0842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601718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Число більше за нуль — мікрофон видно, можна рухатись далі.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291154"/>
          </a:xfrm>
          <a:prstGeom prst="roundRect">
            <a:avLst>
              <a:gd name="adj" fmla="val 84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Перше розпізнавання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Мікрофон видно. Що має статися між вашою фразою і текстом на екрані.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програма знає, що ви договорили?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між фразою і текстом минає секунда-дві?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сервіс знає, якою мовою ви говорите?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501488"/>
          </a:xfrm>
          <a:prstGeom prst="roundRect">
            <a:avLst>
              <a:gd name="adj" fmla="val 507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Перше розпізнавання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Десять рядків — і те, що ти сказав уголос, з'явиться на екрані текстом.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538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 = sr.Recognizer() — наш слухач, він уміє слухати й надсилати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with sr.Microphone() as mic: — відкрити мікрофон і закрити його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r.listen(mic) — записати фразу й зупинитись, коли ти замовк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r.recognize_google(audio, language=«uk-UA») — віддати рядок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358259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454271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673727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language=«uk-UA» — не прикраса. Без нього сервіс чекає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англійську й видає кумедну кашу з української мови.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Показую це навмисно — група запам'ятає назавжди.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100191"/>
          </a:xfrm>
          <a:prstGeom prst="roundRect">
            <a:avLst>
              <a:gd name="adj" fmla="val 458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перше розпізнавання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hear.py і набери це рядок у рядок. Запусти й скажи одну коротку фразу.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25689"/>
            <a:ext cx="10485120" cy="3606622"/>
          </a:xfrm>
          <a:prstGeom prst="roundRect">
            <a:avLst>
              <a:gd name="adj" fmla="val 352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sr.Microphone() as mic: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print("Говори...")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audio = r.listen(mic)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text = r.recognize_google(audio, language="uk-UA")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print("Ти сказав:", text)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426735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577611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Говори тільки після того, як з'явилось «Говори...» — раніше рано.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Рядок language="uk-UA" не прибирай: без нього почують англійську.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005176"/>
          </a:xfrm>
          <a:prstGeom prst="roundRect">
            <a:avLst>
              <a:gd name="adj" fmla="val 929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Шум і «не розчула»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 У кабінеті двадцять людей — що з цього вийде?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почує ваш мікрофон, поки говорить сусід?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має зробити програма, якщо слів не розібрала?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можна дати програмі час, щоб вона зміряла шум?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787466"/>
          </a:xfrm>
          <a:prstGeom prst="roundRect">
            <a:avLst>
              <a:gd name="adj" fmla="val 482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Шум і «не розчула»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У кабінеті двадцять людей. Помічник має пережити і шум, і фразу, якої не розібрав.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5388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adjust_for_ambient_noise слухає секунду тиші й міряє шум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timeout — скільки чекати початку мови; phrase_time_limit — довжину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try/except: «спробуй оце; не вийшло — зроби замість нього те»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sr.UnknownValueError — звук був, а слів розібрати не вдалося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644238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740250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 НАЗАВЖДИ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959706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Секунду калібрування треба МОВЧАТИ. Хто говоритиме, того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голос програма запише як фон — і потім не почує його зовсім.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найчастіша поломка блоку, і я показую її навмисно.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калібрування і try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hear.py цілком. Звір свій файл з екраном згори вниз і допиши, чого бракує.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3769157"/>
          </a:xfrm>
          <a:prstGeom prst="roundRect">
            <a:avLst>
              <a:gd name="adj" fmla="val 336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2240"/>
              </a:lnSpc>
              <a:buNone/>
            </a:pPr>
            <a:endParaRPr lang="uk-UA" sz="1400" dirty="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with sr.Microphone() as mic: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r.adjust_for_ambient_noise(mic, duration=1)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print("Говори...")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audio = r.listen(mic, timeout=5, phrase_time_limit=8)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try: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r.recognize_google(audio, language="uk-UA")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 сказав:", text)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except sr.UnknownValueError: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Не розчула. Повтори, будь ласка.")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89270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740146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Поки на екрані ще немає «Говори...» — мовчи, іде калібрування.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Перевір навмисно: кашляни замість фрази. Має бути «Не розчула».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Слухання, згорнуте у функцію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Одна хвилина: дванадцять рядків мікрофона в кожному місці програми — це скільки?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разів у помічнику треба буде слухати?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функція має віддати, якщо не розчула?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перевіряти програму, коли мікрофон не працює зовсім?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463083"/>
          </a:xfrm>
          <a:prstGeom prst="roundRect">
            <a:avLst>
              <a:gd name="adj" fmla="val 511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Слухання, згорнуте у функцію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Дванадцять рядків мікрофона ховаємо під одне слово — і помічник далі працює як завжди.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def listen(): — усередині весь мікрофон, назовні просто рядок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return віддає розпізнаний текст тому, хто викликав функцію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Не розчули — повертаємо порожній рядок, а не падаємо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Це те саме, що ми зробили з ask_ai на уроці 4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31985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41586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63532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План Б лежить поруч, закоментований: та сама listen, але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 input() усередині. Мікрофон не працює — знімаєш ґратки,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і решта програми навіть не помічає різниці.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087847"/>
          </a:xfrm>
          <a:prstGeom prst="roundRect">
            <a:avLst>
              <a:gd name="adj" fmla="val 45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функція listen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знову весь hear.py цілком: два верхні рядки лишаються, решта переїжджає всередину функції.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9237"/>
            <a:ext cx="10485120" cy="3539414"/>
          </a:xfrm>
          <a:prstGeom prst="roundRect">
            <a:avLst>
              <a:gd name="adj" fmla="val 3588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language="uk-UA")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план Б, коли мікрофон не працює: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def listen():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    return input("Ти: ")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print(listen())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359527"/>
            <a:ext cx="10485120" cy="796900"/>
          </a:xfrm>
          <a:prstGeom prst="roundRect">
            <a:avLst>
              <a:gd name="adj" fmla="val 15937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510403"/>
            <a:ext cx="10119360" cy="6323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Два верхні рядки лишаються зверху, поза функцією. Ґратки набери теж. Останній рядок тимчасовий: у блоці 6 на його місце стане цикл.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6856582" cy="3005176"/>
          </a:xfrm>
          <a:prstGeom prst="roundRect">
            <a:avLst>
              <a:gd name="adj" fmla="val 929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Цикл слухання і лог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блок пари. Питаю, що саме зміниться в циклі з уроку 5.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Який рядок у циклі доведеться замінити?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робити з порожнім рядком, який віддає listen?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Навіщо записувати почуте у файл, якщо його й так видно?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Цикл слухання і лог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Одне слово в циклі змінилось — і той самий цикл почав слухати голос.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Було text = input(«Ти: »), стало text = listen(). І все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Порожній рядок — continue: слухаємо далі, у лог не пишемо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«стоп» шукаємо через in: живою мовою кажуть «ну все, стоп»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Кожну почуту фразу дописуємо в log_speech.txt — режим «a»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Лог показує, що саме почув сервіс. Після нього «він мене не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розуміє» перетворюється на «він почув інше слово» — а це вже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можна виправити: сказати чіткіше або прибрати шум.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64224"/>
          </a:xfrm>
          <a:prstGeom prst="roundRect">
            <a:avLst>
              <a:gd name="adj" fmla="val 439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цикл слухання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hear.py цілком. Тимчасовий print(listen()) прибери, а замість нього набери цикл унизу.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974690"/>
            <a:ext cx="6498336" cy="5588416"/>
          </a:xfrm>
          <a:prstGeom prst="roundRect">
            <a:avLst>
              <a:gd name="adj" fmla="val 238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language="uk-UA")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план Б, коли мікрофон не працює: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def listen():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    return input("Ти: ")</a:t>
            </a:r>
          </a:p>
          <a:p>
            <a:pPr algn="l">
              <a:lnSpc>
                <a:spcPts val="1560"/>
              </a:lnSpc>
              <a:buNone/>
            </a:pPr>
            <a:endParaRPr lang="uk-UA" sz="1300" dirty="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listen()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print("Ти:", text)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open("log_speech.txt", "a", encoding="utf-8") as f: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"стоп" in text.lower():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644384" y="1137742"/>
            <a:ext cx="3694176" cy="1540307"/>
          </a:xfrm>
          <a:prstGeom prst="roundRect">
            <a:avLst>
              <a:gd name="adj" fmla="val 824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7827264" y="1288618"/>
            <a:ext cx="3328416" cy="13208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Останній рядок набери дослівно: ask_ai живе в assistant5.py, і туди listen поїде вдома. Скажи «ну все, стоп» — програма має завершитись саме на цій фразі.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40780"/>
          </a:xfrm>
          <a:prstGeom prst="roundRect">
            <a:avLst>
              <a:gd name="adj" fmla="val 44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853440" y="1165860"/>
            <a:ext cx="6949440" cy="4834890"/>
          </a:xfrm>
          <a:prstGeom prst="roundRect">
            <a:avLst>
              <a:gd name="adj" fmla="val 262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r = sr.___()                                                    # 1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language="___")        # 2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___                                              # 3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text = ___                                                  # 4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___                                                     # 5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print("Ти:", text)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open("log_speech.txt", "___", encoding="utf-8") as f:  # 6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"стоп" ___ text.lower():                                 # 7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тебе почула.")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107680" y="1165860"/>
            <a:ext cx="3230880" cy="2331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Створи файл hear_dz.py, перепиши туди код і заміни кожне ___ на те, чого бракує.</a:t>
            </a:r>
          </a:p>
          <a:p>
            <a:pPr algn="l">
              <a:lnSpc>
                <a:spcPts val="2100"/>
              </a:lnSpc>
              <a:buNone/>
            </a:pPr>
            <a:endParaRPr lang="uk-UA" sz="1400" dirty="0"/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Пропусків сім, їхні номери — праворуч, у коментарях. Усе, що треба вписати, сьогодні вже було на екрані.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107680" y="3771900"/>
            <a:ext cx="3230880" cy="1508760"/>
          </a:xfrm>
          <a:prstGeom prst="roundRect">
            <a:avLst>
              <a:gd name="adj" fmla="val 8418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290560" y="3922776"/>
            <a:ext cx="2865120" cy="12070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Перевір: скажи дві фрази, а тоді «ну все, стоп». Програма має зупинитись, а в log_speech.txt — додатися три нові рядки.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Хай реагує лише на своє ім'я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чує всіх у кабінеті. Питаю, як навчити його розрізняти, коли звертаються до нього.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ви розумієте, що звертаються саме до вас?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робить колонка вдома, поки її не покликали?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в нашому коді перевіряти, чи покликали помічника?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77790"/>
          </a:xfrm>
          <a:prstGeom prst="roundRect">
            <a:avLst>
              <a:gd name="adj" fmla="val 539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Слово-будильник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Три рядки — і помічник мовчить, поки його не покликали на ім'я.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NAME = "аід" — корінь імені, малими літерами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if NAME not in text.lower(): continue — не до нас, слухаємо далі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Корінь, а не ціле слово: сервіс чує ім'я по-різному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Саме ім'я з фрази прибирати не треба — модель його переживе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034561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130573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50029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Перевірка стоїть ПІСЛЯ перевірки на порожній рядок і ПЕРЕД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усім іншим. Якщо поставити її після запису в лог, у файл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лізтиме кожне слово, сказане в кабінеті.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47765"/>
          </a:xfrm>
          <a:prstGeom prst="roundRect">
            <a:avLst>
              <a:gd name="adj" fmla="val 440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слово-будильник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hear.py цілком, без ґраток плану Б. Нове — NAME нагорі й три рядки в циклі.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498336" cy="5306035"/>
          </a:xfrm>
          <a:prstGeom prst="roundRect">
            <a:avLst>
              <a:gd name="adj" fmla="val 239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NAME = "аід"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language="uk-UA")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""</a:t>
            </a:r>
          </a:p>
          <a:p>
            <a:pPr algn="l">
              <a:lnSpc>
                <a:spcPts val="1495"/>
              </a:lnSpc>
              <a:buNone/>
            </a:pPr>
            <a:endParaRPr lang="uk-UA" sz="1300"/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text = listen()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"":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print("Ти:", text)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NAME not in text.lower().replace("ї", "і"):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print("(не до мене)")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open("log_speech.txt", "a", encoding="utf-8") as f: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"стоп" in text.lower():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9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644384" y="1137742"/>
            <a:ext cx="3694176" cy="1787881"/>
          </a:xfrm>
          <a:prstGeom prst="roundRect">
            <a:avLst>
              <a:gd name="adj" fmla="val 7103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7827264" y="1288618"/>
            <a:ext cx="3328416" cy="15684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Корінь малими літерами, і text.lower() — інакше «АІДА» не збіжиться. replace("ї", "і") — бо сервіс пише то «Аїда», то «Аіда». Скажи фразу без імені, потім з іменем: реакція має бути різна.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Коли саме це прозвучало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Лог уже є. Питаю, чого йому бракує, щоб бути справжнім щоденником.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ваш запис у щоденнику відрізняється від просто рядка?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корисно знати про фразу, крім самої фрази?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програма візьме час — пам'ятаєте з уроку 2?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310835"/>
          </a:xfrm>
          <a:prstGeom prst="roundRect">
            <a:avLst>
              <a:gd name="adj" fmla="val 526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Час у кожному рядку логу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Той самий datetime з уроку 2 — тільки тепер він підписує рядки у файлі.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from datetime import datetime — на самий верх файла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datetime.now().strftime("%H:%M") — година й хвилина рядком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Склеюємо плюсом: час, два пробіли, сама фраза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Наприкінці лишається \n — інакше все зіллється в один рядок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16760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26361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48307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той самий рядок, що на уроці 2 друкував «Зараз 14:36».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Різниця лише в тому, куди він їде: тоді на екран, тепер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 файл. Функція та сама, і шаблон той самий.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31559"/>
          </a:xfrm>
          <a:prstGeom prst="roundRect">
            <a:avLst>
              <a:gd name="adj" fmla="val 427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час у лозі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hear.py цілком, без ґраток плану Б. Нове — import нагорі, рядок stamp і час у f.write.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955536" cy="5489829"/>
          </a:xfrm>
          <a:prstGeom prst="roundRect">
            <a:avLst>
              <a:gd name="adj" fmla="val 2313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from datetime import datetime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language="uk-UA")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""</a:t>
            </a:r>
          </a:p>
          <a:p>
            <a:pPr algn="l">
              <a:lnSpc>
                <a:spcPts val="1680"/>
              </a:lnSpc>
              <a:buNone/>
            </a:pPr>
            <a:endParaRPr lang="uk-UA" sz="1400"/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listen()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"":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print("Ти:", text)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stamp = datetime.now().strftime("%H:%M")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open("log_speech.txt", "a", encoding="utf-8") as f: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f.write(stamp + "  " + text + "\n")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"стоп" in text.lower():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101584" y="1137742"/>
            <a:ext cx="323697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284464" y="1288618"/>
            <a:ext cx="287121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Режим "a": лог дописується, а не переписується щоразу. Відкрий log_speech.txt очима — час має бути справжній.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Голосові команди без мережі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чує фрази. Питаю, чи обов'язково на кожну ходити до ChatGPT.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Які питання помічник міг би відповісти сам, без мережі?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ми вже писали функцію, яка визначає тему фрази?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голосова команда відрізняється від набраної руками?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463083"/>
          </a:xfrm>
          <a:prstGeom prst="roundRect">
            <a:avLst>
              <a:gd name="adj" fmla="val 511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analyze на почутому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Функція з уроку 2 працює й тут: на вході рядок, і байдуже, звідки він узявся.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 вхід analyze приходить те, що повернула listen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Корені слів ловлять неохайну живу мову: «ну шо там по часу»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Тема «невідомо» — ознака того, що питання варто везти в мережу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Так помічник відповідає миттєво й безкоштовно на просте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31985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41586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63532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і є весь сенс уроку: голос — лише інший вхід. Уся логіка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 уроків 2–5 працює далі без жодної зміни, бо вона говорить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рядками, а не звуком.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76568"/>
          </a:xfrm>
          <a:prstGeom prst="roundRect">
            <a:avLst>
              <a:gd name="adj" fmla="val 438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дві голосові команди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hear.py цілком, без ґраток плану Б. Нове — import, analyze над циклом і три рядки в циклі.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5279136" cy="5334838"/>
          </a:xfrm>
          <a:prstGeom prst="roundRect">
            <a:avLst>
              <a:gd name="adj" fmla="val 240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from datetime import datetime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listen():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with sr.Microphone() as mic: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r.adjust_for_ambient_noise(mic, duration=1)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print("Говори...")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audio = r.listen(mic, phrase_time_limit=8)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try: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r.recognize_google(audio, language="uk-UA")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except sr.UnknownValueError: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""</a:t>
            </a:r>
          </a:p>
          <a:p>
            <a:pPr algn="l">
              <a:lnSpc>
                <a:spcPts val="1150"/>
              </a:lnSpc>
              <a:buNone/>
            </a:pPr>
            <a:endParaRPr lang="uk-UA" sz="1000"/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def analyze(text):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text.lower()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"жарт" in text: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"жарт"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"час" in text or "годин" in text: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"час"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return "невідомо"</a:t>
            </a:r>
          </a:p>
          <a:p>
            <a:pPr algn="l">
              <a:lnSpc>
                <a:spcPts val="1150"/>
              </a:lnSpc>
              <a:buNone/>
            </a:pPr>
            <a:endParaRPr lang="uk-UA" sz="1000"/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text = listen()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"":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print("Ти:", text)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analyze(text) == "час":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print("АІДА:", datetime.now().strftime("Зараз %H:%M"))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open("log_speech.txt", "a", encoding="utf-8") as f: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f.write(text + "\n")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if "стоп" in text.lower():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150"/>
              </a:lnSpc>
              <a:buNone/>
            </a:pPr>
            <a:r>
              <a:rPr lang="uk-UA" sz="10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425184" y="1137742"/>
            <a:ext cx="4913376" cy="1044473"/>
          </a:xfrm>
          <a:prstGeom prst="roundRect">
            <a:avLst>
              <a:gd name="adj" fmla="val 1215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6608064" y="1288618"/>
            <a:ext cx="4547616" cy="8250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Функція стоїть ВИЩЕ за цикл: Python читає файл згори вниз. Скажи «котра година» — відповідь має приїхати миттєво.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072280"/>
          </a:xfrm>
          <a:prstGeom prst="roundRect">
            <a:avLst>
              <a:gd name="adj" fmla="val 686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А якщо говорити іншою мовою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запасний блок. Питаю, що станеться, якщо змінити один рядок про мову.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буде, якщо сказати українську фразу, а мову вказати англійську?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Звідки сервіс знає, які слова взагалі бувають?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можна навчити помічника розуміти дві мови одразу?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596814"/>
          </a:xfrm>
          <a:prstGeom prst="roundRect">
            <a:avLst>
              <a:gd name="adj" fmla="val 499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Один рядок вирішує мову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language у виклику — не прикраса. Він каже, серед яких слів шукати почуте.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language="uk-UA" — українська; "en-US" — англійська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Перші дві букви — мова, після риски — країна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Сервіс не скаже «не та мова»: він підбере найсхожіші слова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Ту саму фразу можна розпізнати двічі, з різними мовами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3585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49597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769053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Саме тому без цього рядка українська фраза перетворюється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на англійську нісенітницю. Помилки немає — сервіс чесно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зробив те, про що просили: пошукав серед англійських слів.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100191"/>
          </a:xfrm>
          <a:prstGeom prst="roundRect">
            <a:avLst>
              <a:gd name="adj" fmla="val 458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Набираємо: та сама фраза двома мовами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окремий файл two_lang.py — свого помічника цим не чіпаємо.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3606622"/>
          </a:xfrm>
          <a:prstGeom prst="roundRect">
            <a:avLst>
              <a:gd name="adj" fmla="val 3521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speech_recognition as sr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r = sr.Recognizer()</a:t>
            </a:r>
          </a:p>
          <a:p>
            <a:pPr algn="l">
              <a:lnSpc>
                <a:spcPts val="2560"/>
              </a:lnSpc>
              <a:buNone/>
            </a:pPr>
            <a:endParaRPr lang="uk-UA" sz="160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with sr.Microphone() as mic: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r.adjust_for_ambient_noise(mic, duration=1)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print("Говори українською...")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audio = r.listen(mic, phrase_time_limit=6)</a:t>
            </a:r>
          </a:p>
          <a:p>
            <a:pPr algn="l">
              <a:lnSpc>
                <a:spcPts val="2560"/>
              </a:lnSpc>
              <a:buNone/>
            </a:pPr>
            <a:endParaRPr lang="uk-UA" sz="160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print("uk-UA:", r.recognize_google(audio, language="uk-UA"))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print("en-US:", r.recognize_google(audio, language="en-US"))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426735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577611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Обидва рядки беруть той самий запис: audio розпізнається двічі.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Скажи звичайну українську фразу — і порівняй два рядки.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13395</Words>
  <Application>Microsoft Macintosh PowerPoint</Application>
  <PresentationFormat>Widescreen</PresentationFormat>
  <Paragraphs>1497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2</cp:revision>
  <dcterms:modified xsi:type="dcterms:W3CDTF">2026-10-28T22:18:37Z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Голосовий асистент. Частина 1: розпізнавання мови</dc:title>
  <dc:subject>Голос помічника · AI Assistant: створення помічника</dc:subject>
</cp:coreProperties>
</file>